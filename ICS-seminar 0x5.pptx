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72" r:id="rId2"/>
    <p:sldId id="313" r:id="rId3"/>
    <p:sldId id="269" r:id="rId4"/>
    <p:sldId id="270" r:id="rId5"/>
    <p:sldId id="314" r:id="rId6"/>
    <p:sldId id="273" r:id="rId7"/>
    <p:sldId id="275" r:id="rId8"/>
    <p:sldId id="274" r:id="rId9"/>
    <p:sldId id="278" r:id="rId10"/>
    <p:sldId id="310" r:id="rId11"/>
    <p:sldId id="279" r:id="rId12"/>
    <p:sldId id="281" r:id="rId13"/>
    <p:sldId id="282" r:id="rId14"/>
    <p:sldId id="283" r:id="rId15"/>
    <p:sldId id="298" r:id="rId16"/>
    <p:sldId id="288" r:id="rId17"/>
    <p:sldId id="284" r:id="rId18"/>
    <p:sldId id="258" r:id="rId19"/>
    <p:sldId id="286" r:id="rId20"/>
    <p:sldId id="294" r:id="rId21"/>
    <p:sldId id="300" r:id="rId22"/>
    <p:sldId id="290" r:id="rId23"/>
    <p:sldId id="287" r:id="rId24"/>
    <p:sldId id="307" r:id="rId25"/>
    <p:sldId id="271" r:id="rId26"/>
    <p:sldId id="309" r:id="rId27"/>
    <p:sldId id="299" r:id="rId28"/>
    <p:sldId id="297" r:id="rId29"/>
    <p:sldId id="305" r:id="rId30"/>
    <p:sldId id="312" r:id="rId31"/>
    <p:sldId id="289" r:id="rId32"/>
    <p:sldId id="311" r:id="rId33"/>
    <p:sldId id="293" r:id="rId34"/>
    <p:sldId id="267" r:id="rId35"/>
    <p:sldId id="259" r:id="rId36"/>
    <p:sldId id="295" r:id="rId37"/>
    <p:sldId id="260" r:id="rId38"/>
    <p:sldId id="263" r:id="rId39"/>
    <p:sldId id="265" r:id="rId40"/>
    <p:sldId id="266" r:id="rId41"/>
    <p:sldId id="257" r:id="rId42"/>
    <p:sldId id="319" r:id="rId43"/>
    <p:sldId id="315" r:id="rId44"/>
    <p:sldId id="316" r:id="rId45"/>
    <p:sldId id="317" r:id="rId46"/>
    <p:sldId id="318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53C247-C37B-4512-8F09-3AB61E83374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0615D5-16B6-448C-BFB7-38E8C38D3C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869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435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130ps 80ps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724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0711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Ctrl flag is modified in 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5141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CBF3B-7863-67CA-2522-0DEE9EDD7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7ACD9D4-1E29-340B-D1F9-59B3BF089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42C1B9A-C573-BEED-597F-81BEB2E94F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Ctrl flag is modified in 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C9D7A3-F08D-CEDE-4DAB-A398AE842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460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3CB0-302B-B806-5AD9-F00DEBFC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710F2A-3844-7B30-5746-08423983F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02BED8-100C-0748-305D-2103437A5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Ctrl flag is modified in 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76D189-5BF6-2E6D-008D-DC0863AE0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6004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2669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368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word </a:t>
            </a:r>
            <a:r>
              <a:rPr lang="en-US" altLang="zh-CN" dirty="0" err="1"/>
              <a:t>f_pc</a:t>
            </a:r>
            <a:r>
              <a:rPr lang="en-US" altLang="zh-CN" dirty="0"/>
              <a:t> = [</a:t>
            </a:r>
          </a:p>
          <a:p>
            <a:r>
              <a:rPr lang="en-US" altLang="zh-CN" dirty="0"/>
              <a:t>	# </a:t>
            </a:r>
            <a:r>
              <a:rPr lang="en-US" altLang="zh-CN" dirty="0" err="1"/>
              <a:t>Mispredicted</a:t>
            </a:r>
            <a:r>
              <a:rPr lang="en-US" altLang="zh-CN" dirty="0"/>
              <a:t> branch.  Fetch at incremented PC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M_icode</a:t>
            </a:r>
            <a:r>
              <a:rPr lang="en-US" altLang="zh-CN" dirty="0"/>
              <a:t> == IJXX &amp;&amp; !</a:t>
            </a:r>
            <a:r>
              <a:rPr lang="en-US" altLang="zh-CN" dirty="0" err="1"/>
              <a:t>M_Cnd</a:t>
            </a:r>
            <a:r>
              <a:rPr lang="en-US" altLang="zh-CN" dirty="0"/>
              <a:t> : </a:t>
            </a:r>
            <a:r>
              <a:rPr lang="en-US" altLang="zh-CN" dirty="0" err="1"/>
              <a:t>M_valA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# Completion of RET instruction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W_icode</a:t>
            </a:r>
            <a:r>
              <a:rPr lang="en-US" altLang="zh-CN" dirty="0"/>
              <a:t> == IRET : </a:t>
            </a:r>
            <a:r>
              <a:rPr lang="en-US" altLang="zh-CN" dirty="0" err="1"/>
              <a:t>W_valM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	# Default: Use predicted value of PC</a:t>
            </a:r>
          </a:p>
          <a:p>
            <a:r>
              <a:rPr lang="en-US" altLang="zh-CN" dirty="0"/>
              <a:t>	1 : </a:t>
            </a:r>
            <a:r>
              <a:rPr lang="en-US" altLang="zh-CN" dirty="0" err="1"/>
              <a:t>F_predPC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];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69044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word </a:t>
            </a:r>
            <a:r>
              <a:rPr lang="en-US" altLang="zh-CN" dirty="0" err="1"/>
              <a:t>d_valA</a:t>
            </a:r>
            <a:r>
              <a:rPr lang="en-US" altLang="zh-CN" dirty="0"/>
              <a:t> = [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D_icode</a:t>
            </a:r>
            <a:r>
              <a:rPr lang="en-US" altLang="zh-CN" dirty="0"/>
              <a:t> in { ICALL, IJXX } : </a:t>
            </a:r>
            <a:r>
              <a:rPr lang="en-US" altLang="zh-CN" dirty="0" err="1"/>
              <a:t>D_valP</a:t>
            </a:r>
            <a:r>
              <a:rPr lang="en-US" altLang="zh-CN" dirty="0"/>
              <a:t>; # Use incremented PC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d_srcA</a:t>
            </a:r>
            <a:r>
              <a:rPr lang="en-US" altLang="zh-CN" dirty="0"/>
              <a:t> == </a:t>
            </a:r>
            <a:r>
              <a:rPr lang="en-US" altLang="zh-CN" dirty="0" err="1"/>
              <a:t>e_dstE</a:t>
            </a:r>
            <a:r>
              <a:rPr lang="en-US" altLang="zh-CN" dirty="0"/>
              <a:t> : </a:t>
            </a:r>
            <a:r>
              <a:rPr lang="en-US" altLang="zh-CN" dirty="0" err="1"/>
              <a:t>e_valE</a:t>
            </a:r>
            <a:r>
              <a:rPr lang="en-US" altLang="zh-CN" dirty="0"/>
              <a:t>;    # Forward </a:t>
            </a:r>
            <a:r>
              <a:rPr lang="en-US" altLang="zh-CN" dirty="0" err="1"/>
              <a:t>valE</a:t>
            </a:r>
            <a:r>
              <a:rPr lang="en-US" altLang="zh-CN" dirty="0"/>
              <a:t> from execute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d_srcA</a:t>
            </a:r>
            <a:r>
              <a:rPr lang="en-US" altLang="zh-CN" dirty="0"/>
              <a:t> == </a:t>
            </a:r>
            <a:r>
              <a:rPr lang="en-US" altLang="zh-CN" dirty="0" err="1"/>
              <a:t>M_dstM</a:t>
            </a:r>
            <a:r>
              <a:rPr lang="en-US" altLang="zh-CN" dirty="0"/>
              <a:t> : </a:t>
            </a:r>
            <a:r>
              <a:rPr lang="en-US" altLang="zh-CN" dirty="0" err="1"/>
              <a:t>m_valM</a:t>
            </a:r>
            <a:r>
              <a:rPr lang="en-US" altLang="zh-CN" dirty="0"/>
              <a:t>;    # Forward </a:t>
            </a:r>
            <a:r>
              <a:rPr lang="en-US" altLang="zh-CN" dirty="0" err="1"/>
              <a:t>valM</a:t>
            </a:r>
            <a:r>
              <a:rPr lang="en-US" altLang="zh-CN" dirty="0"/>
              <a:t> from memory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d_srcA</a:t>
            </a:r>
            <a:r>
              <a:rPr lang="en-US" altLang="zh-CN" dirty="0"/>
              <a:t> == </a:t>
            </a:r>
            <a:r>
              <a:rPr lang="en-US" altLang="zh-CN" dirty="0" err="1"/>
              <a:t>M_dstE</a:t>
            </a:r>
            <a:r>
              <a:rPr lang="en-US" altLang="zh-CN" dirty="0"/>
              <a:t> : </a:t>
            </a:r>
            <a:r>
              <a:rPr lang="en-US" altLang="zh-CN" dirty="0" err="1"/>
              <a:t>M_valE</a:t>
            </a:r>
            <a:r>
              <a:rPr lang="en-US" altLang="zh-CN" dirty="0"/>
              <a:t>;    # Forward </a:t>
            </a:r>
            <a:r>
              <a:rPr lang="en-US" altLang="zh-CN" dirty="0" err="1"/>
              <a:t>valE</a:t>
            </a:r>
            <a:r>
              <a:rPr lang="en-US" altLang="zh-CN" dirty="0"/>
              <a:t> from memory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d_srcA</a:t>
            </a:r>
            <a:r>
              <a:rPr lang="en-US" altLang="zh-CN" dirty="0"/>
              <a:t> == </a:t>
            </a:r>
            <a:r>
              <a:rPr lang="en-US" altLang="zh-CN" dirty="0" err="1"/>
              <a:t>W_dstM</a:t>
            </a:r>
            <a:r>
              <a:rPr lang="en-US" altLang="zh-CN" dirty="0"/>
              <a:t> : </a:t>
            </a:r>
            <a:r>
              <a:rPr lang="en-US" altLang="zh-CN" dirty="0" err="1"/>
              <a:t>W_valM</a:t>
            </a:r>
            <a:r>
              <a:rPr lang="en-US" altLang="zh-CN" dirty="0"/>
              <a:t>;    # Forward </a:t>
            </a:r>
            <a:r>
              <a:rPr lang="en-US" altLang="zh-CN" dirty="0" err="1"/>
              <a:t>valM</a:t>
            </a:r>
            <a:r>
              <a:rPr lang="en-US" altLang="zh-CN" dirty="0"/>
              <a:t> from write back</a:t>
            </a:r>
          </a:p>
          <a:p>
            <a:r>
              <a:rPr lang="en-US" altLang="zh-CN" dirty="0"/>
              <a:t>	</a:t>
            </a:r>
            <a:r>
              <a:rPr lang="en-US" altLang="zh-CN" dirty="0" err="1"/>
              <a:t>d_srcA</a:t>
            </a:r>
            <a:r>
              <a:rPr lang="en-US" altLang="zh-CN" dirty="0"/>
              <a:t> == </a:t>
            </a:r>
            <a:r>
              <a:rPr lang="en-US" altLang="zh-CN" dirty="0" err="1"/>
              <a:t>W_dstE</a:t>
            </a:r>
            <a:r>
              <a:rPr lang="en-US" altLang="zh-CN" dirty="0"/>
              <a:t> : </a:t>
            </a:r>
            <a:r>
              <a:rPr lang="en-US" altLang="zh-CN" dirty="0" err="1"/>
              <a:t>W_valE</a:t>
            </a:r>
            <a:r>
              <a:rPr lang="en-US" altLang="zh-CN" dirty="0"/>
              <a:t>;    # Forward </a:t>
            </a:r>
            <a:r>
              <a:rPr lang="en-US" altLang="zh-CN" dirty="0" err="1"/>
              <a:t>valE</a:t>
            </a:r>
            <a:r>
              <a:rPr lang="en-US" altLang="zh-CN" dirty="0"/>
              <a:t> from write back</a:t>
            </a:r>
          </a:p>
          <a:p>
            <a:r>
              <a:rPr lang="en-US" altLang="zh-CN" dirty="0"/>
              <a:t>	1 : </a:t>
            </a:r>
            <a:r>
              <a:rPr lang="en-US" altLang="zh-CN" dirty="0" err="1"/>
              <a:t>d_rvalA</a:t>
            </a:r>
            <a:r>
              <a:rPr lang="en-US" altLang="zh-CN" dirty="0"/>
              <a:t>;  # Use value read from register file</a:t>
            </a:r>
          </a:p>
          <a:p>
            <a:r>
              <a:rPr lang="en-US" altLang="zh-CN" dirty="0"/>
              <a:t>];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0615D5-16B6-448C-BFB7-38E8C38D3C22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876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156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816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228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216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980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34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415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0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281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073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604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8156D-150D-4468-90ED-BA0C11775583}" type="datetimeFigureOut">
              <a:rPr lang="zh-CN" altLang="en-US" smtClean="0"/>
              <a:t>2025/11/5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D7552A-B5CB-4F1B-A0A4-15E76176325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12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D8D21-21E3-1C45-569E-1B714C3ECC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ICS </a:t>
            </a:r>
            <a:r>
              <a:rPr lang="en-US" altLang="zh-CN"/>
              <a:t>seminar 0x5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41D998-2EE1-5295-8CEF-DA7661907B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978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7580D4-1A4B-19DD-F334-6546EE925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周期计算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BB74ED-F304-7E40-F10B-AA9AAE188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802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5771E-3F1D-6E44-7C7B-20823196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43AA7A-F47A-3BF7-9F81-1D3181144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周期计算：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Bubble</a:t>
            </a:r>
            <a:r>
              <a:rPr lang="zh-CN" altLang="en-US" sz="2000" dirty="0"/>
              <a:t>某个指令与流水线周期增加没有直接关系，而是</a:t>
            </a:r>
            <a:r>
              <a:rPr lang="en-US" altLang="zh-CN" sz="2000" dirty="0"/>
              <a:t>STALL</a:t>
            </a:r>
            <a:r>
              <a:rPr lang="zh-CN" altLang="en-US" sz="2000" dirty="0"/>
              <a:t>和</a:t>
            </a:r>
            <a:r>
              <a:rPr lang="en-US" altLang="zh-CN" sz="2000" dirty="0"/>
              <a:t>MISFETCH</a:t>
            </a:r>
            <a:r>
              <a:rPr lang="zh-CN" altLang="en-US" sz="2000" dirty="0"/>
              <a:t>在增加周期数，即</a:t>
            </a:r>
            <a:r>
              <a:rPr lang="en-US" altLang="zh-CN" sz="2000" dirty="0"/>
              <a:t>——</a:t>
            </a:r>
            <a:r>
              <a:rPr lang="zh-CN" altLang="en-US" sz="2000" dirty="0"/>
              <a:t>每进行一次暂停或取出一条错误指令周期数</a:t>
            </a:r>
            <a:r>
              <a:rPr lang="en-US" altLang="zh-CN" sz="2000" dirty="0"/>
              <a:t>+1</a:t>
            </a:r>
            <a:r>
              <a:rPr lang="zh-CN" altLang="en-US" sz="2000" dirty="0"/>
              <a:t>，</a:t>
            </a:r>
            <a:r>
              <a:rPr lang="en-US" altLang="zh-CN" sz="2000" dirty="0"/>
              <a:t>bubble</a:t>
            </a:r>
            <a:r>
              <a:rPr lang="zh-CN" altLang="en-US" sz="2000" dirty="0"/>
              <a:t>可以不管。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如何确定暂停的个数？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000" dirty="0"/>
              <a:t>流水线某阶段的暂停必然同时暂停之前所有阶段，否则可能导致中间数据丢失，这算一个暂停。需要看最深处的阶段暂停了几个周期就算几个。在</a:t>
            </a:r>
            <a:r>
              <a:rPr lang="en-US" altLang="zh-CN" sz="2000" dirty="0"/>
              <a:t>HCL</a:t>
            </a:r>
            <a:r>
              <a:rPr lang="zh-CN" altLang="en-US" sz="2000" dirty="0"/>
              <a:t>中可以形式化的看最深处</a:t>
            </a:r>
            <a:r>
              <a:rPr lang="en-US" altLang="zh-CN" sz="2000" dirty="0" err="1"/>
              <a:t>x_stall</a:t>
            </a:r>
            <a:r>
              <a:rPr lang="zh-CN" altLang="en-US" sz="2000" dirty="0"/>
              <a:t>中</a:t>
            </a:r>
            <a:r>
              <a:rPr lang="en-US" altLang="zh-CN" sz="2000" dirty="0" err="1"/>
              <a:t>Y_icode</a:t>
            </a:r>
            <a:r>
              <a:rPr lang="zh-CN" altLang="en-US" sz="2000" dirty="0"/>
              <a:t>的</a:t>
            </a:r>
            <a:r>
              <a:rPr lang="en-US" altLang="zh-CN" sz="2000" dirty="0"/>
              <a:t>Y</a:t>
            </a:r>
            <a:r>
              <a:rPr lang="zh-CN" altLang="en-US" sz="2000" dirty="0"/>
              <a:t>有几个就是几个暂停。</a:t>
            </a:r>
            <a:endParaRPr lang="en-US" altLang="zh-CN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890690-3EBA-B49F-2670-03278893F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677" y="5691120"/>
            <a:ext cx="9640645" cy="485843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A65711EF-CEB9-B4A0-B5C3-B92AAB7E7663}"/>
              </a:ext>
            </a:extLst>
          </p:cNvPr>
          <p:cNvSpPr/>
          <p:nvPr/>
        </p:nvSpPr>
        <p:spPr>
          <a:xfrm>
            <a:off x="3281680" y="5654799"/>
            <a:ext cx="822960" cy="5584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57150">
                <a:solidFill>
                  <a:schemeClr val="tx1"/>
                </a:solidFill>
              </a:ln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9876F33-7DAF-58FE-DCA7-A6C0406D98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758" y="6311900"/>
            <a:ext cx="5058481" cy="485843"/>
          </a:xfrm>
          <a:prstGeom prst="rect">
            <a:avLst/>
          </a:prstGeom>
        </p:spPr>
      </p:pic>
      <p:sp>
        <p:nvSpPr>
          <p:cNvPr id="11" name="椭圆 10">
            <a:extLst>
              <a:ext uri="{FF2B5EF4-FFF2-40B4-BE49-F238E27FC236}">
                <a16:creationId xmlns:a16="http://schemas.microsoft.com/office/drawing/2014/main" id="{9F83FA21-1D63-F0A7-35C3-1926D9C47855}"/>
              </a:ext>
            </a:extLst>
          </p:cNvPr>
          <p:cNvSpPr/>
          <p:nvPr/>
        </p:nvSpPr>
        <p:spPr>
          <a:xfrm>
            <a:off x="4785360" y="6224645"/>
            <a:ext cx="3352800" cy="55848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57150"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48640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CBBDF-FD54-7418-BF01-8BE272947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1D82519F-E7AF-1557-92AE-245DD22E56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571610"/>
              </p:ext>
            </p:extLst>
          </p:nvPr>
        </p:nvGraphicFramePr>
        <p:xfrm>
          <a:off x="838200" y="1825625"/>
          <a:ext cx="10137867" cy="2763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13480">
                  <a:extLst>
                    <a:ext uri="{9D8B030D-6E8A-4147-A177-3AD203B41FA5}">
                      <a16:colId xmlns:a16="http://schemas.microsoft.com/office/drawing/2014/main" val="839764693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1072200014"/>
                    </a:ext>
                  </a:extLst>
                </a:gridCol>
                <a:gridCol w="1699987">
                  <a:extLst>
                    <a:ext uri="{9D8B030D-6E8A-4147-A177-3AD203B41FA5}">
                      <a16:colId xmlns:a16="http://schemas.microsoft.com/office/drawing/2014/main" val="272713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58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JXX MISPREDICTION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Misfetch 2 instructions. 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637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If use Normal_F  Misfetch 3 instructions.  </a:t>
                      </a:r>
                      <a:endParaRPr lang="zh-CN" altLang="en-US" dirty="0"/>
                    </a:p>
                    <a:p>
                      <a:r>
                        <a:rPr lang="en-US" altLang="zh-CN" dirty="0"/>
                        <a:t>If use Stall. Stall 3  +3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658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LOAD/USE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Stall 1.  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+1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906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EXCEPTION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Forwarding &amp; bubble in M</a:t>
                      </a:r>
                    </a:p>
                    <a:p>
                      <a:r>
                        <a:rPr lang="en-US" altLang="zh-CN" b="0" dirty="0"/>
                        <a:t>Stall in E (expected)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+0</a:t>
                      </a:r>
                    </a:p>
                    <a:p>
                      <a:r>
                        <a:rPr lang="en-US" altLang="zh-CN" b="0" dirty="0"/>
                        <a:t>+0</a:t>
                      </a:r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703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OTHER DATA HARZARD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Forwarding</a:t>
                      </a:r>
                      <a:endParaRPr lang="zh-CN" alt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b="0" dirty="0"/>
                        <a:t>+0</a:t>
                      </a:r>
                      <a:endParaRPr lang="zh-CN" alt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22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444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AB781B6-545C-9E65-F38A-561D7E9372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1728" t="16389" r="7819" b="36759"/>
          <a:stretch>
            <a:fillRect/>
          </a:stretch>
        </p:blipFill>
        <p:spPr>
          <a:xfrm>
            <a:off x="0" y="-6350"/>
            <a:ext cx="5299364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799E188-EB2F-AC7D-1ABB-5FFC73313DC3}"/>
              </a:ext>
            </a:extLst>
          </p:cNvPr>
          <p:cNvSpPr/>
          <p:nvPr/>
        </p:nvSpPr>
        <p:spPr>
          <a:xfrm>
            <a:off x="221951" y="5049936"/>
            <a:ext cx="5060950" cy="172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69A593A-C9FC-ADF6-EA3A-6FA65BB77848}"/>
              </a:ext>
            </a:extLst>
          </p:cNvPr>
          <p:cNvSpPr/>
          <p:nvPr/>
        </p:nvSpPr>
        <p:spPr>
          <a:xfrm>
            <a:off x="221951" y="2581275"/>
            <a:ext cx="5060950" cy="1435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8423DDE-5BFF-F2CD-FED0-D7980ECC9B12}"/>
              </a:ext>
            </a:extLst>
          </p:cNvPr>
          <p:cNvSpPr/>
          <p:nvPr/>
        </p:nvSpPr>
        <p:spPr>
          <a:xfrm>
            <a:off x="4127500" y="1905000"/>
            <a:ext cx="971550" cy="152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EE202C3-F8E1-E76F-C358-3A77F3223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901" y="0"/>
            <a:ext cx="6924974" cy="25146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1669AFD9-B184-6E48-9377-6FB29DA94B27}"/>
              </a:ext>
            </a:extLst>
          </p:cNvPr>
          <p:cNvSpPr/>
          <p:nvPr/>
        </p:nvSpPr>
        <p:spPr>
          <a:xfrm>
            <a:off x="9847295" y="251019"/>
            <a:ext cx="1163605" cy="8030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0CDCA53-8CC3-448A-738E-2ABF89F20E5C}"/>
              </a:ext>
            </a:extLst>
          </p:cNvPr>
          <p:cNvSpPr/>
          <p:nvPr/>
        </p:nvSpPr>
        <p:spPr>
          <a:xfrm>
            <a:off x="9224995" y="82550"/>
            <a:ext cx="1163605" cy="8030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F6ABFC8-597F-C9AC-BC59-7952C0C7E551}"/>
              </a:ext>
            </a:extLst>
          </p:cNvPr>
          <p:cNvSpPr/>
          <p:nvPr/>
        </p:nvSpPr>
        <p:spPr>
          <a:xfrm>
            <a:off x="7982094" y="46133"/>
            <a:ext cx="514350" cy="349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80BF932-90A1-BFF9-2F27-62B73CD19D2C}"/>
              </a:ext>
            </a:extLst>
          </p:cNvPr>
          <p:cNvSpPr/>
          <p:nvPr/>
        </p:nvSpPr>
        <p:spPr>
          <a:xfrm>
            <a:off x="8663342" y="1708150"/>
            <a:ext cx="514350" cy="349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4CC8A46-93BC-0D2E-46B9-F445CAA37641}"/>
              </a:ext>
            </a:extLst>
          </p:cNvPr>
          <p:cNvCxnSpPr/>
          <p:nvPr/>
        </p:nvCxnSpPr>
        <p:spPr>
          <a:xfrm flipH="1">
            <a:off x="1327150" y="577850"/>
            <a:ext cx="482600" cy="20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261C9B26-E478-952A-4E3D-2227AEC81807}"/>
              </a:ext>
            </a:extLst>
          </p:cNvPr>
          <p:cNvCxnSpPr>
            <a:cxnSpLocks/>
          </p:cNvCxnSpPr>
          <p:nvPr/>
        </p:nvCxnSpPr>
        <p:spPr>
          <a:xfrm flipH="1">
            <a:off x="1320800" y="781050"/>
            <a:ext cx="336550" cy="203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7AB72034-4B23-F495-4F21-D428F90F1C1A}"/>
              </a:ext>
            </a:extLst>
          </p:cNvPr>
          <p:cNvCxnSpPr/>
          <p:nvPr/>
        </p:nvCxnSpPr>
        <p:spPr>
          <a:xfrm flipH="1" flipV="1">
            <a:off x="1489075" y="577850"/>
            <a:ext cx="168275" cy="40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9322676F-8960-2BEC-7E47-695109A46635}"/>
              </a:ext>
            </a:extLst>
          </p:cNvPr>
          <p:cNvCxnSpPr/>
          <p:nvPr/>
        </p:nvCxnSpPr>
        <p:spPr>
          <a:xfrm flipH="1">
            <a:off x="1320800" y="825500"/>
            <a:ext cx="336550" cy="355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F4DC2203-DCF0-8A4F-7DBB-8744C5A95C11}"/>
              </a:ext>
            </a:extLst>
          </p:cNvPr>
          <p:cNvSpPr txBox="1"/>
          <p:nvPr/>
        </p:nvSpPr>
        <p:spPr>
          <a:xfrm>
            <a:off x="6946900" y="4552950"/>
            <a:ext cx="19736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注意“反向依赖”</a:t>
            </a:r>
            <a:r>
              <a:rPr lang="en-US" altLang="zh-CN" dirty="0"/>
              <a:t>…</a:t>
            </a:r>
          </a:p>
          <a:p>
            <a:r>
              <a:rPr lang="zh-CN" altLang="en-US" dirty="0"/>
              <a:t>填充流水线时间</a:t>
            </a:r>
            <a:r>
              <a:rPr lang="en-US" altLang="zh-CN" dirty="0"/>
              <a:t>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9194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02B97-D45D-2D09-63C0-57B0B263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流水线划分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AC000D-E0DA-129D-9EDA-81ACE2383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97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504A985-A55D-8CCD-95CF-8D2509801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344" t="20313" r="7710" b="40672"/>
          <a:stretch>
            <a:fillRect/>
          </a:stretch>
        </p:blipFill>
        <p:spPr>
          <a:xfrm>
            <a:off x="0" y="0"/>
            <a:ext cx="6244554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CA7700D-7573-74C4-E967-85A8881C163E}"/>
              </a:ext>
            </a:extLst>
          </p:cNvPr>
          <p:cNvSpPr/>
          <p:nvPr/>
        </p:nvSpPr>
        <p:spPr>
          <a:xfrm>
            <a:off x="185764" y="4330223"/>
            <a:ext cx="5873025" cy="7302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1FC1C7-6596-7E22-2141-314121C7AC87}"/>
              </a:ext>
            </a:extLst>
          </p:cNvPr>
          <p:cNvSpPr/>
          <p:nvPr/>
        </p:nvSpPr>
        <p:spPr>
          <a:xfrm>
            <a:off x="88630" y="5955825"/>
            <a:ext cx="5873025" cy="73029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9D4A47-1D82-A0EE-D088-76D56091FD19}"/>
              </a:ext>
            </a:extLst>
          </p:cNvPr>
          <p:cNvSpPr txBox="1"/>
          <p:nvPr/>
        </p:nvSpPr>
        <p:spPr>
          <a:xfrm>
            <a:off x="6440522" y="1282237"/>
            <a:ext cx="5557328" cy="880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插入流水线寄存器的原则是什么？什么是一种合法的插入模式。如何进一步细化为检查算法？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CEC671-B440-C37E-0072-7627CECA8C72}"/>
              </a:ext>
            </a:extLst>
          </p:cNvPr>
          <p:cNvSpPr txBox="1"/>
          <p:nvPr/>
        </p:nvSpPr>
        <p:spPr>
          <a:xfrm>
            <a:off x="6440522" y="2281671"/>
            <a:ext cx="5660394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对于任意从起点到终点的路径，经过的流水线寄存器数量一致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Phase1: </a:t>
            </a:r>
            <a:r>
              <a:rPr lang="zh-CN" altLang="en-US" dirty="0"/>
              <a:t>通过标注节点发现所有路径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Phase2: </a:t>
            </a:r>
            <a:r>
              <a:rPr lang="zh-CN" altLang="en-US" dirty="0"/>
              <a:t>沿着每条路径寻找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一般先找到关键路径，再在关键路径</a:t>
            </a:r>
            <a:r>
              <a:rPr lang="en-US" altLang="zh-CN" dirty="0"/>
              <a:t>/</a:t>
            </a:r>
            <a:r>
              <a:rPr lang="zh-CN" altLang="en-US" dirty="0"/>
              <a:t>流水级数上下搜索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1B616DB-2432-8636-976A-CECDC4D81EDE}"/>
              </a:ext>
            </a:extLst>
          </p:cNvPr>
          <p:cNvCxnSpPr/>
          <p:nvPr/>
        </p:nvCxnSpPr>
        <p:spPr>
          <a:xfrm>
            <a:off x="1828800" y="1282237"/>
            <a:ext cx="0" cy="515248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0C8CB1C3-EB80-566F-0026-4F41941ABD11}"/>
              </a:ext>
            </a:extLst>
          </p:cNvPr>
          <p:cNvCxnSpPr/>
          <p:nvPr/>
        </p:nvCxnSpPr>
        <p:spPr>
          <a:xfrm>
            <a:off x="2814181" y="2554519"/>
            <a:ext cx="0" cy="515248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AF0C059D-D143-5754-6A3C-137B9D521DBD}"/>
              </a:ext>
            </a:extLst>
          </p:cNvPr>
          <p:cNvCxnSpPr>
            <a:cxnSpLocks/>
          </p:cNvCxnSpPr>
          <p:nvPr/>
        </p:nvCxnSpPr>
        <p:spPr>
          <a:xfrm>
            <a:off x="2814181" y="1357012"/>
            <a:ext cx="0" cy="440473"/>
          </a:xfrm>
          <a:prstGeom prst="line">
            <a:avLst/>
          </a:prstGeom>
          <a:ln w="762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B1CE22A4-2413-5912-39D4-DB5C4948731F}"/>
              </a:ext>
            </a:extLst>
          </p:cNvPr>
          <p:cNvCxnSpPr>
            <a:cxnSpLocks/>
          </p:cNvCxnSpPr>
          <p:nvPr/>
        </p:nvCxnSpPr>
        <p:spPr>
          <a:xfrm>
            <a:off x="1828800" y="1942947"/>
            <a:ext cx="0" cy="440473"/>
          </a:xfrm>
          <a:prstGeom prst="line">
            <a:avLst/>
          </a:prstGeom>
          <a:ln w="762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E48881B1-4619-160E-F67B-B25F9398B37A}"/>
              </a:ext>
            </a:extLst>
          </p:cNvPr>
          <p:cNvCxnSpPr>
            <a:cxnSpLocks/>
          </p:cNvCxnSpPr>
          <p:nvPr/>
        </p:nvCxnSpPr>
        <p:spPr>
          <a:xfrm>
            <a:off x="3766159" y="2629294"/>
            <a:ext cx="0" cy="440473"/>
          </a:xfrm>
          <a:prstGeom prst="line">
            <a:avLst/>
          </a:prstGeom>
          <a:ln w="762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877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47FD7A-ABCE-14B2-7964-8D5E4C2EF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963" t="24161" r="9102" b="30828"/>
          <a:stretch>
            <a:fillRect/>
          </a:stretch>
        </p:blipFill>
        <p:spPr>
          <a:xfrm>
            <a:off x="-1" y="-1"/>
            <a:ext cx="5549115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871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F934C-79D2-1964-F151-040FEB0A4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Pipeline - bypass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6CBBF3-B63E-7E19-52C7-A9272245EC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762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1867BB-0F3C-8DCD-376A-B833F9C7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如何理解这张图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CA603B-68DC-89D2-E5BF-32CB2B2F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一行是什么？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一列是什么？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数据传递的方向是什么？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4B52C4-9C8C-2037-6E96-9B81DE461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999" y="4066982"/>
            <a:ext cx="6899275" cy="250526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833BBD0-5270-2B33-A8D5-7EB50B7AA5F6}"/>
              </a:ext>
            </a:extLst>
          </p:cNvPr>
          <p:cNvSpPr/>
          <p:nvPr/>
        </p:nvSpPr>
        <p:spPr>
          <a:xfrm>
            <a:off x="7207250" y="4318001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3C3FDA-DB3E-49D5-D181-C2D3A67209AE}"/>
              </a:ext>
            </a:extLst>
          </p:cNvPr>
          <p:cNvSpPr/>
          <p:nvPr/>
        </p:nvSpPr>
        <p:spPr>
          <a:xfrm>
            <a:off x="6584950" y="4149532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3338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B2F709A-683C-CB1F-FD32-75F114BFE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88428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A5FC861-A56A-2A31-AE8A-8B221AEE172B}"/>
              </a:ext>
            </a:extLst>
          </p:cNvPr>
          <p:cNvSpPr txBox="1"/>
          <p:nvPr/>
        </p:nvSpPr>
        <p:spPr>
          <a:xfrm>
            <a:off x="5780971" y="2865723"/>
            <a:ext cx="5725229" cy="880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反例：</a:t>
            </a:r>
            <a:r>
              <a:rPr lang="en-US" altLang="zh-CN" dirty="0" err="1"/>
              <a:t>W_valM</a:t>
            </a:r>
            <a:r>
              <a:rPr lang="zh-CN" altLang="en-US" dirty="0"/>
              <a:t>被转发到</a:t>
            </a:r>
            <a:r>
              <a:rPr lang="en-US" altLang="zh-CN" dirty="0" err="1"/>
              <a:t>predPC</a:t>
            </a:r>
            <a:r>
              <a:rPr lang="zh-CN" altLang="en-US" dirty="0"/>
              <a:t>处，但是明明这个量再</a:t>
            </a:r>
            <a:r>
              <a:rPr lang="en-US" altLang="zh-CN" dirty="0" err="1"/>
              <a:t>m_ValM</a:t>
            </a:r>
            <a:r>
              <a:rPr lang="zh-CN" altLang="en-US" dirty="0"/>
              <a:t>的时候就已经确定（甚至</a:t>
            </a:r>
            <a:r>
              <a:rPr lang="en-US" altLang="zh-CN" dirty="0" err="1"/>
              <a:t>mrmov</a:t>
            </a:r>
            <a:r>
              <a:rPr lang="zh-CN" altLang="en-US" dirty="0"/>
              <a:t>是这么做的）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B28EA0-DAA8-0CA2-DC0D-C58D7AAD8991}"/>
              </a:ext>
            </a:extLst>
          </p:cNvPr>
          <p:cNvSpPr txBox="1"/>
          <p:nvPr/>
        </p:nvSpPr>
        <p:spPr>
          <a:xfrm>
            <a:off x="5780971" y="1110782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转发那个信号依据什么标准判断？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9D2B85-9CE6-CBA3-C9A9-A764DEDFB716}"/>
              </a:ext>
            </a:extLst>
          </p:cNvPr>
          <p:cNvSpPr txBox="1"/>
          <p:nvPr/>
        </p:nvSpPr>
        <p:spPr>
          <a:xfrm>
            <a:off x="5780971" y="1801695"/>
            <a:ext cx="5791585" cy="8809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比如最早转发：一个需要的信号一旦产生，就立刻转发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e_valE</a:t>
            </a:r>
            <a:r>
              <a:rPr lang="zh-CN" altLang="en-US" dirty="0"/>
              <a:t>有了就不等到写入寄存器再转发</a:t>
            </a:r>
            <a:r>
              <a:rPr lang="en-US" altLang="zh-CN" dirty="0" err="1"/>
              <a:t>E_valE</a:t>
            </a:r>
            <a:r>
              <a:rPr lang="zh-CN" altLang="en-US" dirty="0"/>
              <a:t>。</a:t>
            </a:r>
            <a:r>
              <a:rPr lang="en-US" altLang="zh-CN" dirty="0"/>
              <a:t>m/M</a:t>
            </a:r>
            <a:r>
              <a:rPr lang="zh-CN" altLang="en-US" dirty="0"/>
              <a:t>同理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A08F79-B250-2609-AF9E-6F18CE2D53EE}"/>
              </a:ext>
            </a:extLst>
          </p:cNvPr>
          <p:cNvSpPr txBox="1"/>
          <p:nvPr/>
        </p:nvSpPr>
        <p:spPr>
          <a:xfrm>
            <a:off x="5780970" y="3833635"/>
            <a:ext cx="5725229" cy="880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原则：</a:t>
            </a:r>
            <a:r>
              <a:rPr lang="zh-CN" altLang="en-US" b="1" dirty="0"/>
              <a:t>先争取转发流水线寄存器的值，实在来不及的时候权衡流水级延迟转发阶段暂时量。</a:t>
            </a:r>
          </a:p>
        </p:txBody>
      </p:sp>
    </p:spTree>
    <p:extLst>
      <p:ext uri="{BB962C8B-B14F-4D97-AF65-F5344CB8AC3E}">
        <p14:creationId xmlns:p14="http://schemas.microsoft.com/office/powerpoint/2010/main" val="2835852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9BC8832F-FB67-7B4F-F5D5-E80402A2957A}"/>
              </a:ext>
            </a:extLst>
          </p:cNvPr>
          <p:cNvSpPr/>
          <p:nvPr/>
        </p:nvSpPr>
        <p:spPr>
          <a:xfrm>
            <a:off x="9588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7314EB8-41F6-4BE9-BB3E-41FE23989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75" y="0"/>
            <a:ext cx="5388428" cy="685800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C56A95D2-0CC6-BC33-1F67-7169EF127B82}"/>
              </a:ext>
            </a:extLst>
          </p:cNvPr>
          <p:cNvSpPr/>
          <p:nvPr/>
        </p:nvSpPr>
        <p:spPr>
          <a:xfrm>
            <a:off x="18732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82F09A09-2873-E181-766A-1AEA2D63013A}"/>
              </a:ext>
            </a:extLst>
          </p:cNvPr>
          <p:cNvSpPr/>
          <p:nvPr/>
        </p:nvSpPr>
        <p:spPr>
          <a:xfrm>
            <a:off x="27876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68F33CF-BCAA-0E25-B613-ED7310A1E663}"/>
              </a:ext>
            </a:extLst>
          </p:cNvPr>
          <p:cNvSpPr/>
          <p:nvPr/>
        </p:nvSpPr>
        <p:spPr>
          <a:xfrm>
            <a:off x="37020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D02D4CB-3A3C-C60F-6E23-C6F20575D79A}"/>
              </a:ext>
            </a:extLst>
          </p:cNvPr>
          <p:cNvSpPr/>
          <p:nvPr/>
        </p:nvSpPr>
        <p:spPr>
          <a:xfrm>
            <a:off x="46164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46D670C-55D4-1667-029E-71620AB38BCB}"/>
              </a:ext>
            </a:extLst>
          </p:cNvPr>
          <p:cNvSpPr/>
          <p:nvPr/>
        </p:nvSpPr>
        <p:spPr>
          <a:xfrm>
            <a:off x="9588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9963576-2F8F-C6CE-C407-E1F8CE30C1AB}"/>
              </a:ext>
            </a:extLst>
          </p:cNvPr>
          <p:cNvSpPr/>
          <p:nvPr/>
        </p:nvSpPr>
        <p:spPr>
          <a:xfrm>
            <a:off x="18732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6A1EF250-74DF-A353-64C6-3490749611A4}"/>
              </a:ext>
            </a:extLst>
          </p:cNvPr>
          <p:cNvSpPr/>
          <p:nvPr/>
        </p:nvSpPr>
        <p:spPr>
          <a:xfrm>
            <a:off x="27876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42A2245-04FA-31F7-0F31-E76862D1FEA8}"/>
              </a:ext>
            </a:extLst>
          </p:cNvPr>
          <p:cNvSpPr/>
          <p:nvPr/>
        </p:nvSpPr>
        <p:spPr>
          <a:xfrm>
            <a:off x="37020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C6BB2190-13B4-346B-8629-31F9609DA8D7}"/>
              </a:ext>
            </a:extLst>
          </p:cNvPr>
          <p:cNvSpPr/>
          <p:nvPr/>
        </p:nvSpPr>
        <p:spPr>
          <a:xfrm>
            <a:off x="46164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103204A-E1D2-42C0-A35F-5A7C94C5FDC5}"/>
              </a:ext>
            </a:extLst>
          </p:cNvPr>
          <p:cNvCxnSpPr>
            <a:stCxn id="17" idx="0"/>
            <a:endCxn id="10" idx="4"/>
          </p:cNvCxnSpPr>
          <p:nvPr/>
        </p:nvCxnSpPr>
        <p:spPr>
          <a:xfrm flipV="1">
            <a:off x="1200150" y="2254250"/>
            <a:ext cx="27432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86A88F1-3798-E896-A696-4BDF80282FCA}"/>
              </a:ext>
            </a:extLst>
          </p:cNvPr>
          <p:cNvCxnSpPr>
            <a:stCxn id="18" idx="0"/>
            <a:endCxn id="9" idx="4"/>
          </p:cNvCxnSpPr>
          <p:nvPr/>
        </p:nvCxnSpPr>
        <p:spPr>
          <a:xfrm flipV="1">
            <a:off x="2114550" y="2254250"/>
            <a:ext cx="914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A0E9A42-B1BB-03EE-8F8D-4D8C23F0D0FF}"/>
              </a:ext>
            </a:extLst>
          </p:cNvPr>
          <p:cNvCxnSpPr>
            <a:cxnSpLocks/>
            <a:stCxn id="18" idx="0"/>
            <a:endCxn id="10" idx="4"/>
          </p:cNvCxnSpPr>
          <p:nvPr/>
        </p:nvCxnSpPr>
        <p:spPr>
          <a:xfrm flipV="1">
            <a:off x="2114550" y="2254250"/>
            <a:ext cx="18288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26BE1FBE-58B2-2C14-605C-DADA03A4A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352732"/>
            <a:ext cx="6899275" cy="2505268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1919E4AD-0818-8E57-2E11-0F37AA582AE6}"/>
              </a:ext>
            </a:extLst>
          </p:cNvPr>
          <p:cNvSpPr/>
          <p:nvPr/>
        </p:nvSpPr>
        <p:spPr>
          <a:xfrm>
            <a:off x="4540250" y="4603751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3EA45F0-6FF3-B15D-6F4A-B712C9B32AED}"/>
              </a:ext>
            </a:extLst>
          </p:cNvPr>
          <p:cNvSpPr/>
          <p:nvPr/>
        </p:nvSpPr>
        <p:spPr>
          <a:xfrm>
            <a:off x="3917950" y="4435282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52F4DE6-C88C-BC37-354A-C4C57FC82BE0}"/>
              </a:ext>
            </a:extLst>
          </p:cNvPr>
          <p:cNvCxnSpPr/>
          <p:nvPr/>
        </p:nvCxnSpPr>
        <p:spPr>
          <a:xfrm>
            <a:off x="3619500" y="5403850"/>
            <a:ext cx="0" cy="1225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BC7CFE94-9BCE-34A8-4ABB-A405388A6954}"/>
              </a:ext>
            </a:extLst>
          </p:cNvPr>
          <p:cNvCxnSpPr>
            <a:cxnSpLocks/>
          </p:cNvCxnSpPr>
          <p:nvPr/>
        </p:nvCxnSpPr>
        <p:spPr>
          <a:xfrm flipH="1">
            <a:off x="3619499" y="5759450"/>
            <a:ext cx="647701" cy="7874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01DB1E5F-5BDC-7800-62C5-446AD22E52CA}"/>
              </a:ext>
            </a:extLst>
          </p:cNvPr>
          <p:cNvCxnSpPr>
            <a:cxnSpLocks/>
          </p:cNvCxnSpPr>
          <p:nvPr/>
        </p:nvCxnSpPr>
        <p:spPr>
          <a:xfrm flipH="1">
            <a:off x="3619498" y="6194425"/>
            <a:ext cx="1238252" cy="3524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92A0CFE0-87EE-5758-6444-BA06D6386CE6}"/>
              </a:ext>
            </a:extLst>
          </p:cNvPr>
          <p:cNvCxnSpPr>
            <a:cxnSpLocks/>
          </p:cNvCxnSpPr>
          <p:nvPr/>
        </p:nvCxnSpPr>
        <p:spPr>
          <a:xfrm>
            <a:off x="3000371" y="5003800"/>
            <a:ext cx="619126" cy="16256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DB71E96-6380-485E-472D-73C334D5E0B8}"/>
              </a:ext>
            </a:extLst>
          </p:cNvPr>
          <p:cNvCxnSpPr>
            <a:cxnSpLocks/>
          </p:cNvCxnSpPr>
          <p:nvPr/>
        </p:nvCxnSpPr>
        <p:spPr>
          <a:xfrm flipV="1">
            <a:off x="1171571" y="2254250"/>
            <a:ext cx="18288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355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D4F6-F030-525F-9297-9031A16B1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92733C9A-5EB2-83DD-CBBF-E4C8B763FF48}"/>
              </a:ext>
            </a:extLst>
          </p:cNvPr>
          <p:cNvSpPr/>
          <p:nvPr/>
        </p:nvSpPr>
        <p:spPr>
          <a:xfrm>
            <a:off x="9588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EB946B3-3092-92CF-00BE-FA01BDC2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75" y="0"/>
            <a:ext cx="5388428" cy="685800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4C3396B7-0A3A-9332-E8D7-9BCC9D00E544}"/>
              </a:ext>
            </a:extLst>
          </p:cNvPr>
          <p:cNvSpPr/>
          <p:nvPr/>
        </p:nvSpPr>
        <p:spPr>
          <a:xfrm>
            <a:off x="18732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9414B20-76FF-72DF-6D5A-1D75021E758F}"/>
              </a:ext>
            </a:extLst>
          </p:cNvPr>
          <p:cNvSpPr/>
          <p:nvPr/>
        </p:nvSpPr>
        <p:spPr>
          <a:xfrm>
            <a:off x="27876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6811D97-E96F-6E02-5D46-896165AAD630}"/>
              </a:ext>
            </a:extLst>
          </p:cNvPr>
          <p:cNvSpPr/>
          <p:nvPr/>
        </p:nvSpPr>
        <p:spPr>
          <a:xfrm>
            <a:off x="37020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89EC81D-9C80-0605-A892-7979F28363DD}"/>
              </a:ext>
            </a:extLst>
          </p:cNvPr>
          <p:cNvSpPr/>
          <p:nvPr/>
        </p:nvSpPr>
        <p:spPr>
          <a:xfrm>
            <a:off x="46164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86A1AF8-45C1-9A96-46D2-A332AB8B018B}"/>
              </a:ext>
            </a:extLst>
          </p:cNvPr>
          <p:cNvSpPr/>
          <p:nvPr/>
        </p:nvSpPr>
        <p:spPr>
          <a:xfrm>
            <a:off x="9588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1DF34EA3-0058-7584-C612-54B3AA497B9A}"/>
              </a:ext>
            </a:extLst>
          </p:cNvPr>
          <p:cNvSpPr/>
          <p:nvPr/>
        </p:nvSpPr>
        <p:spPr>
          <a:xfrm>
            <a:off x="18732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144FEA78-C6C8-2AF9-6D6B-7075BA60CF19}"/>
              </a:ext>
            </a:extLst>
          </p:cNvPr>
          <p:cNvSpPr/>
          <p:nvPr/>
        </p:nvSpPr>
        <p:spPr>
          <a:xfrm>
            <a:off x="27876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A262308-773B-5C30-63AA-9A6A5BA93904}"/>
              </a:ext>
            </a:extLst>
          </p:cNvPr>
          <p:cNvSpPr/>
          <p:nvPr/>
        </p:nvSpPr>
        <p:spPr>
          <a:xfrm>
            <a:off x="37020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8BE7E1B-9D52-8B83-D747-E6FA36001BA6}"/>
              </a:ext>
            </a:extLst>
          </p:cNvPr>
          <p:cNvSpPr/>
          <p:nvPr/>
        </p:nvSpPr>
        <p:spPr>
          <a:xfrm>
            <a:off x="46164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76BD9DE-EC3A-D8B4-3EF7-BDB1FFBEF0C0}"/>
              </a:ext>
            </a:extLst>
          </p:cNvPr>
          <p:cNvCxnSpPr>
            <a:stCxn id="17" idx="0"/>
            <a:endCxn id="10" idx="4"/>
          </p:cNvCxnSpPr>
          <p:nvPr/>
        </p:nvCxnSpPr>
        <p:spPr>
          <a:xfrm flipV="1">
            <a:off x="1200150" y="2254250"/>
            <a:ext cx="27432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9F863C3-6741-625B-A036-03BB35168E95}"/>
              </a:ext>
            </a:extLst>
          </p:cNvPr>
          <p:cNvCxnSpPr>
            <a:stCxn id="18" idx="0"/>
            <a:endCxn id="9" idx="4"/>
          </p:cNvCxnSpPr>
          <p:nvPr/>
        </p:nvCxnSpPr>
        <p:spPr>
          <a:xfrm flipV="1">
            <a:off x="2114550" y="2254250"/>
            <a:ext cx="914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7FFA5ED-1838-9EC0-25F7-FFFFD7D26E98}"/>
              </a:ext>
            </a:extLst>
          </p:cNvPr>
          <p:cNvCxnSpPr>
            <a:cxnSpLocks/>
            <a:stCxn id="18" idx="0"/>
            <a:endCxn id="10" idx="4"/>
          </p:cNvCxnSpPr>
          <p:nvPr/>
        </p:nvCxnSpPr>
        <p:spPr>
          <a:xfrm flipV="1">
            <a:off x="2114550" y="2254250"/>
            <a:ext cx="18288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1F56546B-104D-85E1-5286-F9D824059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352732"/>
            <a:ext cx="6899275" cy="2505268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E482F835-02F1-1B29-7FE3-BB3A91E0A5E7}"/>
              </a:ext>
            </a:extLst>
          </p:cNvPr>
          <p:cNvSpPr/>
          <p:nvPr/>
        </p:nvSpPr>
        <p:spPr>
          <a:xfrm>
            <a:off x="4540250" y="4603751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A946DC7-C79D-50E1-01EF-512A9E091A1B}"/>
              </a:ext>
            </a:extLst>
          </p:cNvPr>
          <p:cNvSpPr/>
          <p:nvPr/>
        </p:nvSpPr>
        <p:spPr>
          <a:xfrm>
            <a:off x="3917950" y="4435282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375FE191-C26C-DED4-D3C0-2A19CC12FFC0}"/>
              </a:ext>
            </a:extLst>
          </p:cNvPr>
          <p:cNvCxnSpPr>
            <a:cxnSpLocks/>
          </p:cNvCxnSpPr>
          <p:nvPr/>
        </p:nvCxnSpPr>
        <p:spPr>
          <a:xfrm>
            <a:off x="2924175" y="5368732"/>
            <a:ext cx="695322" cy="9177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28303B67-B8CB-2473-82CB-71D036F2C4D5}"/>
              </a:ext>
            </a:extLst>
          </p:cNvPr>
          <p:cNvCxnSpPr>
            <a:cxnSpLocks/>
          </p:cNvCxnSpPr>
          <p:nvPr/>
        </p:nvCxnSpPr>
        <p:spPr>
          <a:xfrm>
            <a:off x="3619497" y="5746750"/>
            <a:ext cx="0" cy="5397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AB255870-DAB9-75F0-932D-26F340AAF374}"/>
              </a:ext>
            </a:extLst>
          </p:cNvPr>
          <p:cNvCxnSpPr>
            <a:cxnSpLocks/>
          </p:cNvCxnSpPr>
          <p:nvPr/>
        </p:nvCxnSpPr>
        <p:spPr>
          <a:xfrm>
            <a:off x="2311400" y="5010150"/>
            <a:ext cx="1308098" cy="12763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B5D53675-C4C1-98F8-0D95-3FC06998994F}"/>
              </a:ext>
            </a:extLst>
          </p:cNvPr>
          <p:cNvCxnSpPr>
            <a:cxnSpLocks/>
          </p:cNvCxnSpPr>
          <p:nvPr/>
        </p:nvCxnSpPr>
        <p:spPr>
          <a:xfrm flipV="1">
            <a:off x="1200150" y="2254250"/>
            <a:ext cx="18288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827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49DB-1AD9-4721-0319-33A09DBEA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A408D485-CF9A-1143-3515-E0BC716EB744}"/>
              </a:ext>
            </a:extLst>
          </p:cNvPr>
          <p:cNvSpPr/>
          <p:nvPr/>
        </p:nvSpPr>
        <p:spPr>
          <a:xfrm>
            <a:off x="9588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584FF85-BFB7-A7A5-D9E0-2BC2BBAB3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75" y="0"/>
            <a:ext cx="5388428" cy="685800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60554B37-48A1-C4A4-B41A-011F535EAE2E}"/>
              </a:ext>
            </a:extLst>
          </p:cNvPr>
          <p:cNvSpPr/>
          <p:nvPr/>
        </p:nvSpPr>
        <p:spPr>
          <a:xfrm>
            <a:off x="18732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461F5D6-2CD0-BFBD-2DB4-F65A84CDDFC2}"/>
              </a:ext>
            </a:extLst>
          </p:cNvPr>
          <p:cNvSpPr/>
          <p:nvPr/>
        </p:nvSpPr>
        <p:spPr>
          <a:xfrm>
            <a:off x="27876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AB1A767-7702-7F99-E107-5B86B9CF12BB}"/>
              </a:ext>
            </a:extLst>
          </p:cNvPr>
          <p:cNvSpPr/>
          <p:nvPr/>
        </p:nvSpPr>
        <p:spPr>
          <a:xfrm>
            <a:off x="37020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D1F9AEBD-26A4-CD97-6485-E198FA217BA4}"/>
              </a:ext>
            </a:extLst>
          </p:cNvPr>
          <p:cNvSpPr/>
          <p:nvPr/>
        </p:nvSpPr>
        <p:spPr>
          <a:xfrm>
            <a:off x="46164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982FBA7-EA4A-1CAC-EB84-3BB4AB42C990}"/>
              </a:ext>
            </a:extLst>
          </p:cNvPr>
          <p:cNvSpPr/>
          <p:nvPr/>
        </p:nvSpPr>
        <p:spPr>
          <a:xfrm>
            <a:off x="9588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BD90960-1464-2C00-48D6-8A5E7345D57B}"/>
              </a:ext>
            </a:extLst>
          </p:cNvPr>
          <p:cNvSpPr/>
          <p:nvPr/>
        </p:nvSpPr>
        <p:spPr>
          <a:xfrm>
            <a:off x="18732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1F01568-4CB7-1B6A-E914-413619D0CB4E}"/>
              </a:ext>
            </a:extLst>
          </p:cNvPr>
          <p:cNvSpPr/>
          <p:nvPr/>
        </p:nvSpPr>
        <p:spPr>
          <a:xfrm>
            <a:off x="27876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4C05EFB-2CE0-1D75-9545-C051666CD553}"/>
              </a:ext>
            </a:extLst>
          </p:cNvPr>
          <p:cNvSpPr/>
          <p:nvPr/>
        </p:nvSpPr>
        <p:spPr>
          <a:xfrm>
            <a:off x="37020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8FDD3ED6-3563-A9B7-5BE1-1C48D3124AD8}"/>
              </a:ext>
            </a:extLst>
          </p:cNvPr>
          <p:cNvSpPr/>
          <p:nvPr/>
        </p:nvSpPr>
        <p:spPr>
          <a:xfrm>
            <a:off x="46164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C7450E92-333A-9B4A-94B6-13A5DFAE760A}"/>
              </a:ext>
            </a:extLst>
          </p:cNvPr>
          <p:cNvCxnSpPr>
            <a:stCxn id="17" idx="0"/>
            <a:endCxn id="10" idx="4"/>
          </p:cNvCxnSpPr>
          <p:nvPr/>
        </p:nvCxnSpPr>
        <p:spPr>
          <a:xfrm flipV="1">
            <a:off x="1200150" y="2254250"/>
            <a:ext cx="27432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2F2C1B5C-4B74-4236-C99F-D05EE8D1042A}"/>
              </a:ext>
            </a:extLst>
          </p:cNvPr>
          <p:cNvCxnSpPr>
            <a:stCxn id="18" idx="0"/>
            <a:endCxn id="9" idx="4"/>
          </p:cNvCxnSpPr>
          <p:nvPr/>
        </p:nvCxnSpPr>
        <p:spPr>
          <a:xfrm flipV="1">
            <a:off x="2114550" y="2254250"/>
            <a:ext cx="914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353EF3C-926D-350E-29FB-827FFB6D9E65}"/>
              </a:ext>
            </a:extLst>
          </p:cNvPr>
          <p:cNvCxnSpPr>
            <a:cxnSpLocks/>
            <a:stCxn id="18" idx="0"/>
            <a:endCxn id="10" idx="4"/>
          </p:cNvCxnSpPr>
          <p:nvPr/>
        </p:nvCxnSpPr>
        <p:spPr>
          <a:xfrm flipV="1">
            <a:off x="2114550" y="2254250"/>
            <a:ext cx="18288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5FF5AF4-A3DD-923A-CE1C-7E4DE7D231A2}"/>
              </a:ext>
            </a:extLst>
          </p:cNvPr>
          <p:cNvGrpSpPr/>
          <p:nvPr/>
        </p:nvGrpSpPr>
        <p:grpSpPr>
          <a:xfrm>
            <a:off x="-1" y="4352732"/>
            <a:ext cx="6899275" cy="2505268"/>
            <a:chOff x="-1" y="4352732"/>
            <a:chExt cx="6899275" cy="2505268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DD1D3B88-C045-EE42-D874-B6912A5D4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397C4AB-FD47-20BC-F074-12BB60B3DC20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D807FB3E-D4AE-3A7C-D555-F088307F879C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44FAB432-CBC9-9375-FEA5-2C7CA93850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9497" y="5797550"/>
              <a:ext cx="565153" cy="4889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8" name="直接箭头连接符 47">
              <a:extLst>
                <a:ext uri="{FF2B5EF4-FFF2-40B4-BE49-F238E27FC236}">
                  <a16:creationId xmlns:a16="http://schemas.microsoft.com/office/drawing/2014/main" id="{5CC8C337-EDEB-F731-B084-093F38F86865}"/>
                </a:ext>
              </a:extLst>
            </p:cNvPr>
            <p:cNvCxnSpPr>
              <a:cxnSpLocks/>
            </p:cNvCxnSpPr>
            <p:nvPr/>
          </p:nvCxnSpPr>
          <p:spPr>
            <a:xfrm>
              <a:off x="3619497" y="5403850"/>
              <a:ext cx="0" cy="8826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611F0709-4B92-D815-03C9-282B318AF41F}"/>
                </a:ext>
              </a:extLst>
            </p:cNvPr>
            <p:cNvCxnSpPr>
              <a:cxnSpLocks/>
            </p:cNvCxnSpPr>
            <p:nvPr/>
          </p:nvCxnSpPr>
          <p:spPr>
            <a:xfrm>
              <a:off x="2870200" y="4984750"/>
              <a:ext cx="749298" cy="130175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FEFB280-2F45-8899-F97E-B9E6CD75923B}"/>
              </a:ext>
            </a:extLst>
          </p:cNvPr>
          <p:cNvCxnSpPr>
            <a:cxnSpLocks/>
          </p:cNvCxnSpPr>
          <p:nvPr/>
        </p:nvCxnSpPr>
        <p:spPr>
          <a:xfrm flipV="1">
            <a:off x="1200150" y="2254250"/>
            <a:ext cx="18288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435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8FC28-6DDC-AD8A-0EC6-47CE4B984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26F20B8-136B-557C-23F0-F57B8C274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75" y="0"/>
            <a:ext cx="5388428" cy="68580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3842A5B9-08EE-925B-5354-F42288DC6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352732"/>
            <a:ext cx="6899275" cy="2505268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F57E0A88-4548-5AE5-9B2B-92F1ED12F4A9}"/>
              </a:ext>
            </a:extLst>
          </p:cNvPr>
          <p:cNvSpPr/>
          <p:nvPr/>
        </p:nvSpPr>
        <p:spPr>
          <a:xfrm>
            <a:off x="4540250" y="4603751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675EF0A-054B-45C7-E4F1-A48127AE24E9}"/>
              </a:ext>
            </a:extLst>
          </p:cNvPr>
          <p:cNvSpPr/>
          <p:nvPr/>
        </p:nvSpPr>
        <p:spPr>
          <a:xfrm>
            <a:off x="3917950" y="4435282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16243E2B-E984-0EF7-C029-136918F1CB4C}"/>
              </a:ext>
            </a:extLst>
          </p:cNvPr>
          <p:cNvCxnSpPr>
            <a:cxnSpLocks/>
          </p:cNvCxnSpPr>
          <p:nvPr/>
        </p:nvCxnSpPr>
        <p:spPr>
          <a:xfrm>
            <a:off x="2984500" y="5403850"/>
            <a:ext cx="635000" cy="1225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A030C5C-7A4A-247C-1E40-56EB706F1281}"/>
              </a:ext>
            </a:extLst>
          </p:cNvPr>
          <p:cNvCxnSpPr>
            <a:cxnSpLocks/>
          </p:cNvCxnSpPr>
          <p:nvPr/>
        </p:nvCxnSpPr>
        <p:spPr>
          <a:xfrm>
            <a:off x="3619497" y="5822950"/>
            <a:ext cx="2" cy="7239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863D8092-54E9-CFD1-9894-97331857DAAC}"/>
              </a:ext>
            </a:extLst>
          </p:cNvPr>
          <p:cNvCxnSpPr>
            <a:cxnSpLocks/>
          </p:cNvCxnSpPr>
          <p:nvPr/>
        </p:nvCxnSpPr>
        <p:spPr>
          <a:xfrm flipH="1">
            <a:off x="3619498" y="6235700"/>
            <a:ext cx="565152" cy="3111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62BF55DA-8686-71F8-A9D5-97A204B0DDDE}"/>
              </a:ext>
            </a:extLst>
          </p:cNvPr>
          <p:cNvCxnSpPr>
            <a:cxnSpLocks/>
          </p:cNvCxnSpPr>
          <p:nvPr/>
        </p:nvCxnSpPr>
        <p:spPr>
          <a:xfrm>
            <a:off x="2355850" y="5035550"/>
            <a:ext cx="1263647" cy="15938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71DB4A8C-0AD9-C476-09A1-17A43F028C33}"/>
              </a:ext>
            </a:extLst>
          </p:cNvPr>
          <p:cNvCxnSpPr/>
          <p:nvPr/>
        </p:nvCxnSpPr>
        <p:spPr>
          <a:xfrm>
            <a:off x="0" y="0"/>
            <a:ext cx="12287703" cy="6858000"/>
          </a:xfrm>
          <a:prstGeom prst="line">
            <a:avLst/>
          </a:prstGeom>
          <a:ln w="1905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F3ABFC95-914A-F40D-55BC-F2E9ACB58A59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2287703" cy="6858000"/>
          </a:xfrm>
          <a:prstGeom prst="line">
            <a:avLst/>
          </a:prstGeom>
          <a:ln w="1905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2100EB2-7F54-6D74-4BD7-9103F99B4400}"/>
              </a:ext>
            </a:extLst>
          </p:cNvPr>
          <p:cNvSpPr txBox="1"/>
          <p:nvPr/>
        </p:nvSpPr>
        <p:spPr>
          <a:xfrm>
            <a:off x="303076" y="1391786"/>
            <a:ext cx="62882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1" dirty="0"/>
              <a:t>JXX</a:t>
            </a:r>
            <a:r>
              <a:rPr lang="zh-CN" altLang="en-US" sz="2400" b="1" dirty="0"/>
              <a:t>的条件码在</a:t>
            </a:r>
            <a:r>
              <a:rPr lang="en-US" altLang="zh-CN" sz="2400" b="1" dirty="0"/>
              <a:t>E</a:t>
            </a:r>
            <a:r>
              <a:rPr lang="zh-CN" altLang="en-US" sz="2400" b="1" dirty="0"/>
              <a:t>阶段获得，为何没有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依赖未来的</a:t>
            </a:r>
            <a:r>
              <a:rPr lang="en-US" altLang="zh-CN" sz="2400" b="1" dirty="0"/>
              <a:t>E</a:t>
            </a:r>
            <a:r>
              <a:rPr lang="zh-CN" altLang="en-US" sz="2400" b="1" dirty="0"/>
              <a:t>的情况？</a:t>
            </a:r>
            <a:endParaRPr lang="en-US" altLang="zh-CN" sz="24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/>
              <a:t>因为我们有分支预测机制，</a:t>
            </a:r>
            <a:r>
              <a:rPr lang="en-US" altLang="zh-CN" sz="2400" b="1" dirty="0"/>
              <a:t>E</a:t>
            </a:r>
            <a:r>
              <a:rPr lang="zh-CN" altLang="en-US" sz="2400" b="1" dirty="0"/>
              <a:t>永远不会阻塞</a:t>
            </a:r>
            <a:r>
              <a:rPr lang="en-US" altLang="zh-CN" sz="2400" b="1" dirty="0"/>
              <a:t>F</a:t>
            </a:r>
            <a:r>
              <a:rPr lang="zh-CN" altLang="en-US" sz="2400" b="1" dirty="0"/>
              <a:t>只可能引入错误的</a:t>
            </a:r>
            <a:r>
              <a:rPr lang="en-US" altLang="zh-CN" sz="2400" b="1" dirty="0"/>
              <a:t>D</a:t>
            </a:r>
          </a:p>
          <a:p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91822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58B18-7DB4-FD2D-67F9-E4CBD52FB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2B98A21-4365-A23B-0B29-D8B1EA9CE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75" y="0"/>
            <a:ext cx="5388428" cy="6858000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596FC23A-318B-F60F-ED2D-8B331B1D6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4352732"/>
            <a:ext cx="6899275" cy="2505268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B1E11EA4-36B4-F39E-86C3-DDDF23F15D79}"/>
              </a:ext>
            </a:extLst>
          </p:cNvPr>
          <p:cNvSpPr/>
          <p:nvPr/>
        </p:nvSpPr>
        <p:spPr>
          <a:xfrm>
            <a:off x="4540250" y="4603751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8B6027A-D063-4D06-722C-14BCAFED6AB4}"/>
              </a:ext>
            </a:extLst>
          </p:cNvPr>
          <p:cNvSpPr/>
          <p:nvPr/>
        </p:nvSpPr>
        <p:spPr>
          <a:xfrm>
            <a:off x="3917950" y="4435282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CB21E0B-83E0-3853-9DD4-0C77967EB7D4}"/>
              </a:ext>
            </a:extLst>
          </p:cNvPr>
          <p:cNvCxnSpPr>
            <a:cxnSpLocks/>
          </p:cNvCxnSpPr>
          <p:nvPr/>
        </p:nvCxnSpPr>
        <p:spPr>
          <a:xfrm>
            <a:off x="2984500" y="5403850"/>
            <a:ext cx="635000" cy="12255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AF81CDA4-823E-AF32-C268-8B9BD4E441BB}"/>
              </a:ext>
            </a:extLst>
          </p:cNvPr>
          <p:cNvCxnSpPr>
            <a:cxnSpLocks/>
          </p:cNvCxnSpPr>
          <p:nvPr/>
        </p:nvCxnSpPr>
        <p:spPr>
          <a:xfrm>
            <a:off x="2355850" y="5035550"/>
            <a:ext cx="1263647" cy="15938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id="{DCCA6444-9EF5-FC71-1454-87FAD6E7DE4D}"/>
              </a:ext>
            </a:extLst>
          </p:cNvPr>
          <p:cNvSpPr/>
          <p:nvPr/>
        </p:nvSpPr>
        <p:spPr>
          <a:xfrm>
            <a:off x="9588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0549F18D-C863-2908-5B37-F547E500832F}"/>
              </a:ext>
            </a:extLst>
          </p:cNvPr>
          <p:cNvSpPr/>
          <p:nvPr/>
        </p:nvSpPr>
        <p:spPr>
          <a:xfrm>
            <a:off x="18732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1AC2DA2A-DCB0-B5BC-BBD7-E964B11DF7AE}"/>
              </a:ext>
            </a:extLst>
          </p:cNvPr>
          <p:cNvSpPr/>
          <p:nvPr/>
        </p:nvSpPr>
        <p:spPr>
          <a:xfrm>
            <a:off x="27876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065116AC-08EC-0B04-05C2-319DA3761356}"/>
              </a:ext>
            </a:extLst>
          </p:cNvPr>
          <p:cNvSpPr/>
          <p:nvPr/>
        </p:nvSpPr>
        <p:spPr>
          <a:xfrm>
            <a:off x="37020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5DC7F0A3-7B7A-0685-90A3-3C1DC3447FFD}"/>
              </a:ext>
            </a:extLst>
          </p:cNvPr>
          <p:cNvSpPr/>
          <p:nvPr/>
        </p:nvSpPr>
        <p:spPr>
          <a:xfrm>
            <a:off x="46164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1E17958B-4B71-347E-76DC-466498BAD70F}"/>
              </a:ext>
            </a:extLst>
          </p:cNvPr>
          <p:cNvSpPr/>
          <p:nvPr/>
        </p:nvSpPr>
        <p:spPr>
          <a:xfrm>
            <a:off x="9588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C7846C44-4252-FA35-EB0C-4189A99575D4}"/>
              </a:ext>
            </a:extLst>
          </p:cNvPr>
          <p:cNvSpPr/>
          <p:nvPr/>
        </p:nvSpPr>
        <p:spPr>
          <a:xfrm>
            <a:off x="18732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FD9B7620-2628-F1C7-4536-A343543BC320}"/>
              </a:ext>
            </a:extLst>
          </p:cNvPr>
          <p:cNvSpPr/>
          <p:nvPr/>
        </p:nvSpPr>
        <p:spPr>
          <a:xfrm>
            <a:off x="27876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5F86B4DB-4EE3-FCEC-0CE9-CE6126564E6E}"/>
              </a:ext>
            </a:extLst>
          </p:cNvPr>
          <p:cNvSpPr/>
          <p:nvPr/>
        </p:nvSpPr>
        <p:spPr>
          <a:xfrm>
            <a:off x="37020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88A72280-C55C-5934-107D-71E923B36269}"/>
              </a:ext>
            </a:extLst>
          </p:cNvPr>
          <p:cNvSpPr/>
          <p:nvPr/>
        </p:nvSpPr>
        <p:spPr>
          <a:xfrm>
            <a:off x="46164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FAF534A2-A6DA-E237-6FF4-025CF9E90394}"/>
              </a:ext>
            </a:extLst>
          </p:cNvPr>
          <p:cNvCxnSpPr>
            <a:stCxn id="39" idx="0"/>
            <a:endCxn id="34" idx="4"/>
          </p:cNvCxnSpPr>
          <p:nvPr/>
        </p:nvCxnSpPr>
        <p:spPr>
          <a:xfrm flipV="1">
            <a:off x="1200150" y="2254250"/>
            <a:ext cx="27432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A38C25F3-6777-5D19-BA72-231961E60CF5}"/>
              </a:ext>
            </a:extLst>
          </p:cNvPr>
          <p:cNvCxnSpPr>
            <a:stCxn id="40" idx="0"/>
            <a:endCxn id="32" idx="4"/>
          </p:cNvCxnSpPr>
          <p:nvPr/>
        </p:nvCxnSpPr>
        <p:spPr>
          <a:xfrm flipV="1">
            <a:off x="2114550" y="2254250"/>
            <a:ext cx="914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938AA3FF-41F8-1F13-9FF4-D120747044C3}"/>
              </a:ext>
            </a:extLst>
          </p:cNvPr>
          <p:cNvCxnSpPr>
            <a:cxnSpLocks/>
            <a:stCxn id="40" idx="0"/>
            <a:endCxn id="34" idx="4"/>
          </p:cNvCxnSpPr>
          <p:nvPr/>
        </p:nvCxnSpPr>
        <p:spPr>
          <a:xfrm flipV="1">
            <a:off x="2114550" y="2254250"/>
            <a:ext cx="18288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AD954783-7C54-3306-24AE-1559F0663759}"/>
              </a:ext>
            </a:extLst>
          </p:cNvPr>
          <p:cNvCxnSpPr>
            <a:cxnSpLocks/>
          </p:cNvCxnSpPr>
          <p:nvPr/>
        </p:nvCxnSpPr>
        <p:spPr>
          <a:xfrm flipV="1">
            <a:off x="1200150" y="2254250"/>
            <a:ext cx="18288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箭头: 右弧形 49">
            <a:extLst>
              <a:ext uri="{FF2B5EF4-FFF2-40B4-BE49-F238E27FC236}">
                <a16:creationId xmlns:a16="http://schemas.microsoft.com/office/drawing/2014/main" id="{C44FBFB3-EDC5-AB2C-6E13-B0F623BE64CC}"/>
              </a:ext>
            </a:extLst>
          </p:cNvPr>
          <p:cNvSpPr/>
          <p:nvPr/>
        </p:nvSpPr>
        <p:spPr>
          <a:xfrm rot="10800000">
            <a:off x="427038" y="1866900"/>
            <a:ext cx="546100" cy="121920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C32B9976-CD80-93F5-E656-3833953F03A6}"/>
              </a:ext>
            </a:extLst>
          </p:cNvPr>
          <p:cNvSpPr txBox="1"/>
          <p:nvPr/>
        </p:nvSpPr>
        <p:spPr>
          <a:xfrm>
            <a:off x="958850" y="1156159"/>
            <a:ext cx="383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跳转预测地址在</a:t>
            </a:r>
            <a:r>
              <a:rPr lang="en-US" altLang="zh-CN" dirty="0"/>
              <a:t>F</a:t>
            </a:r>
            <a:r>
              <a:rPr lang="zh-CN" altLang="en-US" dirty="0"/>
              <a:t>阶段就已经知道了</a:t>
            </a:r>
          </a:p>
        </p:txBody>
      </p:sp>
    </p:spTree>
    <p:extLst>
      <p:ext uri="{BB962C8B-B14F-4D97-AF65-F5344CB8AC3E}">
        <p14:creationId xmlns:p14="http://schemas.microsoft.com/office/powerpoint/2010/main" val="598758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5314D9-B030-AAC2-159B-2AAEA9A7A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B5D175-1613-3671-C992-390E26D64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关注哪些行？在我们关心的指令执行时尚未执行完的。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什么样的需要小写的暂时信号转发？  </a:t>
            </a:r>
            <a:r>
              <a:rPr lang="en-US" altLang="zh-CN" sz="2400" dirty="0"/>
              <a:t>-&gt;  k = </a:t>
            </a:r>
            <a:r>
              <a:rPr lang="zh-CN" altLang="en-US" sz="2400" dirty="0"/>
              <a:t>∞的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什么样的需要大写的流水线寄存器值转发？ </a:t>
            </a:r>
            <a:r>
              <a:rPr lang="en-US" altLang="zh-CN" sz="2400" dirty="0"/>
              <a:t>-&gt; k &lt; 0 </a:t>
            </a:r>
            <a:r>
              <a:rPr lang="zh-CN" altLang="en-US" sz="2400" dirty="0"/>
              <a:t>的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什么样的无法通过转发解决？</a:t>
            </a:r>
            <a:r>
              <a:rPr lang="en-US" altLang="zh-CN" sz="2400" dirty="0"/>
              <a:t>-&gt; k &gt; 0 </a:t>
            </a:r>
            <a:r>
              <a:rPr lang="zh-CN" altLang="en-US" sz="2400" dirty="0"/>
              <a:t>的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这也就是课本所谓的需要转发到过去的情况，也就是从未来转发到现在。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85774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43AA7A-F47A-3BF7-9F81-1D3181144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435B824-A821-AF9D-D1C9-440282008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6292418"/>
              </p:ext>
            </p:extLst>
          </p:nvPr>
        </p:nvGraphicFramePr>
        <p:xfrm>
          <a:off x="1471616" y="451457"/>
          <a:ext cx="9248767" cy="5954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730">
                  <a:extLst>
                    <a:ext uri="{9D8B030D-6E8A-4147-A177-3AD203B41FA5}">
                      <a16:colId xmlns:a16="http://schemas.microsoft.com/office/drawing/2014/main" val="3379946988"/>
                    </a:ext>
                  </a:extLst>
                </a:gridCol>
                <a:gridCol w="4289116">
                  <a:extLst>
                    <a:ext uri="{9D8B030D-6E8A-4147-A177-3AD203B41FA5}">
                      <a16:colId xmlns:a16="http://schemas.microsoft.com/office/drawing/2014/main" val="1495472006"/>
                    </a:ext>
                  </a:extLst>
                </a:gridCol>
                <a:gridCol w="3872921">
                  <a:extLst>
                    <a:ext uri="{9D8B030D-6E8A-4147-A177-3AD203B41FA5}">
                      <a16:colId xmlns:a16="http://schemas.microsoft.com/office/drawing/2014/main" val="4005411362"/>
                    </a:ext>
                  </a:extLst>
                </a:gridCol>
              </a:tblGrid>
              <a:tr h="4528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800" dirty="0"/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范围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开销</a:t>
                      </a:r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2842608341"/>
                  </a:ext>
                </a:extLst>
              </a:tr>
              <a:tr h="12394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暂停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800" dirty="0"/>
                        <a:t>能够处理任何冒险（退化为</a:t>
                      </a:r>
                      <a:r>
                        <a:rPr lang="en-US" altLang="zh-CN" sz="1800" dirty="0"/>
                        <a:t>SEQ</a:t>
                      </a:r>
                      <a:r>
                        <a:rPr lang="zh-CN" altLang="en-US" sz="1800" dirty="0"/>
                        <a:t>）</a:t>
                      </a:r>
                      <a:endParaRPr lang="en-US" altLang="zh-CN" sz="18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800" dirty="0"/>
                        <a:t>通常用于处理冒险的阶段处于决定是否冒险的阶段左下方时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/>
                        <a:t>+1 </a:t>
                      </a:r>
                      <a:r>
                        <a:rPr lang="zh-CN" altLang="en-US" sz="1800" dirty="0"/>
                        <a:t>周期</a:t>
                      </a:r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1100948812"/>
                  </a:ext>
                </a:extLst>
              </a:tr>
              <a:tr h="12394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气泡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800" dirty="0"/>
                        <a:t>流水线图中冒险的阶段处于决定是否冒险的阶段右下方时</a:t>
                      </a:r>
                      <a:endParaRPr lang="en-US" altLang="zh-CN" sz="18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800" dirty="0"/>
                        <a:t>原指令消失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没有额外代价，但通常只会对错误取得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暂停后的重指令进行</a:t>
                      </a:r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2762188864"/>
                  </a:ext>
                </a:extLst>
              </a:tr>
              <a:tr h="12394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/>
                        <a:t>X-</a:t>
                      </a:r>
                      <a:r>
                        <a:rPr lang="zh-CN" altLang="en-US" sz="1800" dirty="0"/>
                        <a:t>转发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CN" altLang="en-US" sz="1800" dirty="0"/>
                        <a:t>流水线图中冒险的阶段处于决定是否冒险的阶段右下方时</a:t>
                      </a:r>
                      <a:endParaRPr lang="en-US" altLang="zh-C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CN" altLang="en-US" sz="1800" dirty="0"/>
                        <a:t>原指令照常进行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增加硬件布线</a:t>
                      </a:r>
                      <a:endParaRPr lang="en-US" altLang="zh-CN" sz="1800" dirty="0"/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774129467"/>
                  </a:ext>
                </a:extLst>
              </a:tr>
              <a:tr h="15912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/>
                        <a:t>x-</a:t>
                      </a:r>
                      <a:r>
                        <a:rPr lang="zh-CN" altLang="en-US" sz="1800" dirty="0"/>
                        <a:t>转发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CN" altLang="en-US" sz="1800" dirty="0"/>
                        <a:t>流水线图中冒险的阶段处于决定是否冒险的阶段正下方或右下方时</a:t>
                      </a:r>
                      <a:endParaRPr lang="en-US" altLang="zh-C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CN" altLang="en-US" sz="1800" dirty="0"/>
                        <a:t>由于开销问题通常只在正下方时使用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增加递入阶段延迟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800" dirty="0"/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1342429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18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FADF1-89F7-4564-38DE-C0E13092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Pipeline control – detect &amp; handle</a:t>
            </a:r>
            <a:endParaRPr lang="zh-CN" altLang="en-US" sz="540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A41D52-D8F1-0CE2-F21B-E05AD2179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764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8042770-DB14-A6AC-2D29-B7C15D52F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518" y="1125388"/>
            <a:ext cx="9348963" cy="251316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838E30A-7288-C91C-652A-4CC52E6B3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585" y="3638550"/>
            <a:ext cx="9364827" cy="183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422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8663DB-931A-0F86-EC68-B46AF0B9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3B2CEB-EF0F-E03C-D25B-55D409597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检测分为两个部分：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我们何时有这个信息：比如我们不在流水级之间传递</a:t>
            </a:r>
            <a:r>
              <a:rPr lang="en-US" altLang="zh-CN" dirty="0"/>
              <a:t>CC</a:t>
            </a:r>
            <a:r>
              <a:rPr lang="zh-CN" altLang="en-US" dirty="0"/>
              <a:t>，所以说我们知道分支未被选择的时刻仅限于</a:t>
            </a:r>
            <a:r>
              <a:rPr lang="en-US" altLang="zh-CN" dirty="0"/>
              <a:t>IJMP</a:t>
            </a:r>
            <a:r>
              <a:rPr lang="zh-CN" altLang="en-US" dirty="0"/>
              <a:t>在</a:t>
            </a:r>
            <a:r>
              <a:rPr lang="en-US" altLang="zh-CN" dirty="0"/>
              <a:t>E</a:t>
            </a:r>
            <a:r>
              <a:rPr lang="zh-CN" altLang="en-US" dirty="0"/>
              <a:t>阶段的时候？（但这是因还是果）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我们何时需要这个信息：比如我们在</a:t>
            </a:r>
            <a:r>
              <a:rPr lang="en-US" altLang="zh-CN" dirty="0"/>
              <a:t>F</a:t>
            </a:r>
            <a:r>
              <a:rPr lang="zh-CN" altLang="en-US" dirty="0"/>
              <a:t>阶段就知道这个指令是</a:t>
            </a:r>
            <a:r>
              <a:rPr lang="en-US" altLang="zh-CN" dirty="0"/>
              <a:t>RET</a:t>
            </a:r>
            <a:r>
              <a:rPr lang="zh-CN" altLang="en-US" dirty="0"/>
              <a:t>，但下一条指令还没进入，显然没用。</a:t>
            </a:r>
          </a:p>
        </p:txBody>
      </p:sp>
    </p:spTree>
    <p:extLst>
      <p:ext uri="{BB962C8B-B14F-4D97-AF65-F5344CB8AC3E}">
        <p14:creationId xmlns:p14="http://schemas.microsoft.com/office/powerpoint/2010/main" val="359327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C3A0CF-248D-C4CE-5D72-4DB5204C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Stall </a:t>
            </a:r>
            <a:r>
              <a:rPr lang="zh-CN" altLang="en-US" dirty="0"/>
              <a:t>和 </a:t>
            </a:r>
            <a:r>
              <a:rPr lang="en-US" altLang="zh-CN" dirty="0"/>
              <a:t>bubble </a:t>
            </a:r>
            <a:r>
              <a:rPr lang="zh-CN" altLang="en-US" dirty="0"/>
              <a:t>的行为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D58A14B6-5532-5A54-8E44-7F6ADF733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5335" y="1787525"/>
            <a:ext cx="5280665" cy="435133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6F57DA3-C57F-08AD-7C1C-63C1645122A8}"/>
              </a:ext>
            </a:extLst>
          </p:cNvPr>
          <p:cNvSpPr txBox="1"/>
          <p:nvPr/>
        </p:nvSpPr>
        <p:spPr>
          <a:xfrm>
            <a:off x="6254750" y="1787525"/>
            <a:ext cx="5600187" cy="33739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Bubble X</a:t>
            </a:r>
            <a:r>
              <a:rPr lang="zh-CN" altLang="en-US" dirty="0"/>
              <a:t>会影响到后续所有阶段。（由于</a:t>
            </a:r>
            <a:r>
              <a:rPr lang="en-US" altLang="zh-CN" dirty="0"/>
              <a:t>ICODE</a:t>
            </a:r>
            <a:r>
              <a:rPr lang="zh-CN" altLang="en-US" dirty="0"/>
              <a:t>和</a:t>
            </a:r>
            <a:r>
              <a:rPr lang="en-US" altLang="zh-CN" dirty="0"/>
              <a:t>IFUN</a:t>
            </a:r>
            <a:r>
              <a:rPr lang="zh-CN" altLang="en-US" dirty="0"/>
              <a:t>是逐阶段传递的，而非常量）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所有控制行为影响的是对应</a:t>
            </a:r>
            <a:r>
              <a:rPr lang="zh-CN" altLang="en-US" b="1" dirty="0"/>
              <a:t>流水线寄存器</a:t>
            </a:r>
            <a:r>
              <a:rPr lang="zh-CN" altLang="en-US" dirty="0"/>
              <a:t>，也就是开始的时候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所有的控制都是指令都要在下一次更新流水线寄存器的时候才生效，表观上看是下个周期才生效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（一个指令如果能取消自己，那么显然该指令的执行收到该指令更新的状态的影响）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C61D35-88E1-5149-6220-D0A63D890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0" y="5309099"/>
            <a:ext cx="5280666" cy="49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9861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EC92D3-9EB5-34D8-ACF3-7A60EAA33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Stall</a:t>
            </a:r>
            <a:r>
              <a:rPr lang="zh-CN" altLang="en-US" dirty="0"/>
              <a:t>？</a:t>
            </a:r>
            <a:r>
              <a:rPr lang="en-US" altLang="zh-CN" dirty="0"/>
              <a:t>Bubble</a:t>
            </a:r>
            <a:r>
              <a:rPr lang="zh-CN" altLang="en-US" dirty="0"/>
              <a:t>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40EE79-D680-4E12-DA0F-FBE82C7DF8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选择</a:t>
            </a:r>
            <a:r>
              <a:rPr lang="en-US" altLang="zh-CN" sz="2400" dirty="0"/>
              <a:t>stall</a:t>
            </a:r>
            <a:r>
              <a:rPr lang="zh-CN" altLang="en-US" sz="2400" dirty="0"/>
              <a:t>还是</a:t>
            </a:r>
            <a:r>
              <a:rPr lang="en-US" altLang="zh-CN" sz="2400" dirty="0"/>
              <a:t>bubble</a:t>
            </a:r>
            <a:r>
              <a:rPr lang="zh-CN" altLang="en-US" sz="2400" dirty="0"/>
              <a:t>的核心问题在于我们到底想不想执行后面的指令，是</a:t>
            </a:r>
            <a:r>
              <a:rPr lang="zh-CN" altLang="en-US" sz="2400" b="1" dirty="0"/>
              <a:t>暂</a:t>
            </a:r>
            <a:r>
              <a:rPr lang="zh-CN" altLang="en-US" sz="2400" dirty="0"/>
              <a:t>时不执行，还是永远不执行？</a:t>
            </a:r>
            <a:endParaRPr lang="en-US" altLang="zh-CN" sz="2400" b="1" dirty="0"/>
          </a:p>
          <a:p>
            <a:pPr>
              <a:lnSpc>
                <a:spcPct val="150000"/>
              </a:lnSpc>
            </a:pPr>
            <a:r>
              <a:rPr lang="zh-CN" altLang="en-US" sz="2400" dirty="0"/>
              <a:t>比如错误预测取出来的指令就永远不该执行，</a:t>
            </a:r>
            <a:r>
              <a:rPr lang="en-US" altLang="zh-CN" sz="2400" dirty="0"/>
              <a:t>L/U</a:t>
            </a:r>
            <a:r>
              <a:rPr lang="zh-CN" altLang="en-US" sz="2400" dirty="0"/>
              <a:t>冒险的</a:t>
            </a:r>
            <a:r>
              <a:rPr lang="en-US" altLang="zh-CN" sz="2400" dirty="0"/>
              <a:t>use</a:t>
            </a:r>
            <a:r>
              <a:rPr lang="zh-CN" altLang="en-US" sz="2400" dirty="0"/>
              <a:t>早晚还是要</a:t>
            </a:r>
            <a:r>
              <a:rPr lang="en-US" altLang="zh-CN" sz="2400" dirty="0"/>
              <a:t>use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对于永远不该执行的指令，我们只需要</a:t>
            </a:r>
            <a:r>
              <a:rPr lang="en-US" altLang="zh-CN" sz="2000" dirty="0"/>
              <a:t>bubble</a:t>
            </a:r>
            <a:r>
              <a:rPr lang="zh-CN" altLang="en-US" sz="2000" dirty="0"/>
              <a:t>就可以了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对于暂时不执行的指令，我们用</a:t>
            </a:r>
            <a:r>
              <a:rPr lang="en-US" altLang="zh-CN" sz="2000" dirty="0"/>
              <a:t>Stall</a:t>
            </a:r>
            <a:r>
              <a:rPr lang="zh-CN" altLang="en-US" sz="2000" dirty="0"/>
              <a:t>保持了某一阶段的结果，那么这个指令的某些阶段被复制，在流水线中有两个拷贝这肯定不对。我们要阻止比较早的那个更新程序员可见状态。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480886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4635DC-736F-17AA-F020-B6989A8AD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Bubble &amp; stall </a:t>
            </a:r>
            <a:r>
              <a:rPr lang="zh-CN" altLang="en-US" dirty="0"/>
              <a:t>的图形化解释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DDB577-B5A4-495B-8D44-1DE0E4465D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Bubble </a:t>
            </a:r>
            <a:r>
              <a:rPr lang="zh-CN" altLang="en-US" sz="2400" dirty="0"/>
              <a:t>的形式：将右下方格子以及其右侧所有格子变为白色</a:t>
            </a:r>
            <a:r>
              <a:rPr lang="en-US" altLang="zh-CN" sz="2400" dirty="0"/>
              <a:t>(</a:t>
            </a:r>
            <a:r>
              <a:rPr lang="zh-CN" altLang="en-US" sz="2400" dirty="0"/>
              <a:t>不执行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  <a:p>
            <a:endParaRPr lang="zh-CN" altLang="en-US" sz="24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00ECBCA-F67F-D54A-9782-7DE0FB9198D5}"/>
              </a:ext>
            </a:extLst>
          </p:cNvPr>
          <p:cNvGrpSpPr/>
          <p:nvPr/>
        </p:nvGrpSpPr>
        <p:grpSpPr>
          <a:xfrm>
            <a:off x="1336677" y="3639344"/>
            <a:ext cx="9953623" cy="1981477"/>
            <a:chOff x="1669417" y="4001294"/>
            <a:chExt cx="9953623" cy="1981477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17214CB-8446-FE30-C730-666113947A64}"/>
                </a:ext>
              </a:extLst>
            </p:cNvPr>
            <p:cNvSpPr txBox="1"/>
            <p:nvPr/>
          </p:nvSpPr>
          <p:spPr>
            <a:xfrm>
              <a:off x="7127240" y="4235112"/>
              <a:ext cx="414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Under </a:t>
              </a:r>
              <a:r>
                <a:rPr lang="en-US" altLang="zh-CN" dirty="0" err="1"/>
                <a:t>E_phase</a:t>
              </a:r>
              <a:r>
                <a:rPr lang="en-US" altLang="zh-CN" dirty="0"/>
                <a:t> of RET</a:t>
              </a:r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7200ADE-759D-838C-8099-A17F75BCD926}"/>
                </a:ext>
              </a:extLst>
            </p:cNvPr>
            <p:cNvSpPr txBox="1"/>
            <p:nvPr/>
          </p:nvSpPr>
          <p:spPr>
            <a:xfrm>
              <a:off x="7477760" y="4523026"/>
              <a:ext cx="41452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Under </a:t>
              </a:r>
              <a:r>
                <a:rPr lang="en-US" altLang="zh-CN" dirty="0" err="1"/>
                <a:t>M_phase</a:t>
              </a:r>
              <a:r>
                <a:rPr lang="en-US" altLang="zh-CN" dirty="0"/>
                <a:t> of RET</a:t>
              </a:r>
              <a:endParaRPr lang="zh-CN" altLang="en-US" dirty="0"/>
            </a:p>
          </p:txBody>
        </p: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6BF22CAB-F34F-EA47-619E-6F3FBB0CE631}"/>
                </a:ext>
              </a:extLst>
            </p:cNvPr>
            <p:cNvGrpSpPr/>
            <p:nvPr/>
          </p:nvGrpSpPr>
          <p:grpSpPr>
            <a:xfrm>
              <a:off x="1669417" y="4001294"/>
              <a:ext cx="9344023" cy="1981477"/>
              <a:chOff x="1669417" y="4001294"/>
              <a:chExt cx="9344023" cy="1981477"/>
            </a:xfrm>
          </p:grpSpPr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A56A2C3-ED7F-AB19-B328-12C226123CB3}"/>
                  </a:ext>
                </a:extLst>
              </p:cNvPr>
              <p:cNvSpPr txBox="1"/>
              <p:nvPr/>
            </p:nvSpPr>
            <p:spPr>
              <a:xfrm>
                <a:off x="6868160" y="4001294"/>
                <a:ext cx="41452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/>
                  <a:t>Under </a:t>
                </a:r>
                <a:r>
                  <a:rPr lang="en-US" altLang="zh-CN" dirty="0" err="1"/>
                  <a:t>D_phase</a:t>
                </a:r>
                <a:r>
                  <a:rPr lang="en-US" altLang="zh-CN" dirty="0"/>
                  <a:t> of RET</a:t>
                </a:r>
                <a:endParaRPr lang="zh-CN" altLang="en-US" dirty="0"/>
              </a:p>
            </p:txBody>
          </p:sp>
          <p:grpSp>
            <p:nvGrpSpPr>
              <p:cNvPr id="15" name="组合 14">
                <a:extLst>
                  <a:ext uri="{FF2B5EF4-FFF2-40B4-BE49-F238E27FC236}">
                    <a16:creationId xmlns:a16="http://schemas.microsoft.com/office/drawing/2014/main" id="{39C4C656-9BF7-17C9-2F20-228D834DE382}"/>
                  </a:ext>
                </a:extLst>
              </p:cNvPr>
              <p:cNvGrpSpPr/>
              <p:nvPr/>
            </p:nvGrpSpPr>
            <p:grpSpPr>
              <a:xfrm>
                <a:off x="1669417" y="4001294"/>
                <a:ext cx="5772783" cy="1981477"/>
                <a:chOff x="1669417" y="4001294"/>
                <a:chExt cx="5772783" cy="1981477"/>
              </a:xfrm>
            </p:grpSpPr>
            <p:pic>
              <p:nvPicPr>
                <p:cNvPr id="16" name="图片 15">
                  <a:extLst>
                    <a:ext uri="{FF2B5EF4-FFF2-40B4-BE49-F238E27FC236}">
                      <a16:creationId xmlns:a16="http://schemas.microsoft.com/office/drawing/2014/main" id="{1F3AD952-14BD-B275-F01C-C0355031CF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669417" y="4001294"/>
                  <a:ext cx="4525006" cy="1981477"/>
                </a:xfrm>
                <a:prstGeom prst="rect">
                  <a:avLst/>
                </a:prstGeom>
              </p:spPr>
            </p:pic>
            <p:cxnSp>
              <p:nvCxnSpPr>
                <p:cNvPr id="17" name="直接箭头连接符 16">
                  <a:extLst>
                    <a:ext uri="{FF2B5EF4-FFF2-40B4-BE49-F238E27FC236}">
                      <a16:creationId xmlns:a16="http://schemas.microsoft.com/office/drawing/2014/main" id="{769FB42E-92D0-F1DA-1428-A7FEFC391D62}"/>
                    </a:ext>
                  </a:extLst>
                </p:cNvPr>
                <p:cNvCxnSpPr/>
                <p:nvPr/>
              </p:nvCxnSpPr>
              <p:spPr>
                <a:xfrm flipV="1">
                  <a:off x="3261360" y="4185920"/>
                  <a:ext cx="3606800" cy="5080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箭头连接符 17">
                  <a:extLst>
                    <a:ext uri="{FF2B5EF4-FFF2-40B4-BE49-F238E27FC236}">
                      <a16:creationId xmlns:a16="http://schemas.microsoft.com/office/drawing/2014/main" id="{B3B06873-524B-CF74-4C2B-9381C9117F27}"/>
                    </a:ext>
                  </a:extLst>
                </p:cNvPr>
                <p:cNvCxnSpPr/>
                <p:nvPr/>
              </p:nvCxnSpPr>
              <p:spPr>
                <a:xfrm flipV="1">
                  <a:off x="3530600" y="4477444"/>
                  <a:ext cx="3606800" cy="5080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箭头连接符 18">
                  <a:extLst>
                    <a:ext uri="{FF2B5EF4-FFF2-40B4-BE49-F238E27FC236}">
                      <a16:creationId xmlns:a16="http://schemas.microsoft.com/office/drawing/2014/main" id="{DB77C840-3C7E-0FB5-FD89-F59FB3CAF012}"/>
                    </a:ext>
                  </a:extLst>
                </p:cNvPr>
                <p:cNvCxnSpPr/>
                <p:nvPr/>
              </p:nvCxnSpPr>
              <p:spPr>
                <a:xfrm flipV="1">
                  <a:off x="3835400" y="4731444"/>
                  <a:ext cx="3606800" cy="50800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箭头连接符 22">
                  <a:extLst>
                    <a:ext uri="{FF2B5EF4-FFF2-40B4-BE49-F238E27FC236}">
                      <a16:creationId xmlns:a16="http://schemas.microsoft.com/office/drawing/2014/main" id="{9938CE7A-F6D7-9CC6-59A1-8AFB0B911F2F}"/>
                    </a:ext>
                  </a:extLst>
                </p:cNvPr>
                <p:cNvCxnSpPr/>
                <p:nvPr/>
              </p:nvCxnSpPr>
              <p:spPr>
                <a:xfrm>
                  <a:off x="3180080" y="4731444"/>
                  <a:ext cx="350520" cy="25400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>
                  <a:extLst>
                    <a:ext uri="{FF2B5EF4-FFF2-40B4-BE49-F238E27FC236}">
                      <a16:creationId xmlns:a16="http://schemas.microsoft.com/office/drawing/2014/main" id="{BAD1A437-72A0-F4C2-ED0C-E0CE34A3D28D}"/>
                    </a:ext>
                  </a:extLst>
                </p:cNvPr>
                <p:cNvCxnSpPr/>
                <p:nvPr/>
              </p:nvCxnSpPr>
              <p:spPr>
                <a:xfrm>
                  <a:off x="3601720" y="5002648"/>
                  <a:ext cx="350520" cy="25400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箭头连接符 27">
                  <a:extLst>
                    <a:ext uri="{FF2B5EF4-FFF2-40B4-BE49-F238E27FC236}">
                      <a16:creationId xmlns:a16="http://schemas.microsoft.com/office/drawing/2014/main" id="{98F3AF3C-5E6C-0752-AD34-6521D07C971C}"/>
                    </a:ext>
                  </a:extLst>
                </p:cNvPr>
                <p:cNvCxnSpPr/>
                <p:nvPr/>
              </p:nvCxnSpPr>
              <p:spPr>
                <a:xfrm>
                  <a:off x="4058920" y="5301216"/>
                  <a:ext cx="350520" cy="25400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9DE5C150-2F13-C61A-7456-E9721B21F3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02660" y="4950202"/>
                  <a:ext cx="134366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07E2FB89-459F-556D-237C-391A1BD73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31920" y="5256648"/>
                  <a:ext cx="134366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C5A07071-0EB1-892A-2541-11F81B17EA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95140" y="5452464"/>
                  <a:ext cx="134366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6049195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A1FDCB-8321-EDAC-D7AC-59ADAAEFB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9286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Stall</a:t>
            </a:r>
            <a:r>
              <a:rPr lang="zh-CN" altLang="en-US" sz="2400" dirty="0"/>
              <a:t>的形式：阶段</a:t>
            </a:r>
            <a:r>
              <a:rPr lang="en-US" altLang="zh-CN" sz="2400" dirty="0"/>
              <a:t>X</a:t>
            </a:r>
            <a:r>
              <a:rPr lang="zh-CN" altLang="en-US" sz="2400" dirty="0"/>
              <a:t>的输入依赖左上方的输入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Stall</a:t>
            </a:r>
            <a:r>
              <a:rPr lang="zh-CN" altLang="en-US" sz="2400" dirty="0"/>
              <a:t>的传递性质：由于流水级是无记忆的（我们不能得到任何流水线寄存器未传递的值，即使是</a:t>
            </a:r>
            <a:r>
              <a:rPr lang="en-US" altLang="zh-CN" sz="2400" dirty="0" err="1"/>
              <a:t>icode</a:t>
            </a:r>
            <a:r>
              <a:rPr lang="zh-CN" altLang="en-US" sz="2400" dirty="0"/>
              <a:t>这种明确存在内存中的持久化的值），所以事实上</a:t>
            </a:r>
            <a:r>
              <a:rPr lang="en-US" altLang="zh-CN" sz="2400" dirty="0"/>
              <a:t>stall</a:t>
            </a:r>
            <a:r>
              <a:rPr lang="zh-CN" altLang="en-US" sz="2400" dirty="0"/>
              <a:t>阶段前一个阶段的值会被丢失，通常我们并不希望这样。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D2965C1-B43A-0B3F-7635-F9E8223D23ED}"/>
              </a:ext>
            </a:extLst>
          </p:cNvPr>
          <p:cNvGrpSpPr/>
          <p:nvPr/>
        </p:nvGrpSpPr>
        <p:grpSpPr>
          <a:xfrm>
            <a:off x="3057234" y="4162842"/>
            <a:ext cx="6650741" cy="2460208"/>
            <a:chOff x="-1" y="4352732"/>
            <a:chExt cx="6899275" cy="2505268"/>
          </a:xfrm>
        </p:grpSpPr>
        <p:pic>
          <p:nvPicPr>
            <p:cNvPr id="31" name="图片 30">
              <a:extLst>
                <a:ext uri="{FF2B5EF4-FFF2-40B4-BE49-F238E27FC236}">
                  <a16:creationId xmlns:a16="http://schemas.microsoft.com/office/drawing/2014/main" id="{F2712543-0647-30E5-2120-94FE255DA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729CB304-E293-9EBF-0B82-7F3871A983B8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13A38CD-B39D-B1E6-7A7D-22FF0A9CB04D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22AD950-8451-3F07-17B7-13F01F7513F8}"/>
              </a:ext>
            </a:extLst>
          </p:cNvPr>
          <p:cNvCxnSpPr>
            <a:cxnSpLocks/>
          </p:cNvCxnSpPr>
          <p:nvPr/>
        </p:nvCxnSpPr>
        <p:spPr>
          <a:xfrm flipH="1" flipV="1">
            <a:off x="4228518" y="4486616"/>
            <a:ext cx="320966" cy="22416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B0C50F1-DAD8-7E1C-7EEC-98A50655648B}"/>
              </a:ext>
            </a:extLst>
          </p:cNvPr>
          <p:cNvCxnSpPr>
            <a:cxnSpLocks/>
          </p:cNvCxnSpPr>
          <p:nvPr/>
        </p:nvCxnSpPr>
        <p:spPr>
          <a:xfrm flipH="1" flipV="1">
            <a:off x="4228518" y="4861538"/>
            <a:ext cx="320966" cy="224164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6706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AFE3E662-3D3C-BA9A-877F-CA92AE7A6CB3}"/>
              </a:ext>
            </a:extLst>
          </p:cNvPr>
          <p:cNvGrpSpPr/>
          <p:nvPr/>
        </p:nvGrpSpPr>
        <p:grpSpPr>
          <a:xfrm>
            <a:off x="838200" y="3060706"/>
            <a:ext cx="2489200" cy="571500"/>
            <a:chOff x="3816350" y="1162050"/>
            <a:chExt cx="2489200" cy="5715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5664F569-5360-8A52-7821-CBC48F016008}"/>
                </a:ext>
              </a:extLst>
            </p:cNvPr>
            <p:cNvCxnSpPr/>
            <p:nvPr/>
          </p:nvCxnSpPr>
          <p:spPr>
            <a:xfrm>
              <a:off x="3816350" y="1162050"/>
              <a:ext cx="571500" cy="57150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193674D-F7F4-0254-DBDB-15DEA934CEB4}"/>
                </a:ext>
              </a:extLst>
            </p:cNvPr>
            <p:cNvCxnSpPr/>
            <p:nvPr/>
          </p:nvCxnSpPr>
          <p:spPr>
            <a:xfrm>
              <a:off x="4343400" y="1733550"/>
              <a:ext cx="1962150" cy="0"/>
            </a:xfrm>
            <a:prstGeom prst="line">
              <a:avLst/>
            </a:prstGeom>
            <a:ln w="76200"/>
          </p:spPr>
          <p:style>
            <a:lnRef idx="3">
              <a:schemeClr val="accent4"/>
            </a:lnRef>
            <a:fillRef idx="0">
              <a:schemeClr val="accent4"/>
            </a:fillRef>
            <a:effectRef idx="2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12" name="矩形 11">
            <a:extLst>
              <a:ext uri="{FF2B5EF4-FFF2-40B4-BE49-F238E27FC236}">
                <a16:creationId xmlns:a16="http://schemas.microsoft.com/office/drawing/2014/main" id="{73460EF6-AEB7-567D-3543-53779E27124D}"/>
              </a:ext>
            </a:extLst>
          </p:cNvPr>
          <p:cNvSpPr/>
          <p:nvPr/>
        </p:nvSpPr>
        <p:spPr>
          <a:xfrm>
            <a:off x="838200" y="4356106"/>
            <a:ext cx="2489200" cy="57149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EEECA5E-8CBF-7BEB-EFBB-78076E3A7D12}"/>
              </a:ext>
            </a:extLst>
          </p:cNvPr>
          <p:cNvCxnSpPr/>
          <p:nvPr/>
        </p:nvCxnSpPr>
        <p:spPr>
          <a:xfrm>
            <a:off x="1162050" y="4603756"/>
            <a:ext cx="0" cy="121285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60FF2EA-FB4E-11EF-1D1C-892D3692A58B}"/>
              </a:ext>
            </a:extLst>
          </p:cNvPr>
          <p:cNvCxnSpPr/>
          <p:nvPr/>
        </p:nvCxnSpPr>
        <p:spPr>
          <a:xfrm>
            <a:off x="1816100" y="4654556"/>
            <a:ext cx="0" cy="121285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19529AC-2545-872F-9604-BADD7B83EF00}"/>
              </a:ext>
            </a:extLst>
          </p:cNvPr>
          <p:cNvCxnSpPr/>
          <p:nvPr/>
        </p:nvCxnSpPr>
        <p:spPr>
          <a:xfrm>
            <a:off x="2406650" y="4654556"/>
            <a:ext cx="0" cy="121285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844EDBE-6B2C-56B9-FCA8-122B488D1AA5}"/>
              </a:ext>
            </a:extLst>
          </p:cNvPr>
          <p:cNvCxnSpPr/>
          <p:nvPr/>
        </p:nvCxnSpPr>
        <p:spPr>
          <a:xfrm>
            <a:off x="2952750" y="4654556"/>
            <a:ext cx="0" cy="121285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33776458-F2B7-CF72-DDC1-813B9775B66E}"/>
              </a:ext>
            </a:extLst>
          </p:cNvPr>
          <p:cNvSpPr txBox="1"/>
          <p:nvPr/>
        </p:nvSpPr>
        <p:spPr>
          <a:xfrm>
            <a:off x="4023360" y="2292115"/>
            <a:ext cx="1120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Stall</a:t>
            </a:r>
            <a:r>
              <a:rPr lang="zh-CN" altLang="en-US" dirty="0"/>
              <a:t>拼图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421D95F-BF16-FAE9-13BD-2723C73D7A36}"/>
              </a:ext>
            </a:extLst>
          </p:cNvPr>
          <p:cNvSpPr txBox="1"/>
          <p:nvPr/>
        </p:nvSpPr>
        <p:spPr>
          <a:xfrm>
            <a:off x="4023359" y="3429000"/>
            <a:ext cx="160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Bubble</a:t>
            </a:r>
            <a:r>
              <a:rPr lang="zh-CN" altLang="en-US" dirty="0"/>
              <a:t>拼图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351EE0D-3423-7198-0724-BAA3762FC04A}"/>
              </a:ext>
            </a:extLst>
          </p:cNvPr>
          <p:cNvSpPr/>
          <p:nvPr/>
        </p:nvSpPr>
        <p:spPr>
          <a:xfrm>
            <a:off x="1679695" y="2017839"/>
            <a:ext cx="272810" cy="27281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0C0AB32-8ADD-AB5C-7336-18D3A5A091B0}"/>
              </a:ext>
            </a:extLst>
          </p:cNvPr>
          <p:cNvSpPr/>
          <p:nvPr/>
        </p:nvSpPr>
        <p:spPr>
          <a:xfrm>
            <a:off x="701795" y="2886992"/>
            <a:ext cx="272810" cy="27281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4E8C18E-23C4-DB59-0C29-7423A8EE8A67}"/>
              </a:ext>
            </a:extLst>
          </p:cNvPr>
          <p:cNvSpPr/>
          <p:nvPr/>
        </p:nvSpPr>
        <p:spPr>
          <a:xfrm>
            <a:off x="997191" y="4518151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BDB44CE4-C206-E156-A2E4-3E8F69DD5403}"/>
              </a:ext>
            </a:extLst>
          </p:cNvPr>
          <p:cNvSpPr/>
          <p:nvPr/>
        </p:nvSpPr>
        <p:spPr>
          <a:xfrm>
            <a:off x="1644891" y="4524507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7A57D5F-5391-1AD3-C29D-609E6D504676}"/>
              </a:ext>
            </a:extLst>
          </p:cNvPr>
          <p:cNvSpPr/>
          <p:nvPr/>
        </p:nvSpPr>
        <p:spPr>
          <a:xfrm>
            <a:off x="2270486" y="4524507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B526F2DF-509C-842F-6C8B-2ED7AABAB057}"/>
              </a:ext>
            </a:extLst>
          </p:cNvPr>
          <p:cNvSpPr/>
          <p:nvPr/>
        </p:nvSpPr>
        <p:spPr>
          <a:xfrm>
            <a:off x="2798943" y="4518151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73A6FEB0-D18A-0E34-7EE2-C38443C183C9}"/>
              </a:ext>
            </a:extLst>
          </p:cNvPr>
          <p:cNvSpPr/>
          <p:nvPr/>
        </p:nvSpPr>
        <p:spPr>
          <a:xfrm>
            <a:off x="1025645" y="5019555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65132DF-E983-03B8-C720-AB0884BE1C47}"/>
              </a:ext>
            </a:extLst>
          </p:cNvPr>
          <p:cNvSpPr/>
          <p:nvPr/>
        </p:nvSpPr>
        <p:spPr>
          <a:xfrm>
            <a:off x="1673345" y="5025911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9709CC5-DDE0-1498-3220-0A05BE4803AC}"/>
              </a:ext>
            </a:extLst>
          </p:cNvPr>
          <p:cNvSpPr/>
          <p:nvPr/>
        </p:nvSpPr>
        <p:spPr>
          <a:xfrm>
            <a:off x="2286240" y="5025911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3AEAC79-F374-9BFD-F083-52C6E54876E4}"/>
              </a:ext>
            </a:extLst>
          </p:cNvPr>
          <p:cNvSpPr/>
          <p:nvPr/>
        </p:nvSpPr>
        <p:spPr>
          <a:xfrm>
            <a:off x="2827397" y="5019555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A9103108-0755-FC48-BB78-0A612E1D9968}"/>
              </a:ext>
            </a:extLst>
          </p:cNvPr>
          <p:cNvSpPr/>
          <p:nvPr/>
        </p:nvSpPr>
        <p:spPr>
          <a:xfrm>
            <a:off x="1016242" y="5446538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13F21151-7F96-F03B-CF83-5BF92A51A855}"/>
              </a:ext>
            </a:extLst>
          </p:cNvPr>
          <p:cNvSpPr/>
          <p:nvPr/>
        </p:nvSpPr>
        <p:spPr>
          <a:xfrm>
            <a:off x="1663942" y="5452894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8035F4F-C606-A2F5-9488-FB910BAF2E70}"/>
              </a:ext>
            </a:extLst>
          </p:cNvPr>
          <p:cNvSpPr/>
          <p:nvPr/>
        </p:nvSpPr>
        <p:spPr>
          <a:xfrm>
            <a:off x="2289537" y="5452894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0D86A46B-E810-AA89-1D9E-DD73A861A8FB}"/>
              </a:ext>
            </a:extLst>
          </p:cNvPr>
          <p:cNvSpPr/>
          <p:nvPr/>
        </p:nvSpPr>
        <p:spPr>
          <a:xfrm>
            <a:off x="2817994" y="5446538"/>
            <a:ext cx="272810" cy="2728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16148EE-4E97-0706-60F6-A096AAB0AA2D}"/>
              </a:ext>
            </a:extLst>
          </p:cNvPr>
          <p:cNvSpPr txBox="1"/>
          <p:nvPr/>
        </p:nvSpPr>
        <p:spPr>
          <a:xfrm>
            <a:off x="4020065" y="4841245"/>
            <a:ext cx="1606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Detection</a:t>
            </a:r>
            <a:r>
              <a:rPr lang="zh-CN" altLang="en-US" dirty="0"/>
              <a:t>拼图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815D8F1-C62A-664A-E6D4-38FE4B8DA4EC}"/>
              </a:ext>
            </a:extLst>
          </p:cNvPr>
          <p:cNvGrpSpPr/>
          <p:nvPr/>
        </p:nvGrpSpPr>
        <p:grpSpPr>
          <a:xfrm>
            <a:off x="6189330" y="2907074"/>
            <a:ext cx="5109939" cy="1890243"/>
            <a:chOff x="-1" y="4352732"/>
            <a:chExt cx="6899275" cy="2505268"/>
          </a:xfrm>
        </p:grpSpPr>
        <p:pic>
          <p:nvPicPr>
            <p:cNvPr id="39" name="图片 38">
              <a:extLst>
                <a:ext uri="{FF2B5EF4-FFF2-40B4-BE49-F238E27FC236}">
                  <a16:creationId xmlns:a16="http://schemas.microsoft.com/office/drawing/2014/main" id="{106D08CC-ACE3-CC74-CE9C-FED507A5F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276AF853-5E71-095E-802E-BCF890EAD022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AECB560A-D762-51B9-4F9A-EFEA944FF391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697ECA1B-DEAD-5B54-197F-FE51F8126A32}"/>
              </a:ext>
            </a:extLst>
          </p:cNvPr>
          <p:cNvCxnSpPr>
            <a:cxnSpLocks/>
          </p:cNvCxnSpPr>
          <p:nvPr/>
        </p:nvCxnSpPr>
        <p:spPr>
          <a:xfrm>
            <a:off x="8265464" y="3700151"/>
            <a:ext cx="121077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49B294ED-30B2-B607-DFC4-67F9A8E65EAB}"/>
              </a:ext>
            </a:extLst>
          </p:cNvPr>
          <p:cNvCxnSpPr>
            <a:cxnSpLocks/>
          </p:cNvCxnSpPr>
          <p:nvPr/>
        </p:nvCxnSpPr>
        <p:spPr>
          <a:xfrm>
            <a:off x="8724654" y="4017434"/>
            <a:ext cx="121077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0DDE337-3636-BE90-8310-474952A62B75}"/>
              </a:ext>
            </a:extLst>
          </p:cNvPr>
          <p:cNvCxnSpPr>
            <a:cxnSpLocks/>
          </p:cNvCxnSpPr>
          <p:nvPr/>
        </p:nvCxnSpPr>
        <p:spPr>
          <a:xfrm>
            <a:off x="7835101" y="3429000"/>
            <a:ext cx="121077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EE2A0F6A-446A-D191-3034-758B1C7405D7}"/>
              </a:ext>
            </a:extLst>
          </p:cNvPr>
          <p:cNvSpPr txBox="1"/>
          <p:nvPr/>
        </p:nvSpPr>
        <p:spPr>
          <a:xfrm>
            <a:off x="7651751" y="4891649"/>
            <a:ext cx="1996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希望覆盖的图案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427B5C8-498B-882A-C758-E82E4C2A2E01}"/>
              </a:ext>
            </a:extLst>
          </p:cNvPr>
          <p:cNvCxnSpPr>
            <a:cxnSpLocks/>
          </p:cNvCxnSpPr>
          <p:nvPr/>
        </p:nvCxnSpPr>
        <p:spPr>
          <a:xfrm flipH="1" flipV="1">
            <a:off x="1816100" y="2152650"/>
            <a:ext cx="454386" cy="40640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0658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22F0-FADE-F763-FD31-2D66CC72A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29297-3D29-D536-9212-1AF041127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L/U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E33FD14-0675-5DFE-8728-F5F289A11378}"/>
              </a:ext>
            </a:extLst>
          </p:cNvPr>
          <p:cNvSpPr txBox="1"/>
          <p:nvPr/>
        </p:nvSpPr>
        <p:spPr>
          <a:xfrm>
            <a:off x="7048500" y="1839324"/>
            <a:ext cx="501650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注意</a:t>
            </a:r>
            <a:r>
              <a:rPr lang="en-US" altLang="zh-CN" sz="2400" dirty="0"/>
              <a:t>load</a:t>
            </a:r>
            <a:r>
              <a:rPr lang="zh-CN" altLang="en-US" sz="2400" dirty="0"/>
              <a:t>的形式不仅限于</a:t>
            </a:r>
            <a:r>
              <a:rPr lang="en-US" altLang="zh-CN" sz="2400" dirty="0"/>
              <a:t>MRMOVQ</a:t>
            </a:r>
            <a:r>
              <a:rPr lang="zh-CN" altLang="en-US" sz="2400" dirty="0"/>
              <a:t>，还包括</a:t>
            </a:r>
            <a:r>
              <a:rPr lang="en-US" altLang="zh-CN" sz="2400" dirty="0"/>
              <a:t>POPQ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Use</a:t>
            </a:r>
            <a:r>
              <a:rPr lang="zh-CN" altLang="en-US" sz="2400" dirty="0"/>
              <a:t>更广泛了，</a:t>
            </a:r>
            <a:r>
              <a:rPr lang="en-US" altLang="zh-CN" sz="2400" dirty="0" err="1"/>
              <a:t>dst</a:t>
            </a:r>
            <a:r>
              <a:rPr lang="en-US" altLang="zh-CN" sz="2400" dirty="0"/>
              <a:t>!=RNONE</a:t>
            </a:r>
            <a:r>
              <a:rPr lang="zh-CN" altLang="en-US" sz="2400" dirty="0"/>
              <a:t>都是</a:t>
            </a:r>
            <a:r>
              <a:rPr lang="en-US" altLang="zh-CN" sz="2400" dirty="0"/>
              <a:t>use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36C2590-6D77-4EAA-122F-8A81904049A2}"/>
              </a:ext>
            </a:extLst>
          </p:cNvPr>
          <p:cNvGrpSpPr/>
          <p:nvPr/>
        </p:nvGrpSpPr>
        <p:grpSpPr>
          <a:xfrm>
            <a:off x="-4" y="1839324"/>
            <a:ext cx="6899275" cy="2505268"/>
            <a:chOff x="-1" y="4352732"/>
            <a:chExt cx="6899275" cy="250526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1E0D7CD-3BFE-7437-9DC0-86F56DE01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7BE984B-717B-2EBF-8D38-4BB0BDA1959F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ED4EA77F-84B2-7586-FD5B-E7C36B8C2642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8" name="图片 17">
            <a:extLst>
              <a:ext uri="{FF2B5EF4-FFF2-40B4-BE49-F238E27FC236}">
                <a16:creationId xmlns:a16="http://schemas.microsoft.com/office/drawing/2014/main" id="{65779B14-93B8-BFAF-556B-A9F4ACC5D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" y="4352732"/>
            <a:ext cx="6899275" cy="2505268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AC6DEB8C-F300-5AFB-DFBF-EEEE72A9DE4C}"/>
              </a:ext>
            </a:extLst>
          </p:cNvPr>
          <p:cNvSpPr/>
          <p:nvPr/>
        </p:nvSpPr>
        <p:spPr>
          <a:xfrm>
            <a:off x="4540248" y="4603751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D05CCC-F172-6B7F-F423-B41165AE0E89}"/>
              </a:ext>
            </a:extLst>
          </p:cNvPr>
          <p:cNvSpPr/>
          <p:nvPr/>
        </p:nvSpPr>
        <p:spPr>
          <a:xfrm>
            <a:off x="3917948" y="4435282"/>
            <a:ext cx="1162050" cy="8000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A9A704FF-377E-448E-AD8B-89160D5B84FC}"/>
              </a:ext>
            </a:extLst>
          </p:cNvPr>
          <p:cNvCxnSpPr/>
          <p:nvPr/>
        </p:nvCxnSpPr>
        <p:spPr>
          <a:xfrm>
            <a:off x="3917947" y="3727450"/>
            <a:ext cx="18288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7B7F0226-FD1C-F40A-17A9-91786CB04FB5}"/>
              </a:ext>
            </a:extLst>
          </p:cNvPr>
          <p:cNvCxnSpPr>
            <a:cxnSpLocks/>
          </p:cNvCxnSpPr>
          <p:nvPr/>
        </p:nvCxnSpPr>
        <p:spPr>
          <a:xfrm>
            <a:off x="3296422" y="3302390"/>
            <a:ext cx="1847850" cy="1905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7FD3264-1320-A645-0899-CB42A3D7304F}"/>
              </a:ext>
            </a:extLst>
          </p:cNvPr>
          <p:cNvCxnSpPr>
            <a:cxnSpLocks/>
          </p:cNvCxnSpPr>
          <p:nvPr/>
        </p:nvCxnSpPr>
        <p:spPr>
          <a:xfrm flipH="1" flipV="1">
            <a:off x="3028950" y="3329580"/>
            <a:ext cx="547683" cy="39758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82BF752E-310B-2D72-3BE0-ED7249733B4A}"/>
              </a:ext>
            </a:extLst>
          </p:cNvPr>
          <p:cNvCxnSpPr>
            <a:cxnSpLocks/>
          </p:cNvCxnSpPr>
          <p:nvPr/>
        </p:nvCxnSpPr>
        <p:spPr>
          <a:xfrm flipH="1">
            <a:off x="3629022" y="1296003"/>
            <a:ext cx="1111252" cy="169426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2BB92E2-338A-AA7D-9278-806DD50B49BB}"/>
              </a:ext>
            </a:extLst>
          </p:cNvPr>
          <p:cNvSpPr txBox="1"/>
          <p:nvPr/>
        </p:nvSpPr>
        <p:spPr>
          <a:xfrm>
            <a:off x="4441824" y="804512"/>
            <a:ext cx="1181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 ready</a:t>
            </a:r>
            <a:endParaRPr lang="zh-CN" altLang="en-US" dirty="0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0DBF8962-6D40-1C98-7B8C-322C0C045529}"/>
              </a:ext>
            </a:extLst>
          </p:cNvPr>
          <p:cNvGrpSpPr/>
          <p:nvPr/>
        </p:nvGrpSpPr>
        <p:grpSpPr>
          <a:xfrm>
            <a:off x="2362989" y="4935554"/>
            <a:ext cx="2028031" cy="484205"/>
            <a:chOff x="7442200" y="4470400"/>
            <a:chExt cx="1930400" cy="400050"/>
          </a:xfrm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09B5190C-35DD-423D-9AD4-5156CC475F39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6B7A22C9-A46A-52D0-A805-0A40C0B526C0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0DC72C3-A38D-E17F-2473-A8CFA65C08BA}"/>
              </a:ext>
            </a:extLst>
          </p:cNvPr>
          <p:cNvCxnSpPr>
            <a:cxnSpLocks/>
          </p:cNvCxnSpPr>
          <p:nvPr/>
        </p:nvCxnSpPr>
        <p:spPr>
          <a:xfrm flipH="1" flipV="1">
            <a:off x="2303856" y="5426109"/>
            <a:ext cx="604444" cy="3601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2BEE80A2-1196-8D06-24BE-62AAE536B810}"/>
              </a:ext>
            </a:extLst>
          </p:cNvPr>
          <p:cNvSpPr/>
          <p:nvPr/>
        </p:nvSpPr>
        <p:spPr>
          <a:xfrm>
            <a:off x="2616200" y="2709100"/>
            <a:ext cx="1898649" cy="77824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7D5E090A-1A8E-3BE4-2314-36104629CFAD}"/>
              </a:ext>
            </a:extLst>
          </p:cNvPr>
          <p:cNvCxnSpPr>
            <a:cxnSpLocks/>
          </p:cNvCxnSpPr>
          <p:nvPr/>
        </p:nvCxnSpPr>
        <p:spPr>
          <a:xfrm flipH="1" flipV="1">
            <a:off x="2303856" y="5846746"/>
            <a:ext cx="604444" cy="364658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424388DF-A3D5-C2E5-D5AB-E4A163ADC052}"/>
              </a:ext>
            </a:extLst>
          </p:cNvPr>
          <p:cNvSpPr/>
          <p:nvPr/>
        </p:nvSpPr>
        <p:spPr>
          <a:xfrm>
            <a:off x="2025650" y="4806542"/>
            <a:ext cx="1877626" cy="80009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86851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82D0E-989A-2D57-F2AA-26CC51D41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FFDCD-B7E9-2E77-DD3B-C8D1C9643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jmp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MISPRED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B5D8B58-26C6-0376-AEBF-103ECEF3DF57}"/>
              </a:ext>
            </a:extLst>
          </p:cNvPr>
          <p:cNvSpPr txBox="1"/>
          <p:nvPr/>
        </p:nvSpPr>
        <p:spPr>
          <a:xfrm>
            <a:off x="6739640" y="1839324"/>
            <a:ext cx="532536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这个拼图成立吗？如何改动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9A6A5F8F-BDA8-5E5F-027B-4814E3015C4F}"/>
              </a:ext>
            </a:extLst>
          </p:cNvPr>
          <p:cNvCxnSpPr>
            <a:cxnSpLocks/>
          </p:cNvCxnSpPr>
          <p:nvPr/>
        </p:nvCxnSpPr>
        <p:spPr>
          <a:xfrm>
            <a:off x="2259057" y="5372831"/>
            <a:ext cx="0" cy="4500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85A2228-85BB-261D-A8B4-CF5D595FCBF1}"/>
              </a:ext>
            </a:extLst>
          </p:cNvPr>
          <p:cNvCxnSpPr>
            <a:cxnSpLocks/>
          </p:cNvCxnSpPr>
          <p:nvPr/>
        </p:nvCxnSpPr>
        <p:spPr>
          <a:xfrm>
            <a:off x="2840252" y="5372831"/>
            <a:ext cx="0" cy="8188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2AC1173A-59A1-2A75-CD24-184348184285}"/>
              </a:ext>
            </a:extLst>
          </p:cNvPr>
          <p:cNvCxnSpPr>
            <a:cxnSpLocks/>
          </p:cNvCxnSpPr>
          <p:nvPr/>
        </p:nvCxnSpPr>
        <p:spPr>
          <a:xfrm>
            <a:off x="3440004" y="5372831"/>
            <a:ext cx="0" cy="1234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CCA1D449-928B-0303-764B-ABD01E546C9F}"/>
              </a:ext>
            </a:extLst>
          </p:cNvPr>
          <p:cNvGrpSpPr/>
          <p:nvPr/>
        </p:nvGrpSpPr>
        <p:grpSpPr>
          <a:xfrm>
            <a:off x="-9633" y="1808457"/>
            <a:ext cx="6660378" cy="2471359"/>
            <a:chOff x="-1" y="4352732"/>
            <a:chExt cx="6899275" cy="250526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3D7A3D30-32B9-B421-EA76-4DC6ACFE3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999D259-7D2A-8411-A267-DBAF0BC2924B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1E98DF38-D203-2F1B-D792-F942998528F2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906597E-8E40-6228-5A71-CC6ACFA59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33" y="4279816"/>
            <a:ext cx="6660378" cy="262263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8B57B835-40ED-1E32-4E71-956958586389}"/>
              </a:ext>
            </a:extLst>
          </p:cNvPr>
          <p:cNvSpPr/>
          <p:nvPr/>
        </p:nvSpPr>
        <p:spPr>
          <a:xfrm>
            <a:off x="4373405" y="4542595"/>
            <a:ext cx="1121812" cy="837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5CC650-D5EA-5357-FE34-13A951D6B9D9}"/>
              </a:ext>
            </a:extLst>
          </p:cNvPr>
          <p:cNvSpPr/>
          <p:nvPr/>
        </p:nvSpPr>
        <p:spPr>
          <a:xfrm>
            <a:off x="3772653" y="4366233"/>
            <a:ext cx="1121812" cy="837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129474E-208E-7272-DC50-AF5778137B6B}"/>
              </a:ext>
            </a:extLst>
          </p:cNvPr>
          <p:cNvCxnSpPr/>
          <p:nvPr/>
        </p:nvCxnSpPr>
        <p:spPr>
          <a:xfrm>
            <a:off x="3122815" y="3263807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9329D8C7-2662-6813-B7DE-F703D13590A9}"/>
              </a:ext>
            </a:extLst>
          </p:cNvPr>
          <p:cNvCxnSpPr/>
          <p:nvPr/>
        </p:nvCxnSpPr>
        <p:spPr>
          <a:xfrm>
            <a:off x="3772653" y="366395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1ACC2E60-1E4A-93DB-1075-4ED27BF196DC}"/>
              </a:ext>
            </a:extLst>
          </p:cNvPr>
          <p:cNvCxnSpPr>
            <a:cxnSpLocks/>
          </p:cNvCxnSpPr>
          <p:nvPr/>
        </p:nvCxnSpPr>
        <p:spPr>
          <a:xfrm flipH="1">
            <a:off x="3167265" y="1236677"/>
            <a:ext cx="1111252" cy="169426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3412613E-E221-4D06-16EF-9C1A10A3ECAA}"/>
              </a:ext>
            </a:extLst>
          </p:cNvPr>
          <p:cNvSpPr txBox="1"/>
          <p:nvPr/>
        </p:nvSpPr>
        <p:spPr>
          <a:xfrm>
            <a:off x="4278517" y="1023621"/>
            <a:ext cx="110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cnd</a:t>
            </a:r>
            <a:r>
              <a:rPr lang="en-US" altLang="zh-CN" dirty="0"/>
              <a:t> ready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3B04EB8-9C9E-36A1-BDE1-3260CD642986}"/>
              </a:ext>
            </a:extLst>
          </p:cNvPr>
          <p:cNvSpPr/>
          <p:nvPr/>
        </p:nvSpPr>
        <p:spPr>
          <a:xfrm>
            <a:off x="2521317" y="2662455"/>
            <a:ext cx="645948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C261531-22BB-598E-EB7B-DB874B15C936}"/>
              </a:ext>
            </a:extLst>
          </p:cNvPr>
          <p:cNvGrpSpPr/>
          <p:nvPr/>
        </p:nvGrpSpPr>
        <p:grpSpPr>
          <a:xfrm>
            <a:off x="2906280" y="5321894"/>
            <a:ext cx="2028031" cy="484205"/>
            <a:chOff x="7442200" y="4470400"/>
            <a:chExt cx="1930400" cy="400050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C479027-A23C-35E4-474A-36D1DAFBBBD1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4BE9C57-5B13-7CEC-F82D-A659FAD94C91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8AABEA9-E85A-2D19-64C7-3CBE6DB85966}"/>
              </a:ext>
            </a:extLst>
          </p:cNvPr>
          <p:cNvGrpSpPr/>
          <p:nvPr/>
        </p:nvGrpSpPr>
        <p:grpSpPr>
          <a:xfrm>
            <a:off x="3334027" y="5800382"/>
            <a:ext cx="2028031" cy="484205"/>
            <a:chOff x="7442200" y="4470400"/>
            <a:chExt cx="1930400" cy="400050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F3DD9FDD-82FB-400D-E742-6BFA86A921A9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9AB56FE-2845-7819-B513-E7FC618AAAA1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B1AFA408-0B3D-6197-44DD-9F7A70ED2813}"/>
              </a:ext>
            </a:extLst>
          </p:cNvPr>
          <p:cNvSpPr/>
          <p:nvPr/>
        </p:nvSpPr>
        <p:spPr>
          <a:xfrm>
            <a:off x="2502030" y="5180556"/>
            <a:ext cx="645948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091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BEA0-7305-418E-BBBB-BDEF41D7B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19CB8-5E50-E0BE-C681-DFDFF069B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jmp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MISPRED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CB48F2-7173-5503-686D-848A4278F5D4}"/>
              </a:ext>
            </a:extLst>
          </p:cNvPr>
          <p:cNvSpPr txBox="1"/>
          <p:nvPr/>
        </p:nvSpPr>
        <p:spPr>
          <a:xfrm>
            <a:off x="6739640" y="1839324"/>
            <a:ext cx="532536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63E28DD-3EE4-2DCC-2B9B-CC900AAFDE71}"/>
              </a:ext>
            </a:extLst>
          </p:cNvPr>
          <p:cNvCxnSpPr>
            <a:cxnSpLocks/>
          </p:cNvCxnSpPr>
          <p:nvPr/>
        </p:nvCxnSpPr>
        <p:spPr>
          <a:xfrm>
            <a:off x="2259057" y="5372831"/>
            <a:ext cx="0" cy="4500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E9DFA54-2BA6-B982-7CC6-51BE2FCC1272}"/>
              </a:ext>
            </a:extLst>
          </p:cNvPr>
          <p:cNvCxnSpPr>
            <a:cxnSpLocks/>
          </p:cNvCxnSpPr>
          <p:nvPr/>
        </p:nvCxnSpPr>
        <p:spPr>
          <a:xfrm>
            <a:off x="2840252" y="5372831"/>
            <a:ext cx="0" cy="8188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8E1C9BB-24DF-5173-A2C5-B577D762B900}"/>
              </a:ext>
            </a:extLst>
          </p:cNvPr>
          <p:cNvCxnSpPr>
            <a:cxnSpLocks/>
          </p:cNvCxnSpPr>
          <p:nvPr/>
        </p:nvCxnSpPr>
        <p:spPr>
          <a:xfrm>
            <a:off x="3440004" y="5372831"/>
            <a:ext cx="0" cy="1234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4E522CD1-A373-787C-D88A-3261C2A32481}"/>
              </a:ext>
            </a:extLst>
          </p:cNvPr>
          <p:cNvGrpSpPr/>
          <p:nvPr/>
        </p:nvGrpSpPr>
        <p:grpSpPr>
          <a:xfrm>
            <a:off x="-9633" y="1808457"/>
            <a:ext cx="6660378" cy="2471359"/>
            <a:chOff x="-1" y="4352732"/>
            <a:chExt cx="6899275" cy="250526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48A11B1-0261-098B-736A-207C3897D1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C1A84FD-7835-1587-4BF3-3CC60ACA7D0C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DB4D918C-D07E-87C5-0FFB-3471EEFC7E54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71447757-01E7-BAE9-ACB2-D0D367EB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33" y="4279816"/>
            <a:ext cx="6660378" cy="262263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48DF45C8-3AF0-3905-7578-84411ED6A33B}"/>
              </a:ext>
            </a:extLst>
          </p:cNvPr>
          <p:cNvSpPr/>
          <p:nvPr/>
        </p:nvSpPr>
        <p:spPr>
          <a:xfrm>
            <a:off x="4373405" y="4542595"/>
            <a:ext cx="1121812" cy="837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3B05FC-F46F-C1FC-5B0C-3B071E5BB7AF}"/>
              </a:ext>
            </a:extLst>
          </p:cNvPr>
          <p:cNvSpPr/>
          <p:nvPr/>
        </p:nvSpPr>
        <p:spPr>
          <a:xfrm>
            <a:off x="3772653" y="4366233"/>
            <a:ext cx="1121812" cy="837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F507E3E3-4F59-6FAA-D2EB-2B1C50108A5D}"/>
              </a:ext>
            </a:extLst>
          </p:cNvPr>
          <p:cNvCxnSpPr/>
          <p:nvPr/>
        </p:nvCxnSpPr>
        <p:spPr>
          <a:xfrm>
            <a:off x="3122815" y="3263807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C603470-FAB9-CB5C-C265-38E721C77820}"/>
              </a:ext>
            </a:extLst>
          </p:cNvPr>
          <p:cNvCxnSpPr/>
          <p:nvPr/>
        </p:nvCxnSpPr>
        <p:spPr>
          <a:xfrm>
            <a:off x="3772653" y="366395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1E55825-0C9E-DE5F-6A9D-7BD391C1E31E}"/>
              </a:ext>
            </a:extLst>
          </p:cNvPr>
          <p:cNvCxnSpPr>
            <a:cxnSpLocks/>
          </p:cNvCxnSpPr>
          <p:nvPr/>
        </p:nvCxnSpPr>
        <p:spPr>
          <a:xfrm flipH="1">
            <a:off x="3167265" y="1236677"/>
            <a:ext cx="1111252" cy="169426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E9B5B61-9416-A6C7-B173-56BCCEF15E8B}"/>
              </a:ext>
            </a:extLst>
          </p:cNvPr>
          <p:cNvSpPr txBox="1"/>
          <p:nvPr/>
        </p:nvSpPr>
        <p:spPr>
          <a:xfrm>
            <a:off x="4278517" y="1023621"/>
            <a:ext cx="110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cnd</a:t>
            </a:r>
            <a:r>
              <a:rPr lang="en-US" altLang="zh-CN" dirty="0"/>
              <a:t> ready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58A2B1F-F91C-ED24-C99B-C9A5443C4A13}"/>
              </a:ext>
            </a:extLst>
          </p:cNvPr>
          <p:cNvSpPr/>
          <p:nvPr/>
        </p:nvSpPr>
        <p:spPr>
          <a:xfrm>
            <a:off x="2521317" y="2662455"/>
            <a:ext cx="645948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B9EC386-DD7C-BB2B-6F68-306ECB4EDCB5}"/>
              </a:ext>
            </a:extLst>
          </p:cNvPr>
          <p:cNvGrpSpPr/>
          <p:nvPr/>
        </p:nvGrpSpPr>
        <p:grpSpPr>
          <a:xfrm>
            <a:off x="2906280" y="5321894"/>
            <a:ext cx="2028031" cy="484205"/>
            <a:chOff x="7442200" y="4470400"/>
            <a:chExt cx="1930400" cy="400050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5706F316-1B25-B18A-A9D0-89D6FC7E568C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EE31AC92-D225-1610-C130-3773E9A97DA3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B245C49-63B2-8511-1704-7C79B0DE1B35}"/>
              </a:ext>
            </a:extLst>
          </p:cNvPr>
          <p:cNvGrpSpPr/>
          <p:nvPr/>
        </p:nvGrpSpPr>
        <p:grpSpPr>
          <a:xfrm>
            <a:off x="2889782" y="5782269"/>
            <a:ext cx="2529318" cy="484205"/>
            <a:chOff x="7442200" y="4470400"/>
            <a:chExt cx="1930400" cy="400050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5FC1B269-5B7D-EDF3-535E-FF24ACC6B296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966AA8AC-6F64-10EC-9050-819CA594B1B4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C3EA3FDD-3309-6C85-7448-1CCEA8739CC8}"/>
              </a:ext>
            </a:extLst>
          </p:cNvPr>
          <p:cNvSpPr/>
          <p:nvPr/>
        </p:nvSpPr>
        <p:spPr>
          <a:xfrm>
            <a:off x="2502030" y="5180556"/>
            <a:ext cx="645948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2121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4B283-BB68-47F1-0ECD-045F35FD6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DFB8C-E6FD-C5AE-2065-9F17EF80B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jmp</a:t>
            </a:r>
            <a:r>
              <a:rPr lang="zh-CN" altLang="en-US" dirty="0"/>
              <a:t>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MISPRED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B3DCC98-507C-9B9B-1013-D20A0B6A0B1F}"/>
              </a:ext>
            </a:extLst>
          </p:cNvPr>
          <p:cNvSpPr txBox="1"/>
          <p:nvPr/>
        </p:nvSpPr>
        <p:spPr>
          <a:xfrm>
            <a:off x="6739640" y="1839324"/>
            <a:ext cx="532536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A8B1F05-7600-F70B-049F-699C9B57EFF5}"/>
              </a:ext>
            </a:extLst>
          </p:cNvPr>
          <p:cNvCxnSpPr>
            <a:cxnSpLocks/>
          </p:cNvCxnSpPr>
          <p:nvPr/>
        </p:nvCxnSpPr>
        <p:spPr>
          <a:xfrm>
            <a:off x="2259057" y="5372831"/>
            <a:ext cx="0" cy="4500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65E560C-A495-C6A5-306F-4E918C8D4CDD}"/>
              </a:ext>
            </a:extLst>
          </p:cNvPr>
          <p:cNvCxnSpPr>
            <a:cxnSpLocks/>
          </p:cNvCxnSpPr>
          <p:nvPr/>
        </p:nvCxnSpPr>
        <p:spPr>
          <a:xfrm>
            <a:off x="2840252" y="5372831"/>
            <a:ext cx="0" cy="8188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134CAA2-BB9C-3D52-B61F-F3CBBAE67E98}"/>
              </a:ext>
            </a:extLst>
          </p:cNvPr>
          <p:cNvCxnSpPr>
            <a:cxnSpLocks/>
          </p:cNvCxnSpPr>
          <p:nvPr/>
        </p:nvCxnSpPr>
        <p:spPr>
          <a:xfrm>
            <a:off x="3440004" y="5372831"/>
            <a:ext cx="0" cy="123486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4AA3F286-5E02-5AE1-18C7-4AB2180CFB61}"/>
              </a:ext>
            </a:extLst>
          </p:cNvPr>
          <p:cNvGrpSpPr/>
          <p:nvPr/>
        </p:nvGrpSpPr>
        <p:grpSpPr>
          <a:xfrm>
            <a:off x="-9633" y="1808457"/>
            <a:ext cx="6660378" cy="2471359"/>
            <a:chOff x="-1" y="4352732"/>
            <a:chExt cx="6899275" cy="250526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7A42DE7-5062-89D5-FD0E-B75BEA8EA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26288974-100C-16DC-9C22-02353D5294AD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464F91A-1256-9C62-13F5-67D85B1980EE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8025444D-30E1-7303-C3C6-2B037AAB5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633" y="4279816"/>
            <a:ext cx="6660378" cy="262263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B0B8AD6-5157-A46D-02AD-C4CDBCA49540}"/>
              </a:ext>
            </a:extLst>
          </p:cNvPr>
          <p:cNvSpPr/>
          <p:nvPr/>
        </p:nvSpPr>
        <p:spPr>
          <a:xfrm>
            <a:off x="4373405" y="4542595"/>
            <a:ext cx="1121812" cy="837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46BCD5-E8B3-30E8-CEE5-A7FE84CEBBEE}"/>
              </a:ext>
            </a:extLst>
          </p:cNvPr>
          <p:cNvSpPr/>
          <p:nvPr/>
        </p:nvSpPr>
        <p:spPr>
          <a:xfrm>
            <a:off x="3772653" y="4366233"/>
            <a:ext cx="1121812" cy="83758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8E86CDB-105B-925A-4FCC-E2496ADCE969}"/>
              </a:ext>
            </a:extLst>
          </p:cNvPr>
          <p:cNvCxnSpPr/>
          <p:nvPr/>
        </p:nvCxnSpPr>
        <p:spPr>
          <a:xfrm>
            <a:off x="3122815" y="3263807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9BF5B79-DE84-0887-002D-B4227F42C75C}"/>
              </a:ext>
            </a:extLst>
          </p:cNvPr>
          <p:cNvCxnSpPr/>
          <p:nvPr/>
        </p:nvCxnSpPr>
        <p:spPr>
          <a:xfrm>
            <a:off x="3772653" y="366395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EF1A75C-780E-198D-914E-367FC12AFCA8}"/>
              </a:ext>
            </a:extLst>
          </p:cNvPr>
          <p:cNvCxnSpPr>
            <a:cxnSpLocks/>
          </p:cNvCxnSpPr>
          <p:nvPr/>
        </p:nvCxnSpPr>
        <p:spPr>
          <a:xfrm flipH="1">
            <a:off x="3167265" y="1236677"/>
            <a:ext cx="1111252" cy="1694269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84D8B11-15CE-A1AD-A017-F2D87CBFDE7F}"/>
              </a:ext>
            </a:extLst>
          </p:cNvPr>
          <p:cNvSpPr txBox="1"/>
          <p:nvPr/>
        </p:nvSpPr>
        <p:spPr>
          <a:xfrm>
            <a:off x="4278517" y="1023621"/>
            <a:ext cx="1108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cnd</a:t>
            </a:r>
            <a:r>
              <a:rPr lang="en-US" altLang="zh-CN" dirty="0"/>
              <a:t> ready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3D0359A-1DA7-2DB9-6107-4496BB212552}"/>
              </a:ext>
            </a:extLst>
          </p:cNvPr>
          <p:cNvSpPr/>
          <p:nvPr/>
        </p:nvSpPr>
        <p:spPr>
          <a:xfrm>
            <a:off x="2521317" y="2662455"/>
            <a:ext cx="645948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F466DDE-8B86-4FD4-0CFD-58E9056DA10C}"/>
              </a:ext>
            </a:extLst>
          </p:cNvPr>
          <p:cNvGrpSpPr/>
          <p:nvPr/>
        </p:nvGrpSpPr>
        <p:grpSpPr>
          <a:xfrm>
            <a:off x="2906280" y="5321894"/>
            <a:ext cx="2028031" cy="484205"/>
            <a:chOff x="7442200" y="4470400"/>
            <a:chExt cx="1930400" cy="400050"/>
          </a:xfrm>
        </p:grpSpPr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819F375-E8CB-1423-DBE8-8EFEE67B5747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DAE80EAF-8014-0283-D45A-4F3068F0E7D1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86CCFD7-50A3-C672-E907-9AA987308D22}"/>
              </a:ext>
            </a:extLst>
          </p:cNvPr>
          <p:cNvGrpSpPr/>
          <p:nvPr/>
        </p:nvGrpSpPr>
        <p:grpSpPr>
          <a:xfrm>
            <a:off x="3293207" y="5756405"/>
            <a:ext cx="2202008" cy="484205"/>
            <a:chOff x="7442200" y="4470400"/>
            <a:chExt cx="1930400" cy="400050"/>
          </a:xfrm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E06416F1-84AA-A2E7-03D8-F00BA23E4D3E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A63BF5A-13EF-0314-58A7-BCA1392597A7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A9920A44-F83B-42E5-2F3B-7CD74813B1D5}"/>
              </a:ext>
            </a:extLst>
          </p:cNvPr>
          <p:cNvSpPr/>
          <p:nvPr/>
        </p:nvSpPr>
        <p:spPr>
          <a:xfrm>
            <a:off x="2502029" y="5180556"/>
            <a:ext cx="1871375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F6C9BF-1967-BD26-4E98-D5CBB1120C99}"/>
              </a:ext>
            </a:extLst>
          </p:cNvPr>
          <p:cNvSpPr txBox="1"/>
          <p:nvPr/>
        </p:nvSpPr>
        <p:spPr>
          <a:xfrm>
            <a:off x="6892040" y="1991724"/>
            <a:ext cx="532536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那这样可以吗？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35489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7A04-3411-7114-BE41-6CBF17D94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49087-3E86-6848-1D1F-46C9E3CA0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B9604044-7499-4A5C-152A-8CFBEBC13699}"/>
              </a:ext>
            </a:extLst>
          </p:cNvPr>
          <p:cNvGrpSpPr/>
          <p:nvPr/>
        </p:nvGrpSpPr>
        <p:grpSpPr>
          <a:xfrm>
            <a:off x="-1" y="1860439"/>
            <a:ext cx="6650741" cy="2460208"/>
            <a:chOff x="-1" y="4352732"/>
            <a:chExt cx="6899275" cy="2505268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D1C8666-583F-EB3A-42BE-E94510DBE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76133D5A-D138-B03A-CB43-049CA0428226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38F6BEA-AB8E-C7AA-A8C5-77794671B9CC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B8C4B683-5822-0459-342C-F3E1C54ECABE}"/>
              </a:ext>
            </a:extLst>
          </p:cNvPr>
          <p:cNvSpPr txBox="1"/>
          <p:nvPr/>
        </p:nvSpPr>
        <p:spPr>
          <a:xfrm>
            <a:off x="6739640" y="1839324"/>
            <a:ext cx="532536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红色框表示我们可以检测到</a:t>
            </a:r>
            <a:r>
              <a:rPr lang="en-US" altLang="zh-CN" sz="2400" dirty="0"/>
              <a:t>IRET</a:t>
            </a:r>
            <a:r>
              <a:rPr lang="zh-CN" altLang="en-US" sz="2400" dirty="0"/>
              <a:t>指令的区域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橙色先表示我们希望删除的阶段</a:t>
            </a:r>
            <a:endParaRPr lang="en-US" altLang="zh-CN" sz="2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/>
              <a:t>于是我们使用</a:t>
            </a:r>
            <a:r>
              <a:rPr lang="en-US" altLang="zh-CN" sz="2400" dirty="0"/>
              <a:t>bubble</a:t>
            </a:r>
            <a:r>
              <a:rPr lang="zh-CN" altLang="en-US" sz="2400" dirty="0"/>
              <a:t>积木覆盖希望删除的区域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829822E-C1BD-7F1E-2E1E-90C736AD26CA}"/>
              </a:ext>
            </a:extLst>
          </p:cNvPr>
          <p:cNvSpPr/>
          <p:nvPr/>
        </p:nvSpPr>
        <p:spPr>
          <a:xfrm>
            <a:off x="1352550" y="2727212"/>
            <a:ext cx="3024142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F0556FC-003B-A513-7521-90D7198CB5BF}"/>
              </a:ext>
            </a:extLst>
          </p:cNvPr>
          <p:cNvCxnSpPr/>
          <p:nvPr/>
        </p:nvCxnSpPr>
        <p:spPr>
          <a:xfrm>
            <a:off x="2886770" y="5559746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BF1D30D7-E95A-FD50-DD18-EB4DEA631DE2}"/>
              </a:ext>
            </a:extLst>
          </p:cNvPr>
          <p:cNvCxnSpPr/>
          <p:nvPr/>
        </p:nvCxnSpPr>
        <p:spPr>
          <a:xfrm>
            <a:off x="3726013" y="369570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3F471FBC-A27E-1648-04A5-304134636BB7}"/>
              </a:ext>
            </a:extLst>
          </p:cNvPr>
          <p:cNvCxnSpPr/>
          <p:nvPr/>
        </p:nvCxnSpPr>
        <p:spPr>
          <a:xfrm>
            <a:off x="4285965" y="410210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A7BAAD5-26D5-2DDD-F698-601990057278}"/>
              </a:ext>
            </a:extLst>
          </p:cNvPr>
          <p:cNvCxnSpPr>
            <a:cxnSpLocks/>
          </p:cNvCxnSpPr>
          <p:nvPr/>
        </p:nvCxnSpPr>
        <p:spPr>
          <a:xfrm flipH="1">
            <a:off x="3776813" y="1377950"/>
            <a:ext cx="1120189" cy="15147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81DF3CCC-EB08-183C-4674-CBAC363C3208}"/>
              </a:ext>
            </a:extLst>
          </p:cNvPr>
          <p:cNvSpPr txBox="1"/>
          <p:nvPr/>
        </p:nvSpPr>
        <p:spPr>
          <a:xfrm>
            <a:off x="4997450" y="1128537"/>
            <a:ext cx="122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Addr</a:t>
            </a:r>
            <a:r>
              <a:rPr lang="en-US" altLang="zh-CN" dirty="0"/>
              <a:t> ready</a:t>
            </a:r>
            <a:endParaRPr lang="zh-CN" altLang="en-US" dirty="0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E8A17908-80FF-1657-256A-4F033BE2DEF2}"/>
              </a:ext>
            </a:extLst>
          </p:cNvPr>
          <p:cNvGrpSpPr/>
          <p:nvPr/>
        </p:nvGrpSpPr>
        <p:grpSpPr>
          <a:xfrm>
            <a:off x="0" y="4338958"/>
            <a:ext cx="6650741" cy="2460208"/>
            <a:chOff x="-1" y="4352732"/>
            <a:chExt cx="6899275" cy="2505268"/>
          </a:xfrm>
        </p:grpSpPr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7CB77C17-43B0-3BE5-2E7F-2843D3D2D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E613D5C-900D-FC62-7EEE-11458449C424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A7DE717D-ABC6-CDFF-732A-5993F9CCA6CE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1B8E9673-6EF0-DD5A-989C-10E5D9C2011B}"/>
              </a:ext>
            </a:extLst>
          </p:cNvPr>
          <p:cNvGrpSpPr/>
          <p:nvPr/>
        </p:nvGrpSpPr>
        <p:grpSpPr>
          <a:xfrm>
            <a:off x="2864620" y="5775646"/>
            <a:ext cx="2418579" cy="400050"/>
            <a:chOff x="7442200" y="4470400"/>
            <a:chExt cx="1930400" cy="400050"/>
          </a:xfrm>
        </p:grpSpPr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CEACC177-4349-B614-4D22-1AAD2BF823AF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73F5D0AB-4674-D70C-9CBB-42BC7E1E232C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64521D3-B768-2EBD-9D1D-C0DD047CC88D}"/>
              </a:ext>
            </a:extLst>
          </p:cNvPr>
          <p:cNvGrpSpPr/>
          <p:nvPr/>
        </p:nvGrpSpPr>
        <p:grpSpPr>
          <a:xfrm>
            <a:off x="3422633" y="6196105"/>
            <a:ext cx="2454610" cy="400050"/>
            <a:chOff x="7442200" y="4470400"/>
            <a:chExt cx="1930400" cy="400050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7FAFED0-CB8D-6C4B-24FD-34098E77DC47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650C4C4C-B2AE-ACEB-83AE-B4A20AEDCF66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0665E16C-3AFC-B61B-21D3-819A37106ACA}"/>
              </a:ext>
            </a:extLst>
          </p:cNvPr>
          <p:cNvSpPr/>
          <p:nvPr/>
        </p:nvSpPr>
        <p:spPr>
          <a:xfrm>
            <a:off x="1374563" y="5178895"/>
            <a:ext cx="3024142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D33F31EF-8C55-2C84-1298-415C593290F6}"/>
              </a:ext>
            </a:extLst>
          </p:cNvPr>
          <p:cNvCxnSpPr/>
          <p:nvPr/>
        </p:nvCxnSpPr>
        <p:spPr>
          <a:xfrm>
            <a:off x="3149600" y="332105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18F60DDC-E471-2DB6-2B1F-D9C4F4AA190E}"/>
              </a:ext>
            </a:extLst>
          </p:cNvPr>
          <p:cNvGrpSpPr/>
          <p:nvPr/>
        </p:nvGrpSpPr>
        <p:grpSpPr>
          <a:xfrm>
            <a:off x="2479658" y="5458146"/>
            <a:ext cx="2492710" cy="400050"/>
            <a:chOff x="7442200" y="4470400"/>
            <a:chExt cx="1930400" cy="400050"/>
          </a:xfrm>
        </p:grpSpPr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66454CFB-976C-A7E2-11BB-2A9CE04CB5B5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5DC7469D-84BE-6E9B-6F3B-7C62F148B613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70287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39588-FA72-24A8-EE6A-613015E36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731119-1890-813F-3952-1E252CF0E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Ret</a:t>
            </a:r>
            <a:endParaRPr lang="zh-CN" alt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8475DEC-FF70-5AA7-90FB-6984830524B0}"/>
              </a:ext>
            </a:extLst>
          </p:cNvPr>
          <p:cNvGrpSpPr/>
          <p:nvPr/>
        </p:nvGrpSpPr>
        <p:grpSpPr>
          <a:xfrm>
            <a:off x="-1" y="1860439"/>
            <a:ext cx="6650741" cy="2460208"/>
            <a:chOff x="-1" y="4352732"/>
            <a:chExt cx="6899275" cy="2505268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447EBDC2-B3CC-386F-14E8-82DDB6BD5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A261D013-7C5F-2F1A-A4A9-D416CD60EB57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0E9495A-AA5A-BAAE-1C8E-EF3C2A9904DB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3F8870D2-546D-7297-C675-136835518ECC}"/>
              </a:ext>
            </a:extLst>
          </p:cNvPr>
          <p:cNvSpPr txBox="1"/>
          <p:nvPr/>
        </p:nvSpPr>
        <p:spPr>
          <a:xfrm>
            <a:off x="6739640" y="1839324"/>
            <a:ext cx="532536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/>
              <a:t>Ret</a:t>
            </a:r>
            <a:r>
              <a:rPr lang="zh-CN" altLang="en-US" sz="2400" dirty="0"/>
              <a:t>的</a:t>
            </a:r>
            <a:r>
              <a:rPr lang="en-US" altLang="zh-CN" sz="2400" dirty="0"/>
              <a:t>next PC</a:t>
            </a:r>
            <a:r>
              <a:rPr lang="zh-CN" altLang="en-US" sz="2400" dirty="0"/>
              <a:t>预测毫无意义，而且还可能造成</a:t>
            </a:r>
            <a:r>
              <a:rPr lang="en-US" altLang="zh-CN" sz="2400" dirty="0"/>
              <a:t>ret hazard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expection</a:t>
            </a:r>
            <a:r>
              <a:rPr lang="zh-CN" altLang="en-US" sz="2400" dirty="0"/>
              <a:t>的复合，我们并不希望这个结果，不如让后续的</a:t>
            </a:r>
            <a:r>
              <a:rPr lang="en-US" altLang="zh-CN" sz="2400" dirty="0"/>
              <a:t>F</a:t>
            </a:r>
            <a:r>
              <a:rPr lang="zh-CN" altLang="en-US" sz="2400" dirty="0"/>
              <a:t>直接保存</a:t>
            </a:r>
            <a:r>
              <a:rPr lang="en-US" altLang="zh-CN" sz="2400" dirty="0"/>
              <a:t>ret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icode</a:t>
            </a:r>
            <a:r>
              <a:rPr lang="en-US" altLang="zh-CN" sz="2400" dirty="0"/>
              <a:t>/</a:t>
            </a:r>
            <a:r>
              <a:rPr lang="en-US" altLang="zh-CN" sz="2400" dirty="0" err="1"/>
              <a:t>ifun</a:t>
            </a:r>
            <a:endParaRPr lang="en-US" altLang="zh-CN" sz="2400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17FBD5D-5D22-6F2A-E2CA-E908F49D5451}"/>
              </a:ext>
            </a:extLst>
          </p:cNvPr>
          <p:cNvSpPr/>
          <p:nvPr/>
        </p:nvSpPr>
        <p:spPr>
          <a:xfrm>
            <a:off x="1352550" y="2727212"/>
            <a:ext cx="3024142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6D2EC9D9-095D-D769-B42E-666B079F91FB}"/>
              </a:ext>
            </a:extLst>
          </p:cNvPr>
          <p:cNvCxnSpPr/>
          <p:nvPr/>
        </p:nvCxnSpPr>
        <p:spPr>
          <a:xfrm>
            <a:off x="2886770" y="5559746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D14B9BBD-DC10-D125-E6BD-D045B08FD238}"/>
              </a:ext>
            </a:extLst>
          </p:cNvPr>
          <p:cNvCxnSpPr/>
          <p:nvPr/>
        </p:nvCxnSpPr>
        <p:spPr>
          <a:xfrm>
            <a:off x="3726013" y="369570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C831CB43-A447-1C43-DDC2-4528DBF2CEFC}"/>
              </a:ext>
            </a:extLst>
          </p:cNvPr>
          <p:cNvCxnSpPr/>
          <p:nvPr/>
        </p:nvCxnSpPr>
        <p:spPr>
          <a:xfrm>
            <a:off x="4285965" y="410210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780BF7AC-4B4D-601E-F1AF-52D0120844D3}"/>
              </a:ext>
            </a:extLst>
          </p:cNvPr>
          <p:cNvCxnSpPr>
            <a:cxnSpLocks/>
          </p:cNvCxnSpPr>
          <p:nvPr/>
        </p:nvCxnSpPr>
        <p:spPr>
          <a:xfrm flipH="1">
            <a:off x="3776813" y="1377950"/>
            <a:ext cx="1120189" cy="15147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EB0FAF1C-FE9A-C660-A1C3-C7CC768558C1}"/>
              </a:ext>
            </a:extLst>
          </p:cNvPr>
          <p:cNvSpPr txBox="1"/>
          <p:nvPr/>
        </p:nvSpPr>
        <p:spPr>
          <a:xfrm>
            <a:off x="4997450" y="1128537"/>
            <a:ext cx="1222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Addr</a:t>
            </a:r>
            <a:r>
              <a:rPr lang="en-US" altLang="zh-CN" dirty="0"/>
              <a:t> ready</a:t>
            </a:r>
            <a:endParaRPr lang="zh-CN" altLang="en-US" dirty="0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4E86E9A3-7DE2-B148-8194-A0DF954074D3}"/>
              </a:ext>
            </a:extLst>
          </p:cNvPr>
          <p:cNvGrpSpPr/>
          <p:nvPr/>
        </p:nvGrpSpPr>
        <p:grpSpPr>
          <a:xfrm>
            <a:off x="0" y="4338958"/>
            <a:ext cx="6650741" cy="2460208"/>
            <a:chOff x="-1" y="4352732"/>
            <a:chExt cx="6899275" cy="2505268"/>
          </a:xfrm>
        </p:grpSpPr>
        <p:pic>
          <p:nvPicPr>
            <p:cNvPr id="69" name="图片 68">
              <a:extLst>
                <a:ext uri="{FF2B5EF4-FFF2-40B4-BE49-F238E27FC236}">
                  <a16:creationId xmlns:a16="http://schemas.microsoft.com/office/drawing/2014/main" id="{2B8DDDDA-4832-CA83-83AF-A3646FD3C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46BEE696-9D9F-043C-C723-FC7290B33DBB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D71C0C15-76A6-3B92-77DE-A4D57F62E921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88FD9A23-508B-870C-7BC1-33E27EC1B1D4}"/>
              </a:ext>
            </a:extLst>
          </p:cNvPr>
          <p:cNvGrpSpPr/>
          <p:nvPr/>
        </p:nvGrpSpPr>
        <p:grpSpPr>
          <a:xfrm>
            <a:off x="2864620" y="5775646"/>
            <a:ext cx="2418579" cy="400050"/>
            <a:chOff x="7442200" y="4470400"/>
            <a:chExt cx="1930400" cy="400050"/>
          </a:xfrm>
        </p:grpSpPr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C4FEE152-8D11-5C74-4711-6721F39C36C2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EE5DEC32-8F25-4368-F77A-4D36F5055F7E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20EFA493-90FC-E97A-32A3-8DEFD4AABFE9}"/>
              </a:ext>
            </a:extLst>
          </p:cNvPr>
          <p:cNvGrpSpPr/>
          <p:nvPr/>
        </p:nvGrpSpPr>
        <p:grpSpPr>
          <a:xfrm>
            <a:off x="3422633" y="6196105"/>
            <a:ext cx="2454610" cy="400050"/>
            <a:chOff x="7442200" y="4470400"/>
            <a:chExt cx="1930400" cy="400050"/>
          </a:xfrm>
        </p:grpSpPr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1738CD93-AFFD-A709-E849-D5D73641863D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CEABE87-3C67-E40E-BFB8-B9C212C4DED6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78" name="矩形 77">
            <a:extLst>
              <a:ext uri="{FF2B5EF4-FFF2-40B4-BE49-F238E27FC236}">
                <a16:creationId xmlns:a16="http://schemas.microsoft.com/office/drawing/2014/main" id="{2408D0DF-8727-F7CF-0BFD-22CCD63199AF}"/>
              </a:ext>
            </a:extLst>
          </p:cNvPr>
          <p:cNvSpPr/>
          <p:nvPr/>
        </p:nvSpPr>
        <p:spPr>
          <a:xfrm>
            <a:off x="1374563" y="5178895"/>
            <a:ext cx="3024142" cy="38455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E990B168-1A0F-1CE0-8802-8517DA0575BB}"/>
              </a:ext>
            </a:extLst>
          </p:cNvPr>
          <p:cNvCxnSpPr/>
          <p:nvPr/>
        </p:nvCxnSpPr>
        <p:spPr>
          <a:xfrm>
            <a:off x="3149600" y="3321050"/>
            <a:ext cx="184785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3" name="组合 92">
            <a:extLst>
              <a:ext uri="{FF2B5EF4-FFF2-40B4-BE49-F238E27FC236}">
                <a16:creationId xmlns:a16="http://schemas.microsoft.com/office/drawing/2014/main" id="{A6469F10-4C0C-C945-DC54-AA39E6913DB0}"/>
              </a:ext>
            </a:extLst>
          </p:cNvPr>
          <p:cNvGrpSpPr/>
          <p:nvPr/>
        </p:nvGrpSpPr>
        <p:grpSpPr>
          <a:xfrm>
            <a:off x="2479658" y="5458146"/>
            <a:ext cx="2492710" cy="400050"/>
            <a:chOff x="7442200" y="4470400"/>
            <a:chExt cx="1930400" cy="400050"/>
          </a:xfrm>
        </p:grpSpPr>
        <p:cxnSp>
          <p:nvCxnSpPr>
            <p:cNvPr id="94" name="直接连接符 93">
              <a:extLst>
                <a:ext uri="{FF2B5EF4-FFF2-40B4-BE49-F238E27FC236}">
                  <a16:creationId xmlns:a16="http://schemas.microsoft.com/office/drawing/2014/main" id="{65D23569-14AF-BA4C-F6E8-F4AB7F24D0CA}"/>
                </a:ext>
              </a:extLst>
            </p:cNvPr>
            <p:cNvCxnSpPr>
              <a:cxnSpLocks/>
            </p:cNvCxnSpPr>
            <p:nvPr/>
          </p:nvCxnSpPr>
          <p:spPr>
            <a:xfrm>
              <a:off x="7442200" y="4470400"/>
              <a:ext cx="368300" cy="368300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id="{1FA1E4BD-0FC6-D515-B0C7-563F31CA09C4}"/>
                </a:ext>
              </a:extLst>
            </p:cNvPr>
            <p:cNvCxnSpPr>
              <a:cxnSpLocks/>
            </p:cNvCxnSpPr>
            <p:nvPr/>
          </p:nvCxnSpPr>
          <p:spPr>
            <a:xfrm>
              <a:off x="7797800" y="4852355"/>
              <a:ext cx="1574800" cy="18095"/>
            </a:xfrm>
            <a:prstGeom prst="line">
              <a:avLst/>
            </a:prstGeom>
            <a:ln w="571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54BD453-12AC-5DE0-CC56-13CF7FF726AE}"/>
              </a:ext>
            </a:extLst>
          </p:cNvPr>
          <p:cNvCxnSpPr>
            <a:cxnSpLocks/>
          </p:cNvCxnSpPr>
          <p:nvPr/>
        </p:nvCxnSpPr>
        <p:spPr>
          <a:xfrm flipH="1" flipV="1">
            <a:off x="1768361" y="5371170"/>
            <a:ext cx="356300" cy="343830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334B783-142A-1F65-77A0-17B34A92F667}"/>
              </a:ext>
            </a:extLst>
          </p:cNvPr>
          <p:cNvCxnSpPr>
            <a:cxnSpLocks/>
          </p:cNvCxnSpPr>
          <p:nvPr/>
        </p:nvCxnSpPr>
        <p:spPr>
          <a:xfrm flipH="1" flipV="1">
            <a:off x="2298700" y="5771948"/>
            <a:ext cx="453155" cy="320707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233FD8F-9E27-2412-49AB-A54B1E6CB1E9}"/>
              </a:ext>
            </a:extLst>
          </p:cNvPr>
          <p:cNvCxnSpPr>
            <a:cxnSpLocks/>
          </p:cNvCxnSpPr>
          <p:nvPr/>
        </p:nvCxnSpPr>
        <p:spPr>
          <a:xfrm flipH="1" flipV="1">
            <a:off x="2938841" y="6218128"/>
            <a:ext cx="483792" cy="346277"/>
          </a:xfrm>
          <a:prstGeom prst="straightConnector1">
            <a:avLst/>
          </a:prstGeom>
          <a:ln w="57150">
            <a:solidFill>
              <a:schemeClr val="accent2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7E21419-3692-CC59-7FEB-C0606DD4614E}"/>
              </a:ext>
            </a:extLst>
          </p:cNvPr>
          <p:cNvCxnSpPr>
            <a:cxnSpLocks/>
          </p:cNvCxnSpPr>
          <p:nvPr/>
        </p:nvCxnSpPr>
        <p:spPr>
          <a:xfrm>
            <a:off x="3726013" y="3111762"/>
            <a:ext cx="0" cy="0"/>
          </a:xfrm>
          <a:prstGeom prst="line">
            <a:avLst/>
          </a:prstGeom>
          <a:ln w="76200">
            <a:solidFill>
              <a:srgbClr val="FFC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7598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CF72D-4AD5-15D0-7ACC-335E2943B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0AA3AD-2DAB-9B0A-C049-17BFDFB44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71BF6C88-AC00-7624-D000-C51FDD5ECCF6}"/>
              </a:ext>
            </a:extLst>
          </p:cNvPr>
          <p:cNvGraphicFramePr>
            <a:graphicFrameLocks noGrp="1"/>
          </p:cNvGraphicFramePr>
          <p:nvPr/>
        </p:nvGraphicFramePr>
        <p:xfrm>
          <a:off x="1471616" y="451457"/>
          <a:ext cx="9248767" cy="5954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730">
                  <a:extLst>
                    <a:ext uri="{9D8B030D-6E8A-4147-A177-3AD203B41FA5}">
                      <a16:colId xmlns:a16="http://schemas.microsoft.com/office/drawing/2014/main" val="3379946988"/>
                    </a:ext>
                  </a:extLst>
                </a:gridCol>
                <a:gridCol w="4289116">
                  <a:extLst>
                    <a:ext uri="{9D8B030D-6E8A-4147-A177-3AD203B41FA5}">
                      <a16:colId xmlns:a16="http://schemas.microsoft.com/office/drawing/2014/main" val="1495472006"/>
                    </a:ext>
                  </a:extLst>
                </a:gridCol>
                <a:gridCol w="3872921">
                  <a:extLst>
                    <a:ext uri="{9D8B030D-6E8A-4147-A177-3AD203B41FA5}">
                      <a16:colId xmlns:a16="http://schemas.microsoft.com/office/drawing/2014/main" val="4005411362"/>
                    </a:ext>
                  </a:extLst>
                </a:gridCol>
              </a:tblGrid>
              <a:tr h="4528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lang="zh-CN" altLang="en-US" sz="1800" dirty="0"/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范围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开销</a:t>
                      </a:r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2842608341"/>
                  </a:ext>
                </a:extLst>
              </a:tr>
              <a:tr h="12394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暂停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800" dirty="0"/>
                        <a:t>能够处理任何冒险（退化为</a:t>
                      </a:r>
                      <a:r>
                        <a:rPr lang="en-US" altLang="zh-CN" sz="1800" dirty="0"/>
                        <a:t>SEQ</a:t>
                      </a:r>
                      <a:r>
                        <a:rPr lang="zh-CN" altLang="en-US" sz="1800" dirty="0"/>
                        <a:t>）</a:t>
                      </a:r>
                      <a:endParaRPr lang="en-US" altLang="zh-CN" sz="18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800" dirty="0"/>
                        <a:t>通常用于处理冒险的阶段处于决定是否冒险的阶段左下方时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/>
                        <a:t>+1 </a:t>
                      </a:r>
                      <a:r>
                        <a:rPr lang="zh-CN" altLang="en-US" sz="1800" dirty="0"/>
                        <a:t>周期</a:t>
                      </a:r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1100948812"/>
                  </a:ext>
                </a:extLst>
              </a:tr>
              <a:tr h="12394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气泡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800" dirty="0"/>
                        <a:t>流水线图中冒险的阶段处于决定是否冒险的阶段右下方时</a:t>
                      </a:r>
                      <a:endParaRPr lang="en-US" altLang="zh-CN" sz="1800" dirty="0"/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Wingdings" panose="05000000000000000000" pitchFamily="2" charset="2"/>
                        <a:buChar char="l"/>
                      </a:pPr>
                      <a:r>
                        <a:rPr lang="zh-CN" altLang="en-US" sz="1800" dirty="0"/>
                        <a:t>原指令消失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没有额外代价，但通常只会对错误取得</a:t>
                      </a:r>
                      <a:r>
                        <a:rPr lang="en-US" altLang="zh-CN" sz="1800" dirty="0"/>
                        <a:t>/</a:t>
                      </a:r>
                      <a:r>
                        <a:rPr lang="zh-CN" altLang="en-US" sz="1800" dirty="0"/>
                        <a:t>暂停后的重指令进行</a:t>
                      </a:r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2762188864"/>
                  </a:ext>
                </a:extLst>
              </a:tr>
              <a:tr h="123941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/>
                        <a:t>X-</a:t>
                      </a:r>
                      <a:r>
                        <a:rPr lang="zh-CN" altLang="en-US" sz="1800" dirty="0"/>
                        <a:t>转发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CN" altLang="en-US" sz="1800" dirty="0"/>
                        <a:t>流水线图中冒险的阶段处于决定是否冒险的阶段右下方时</a:t>
                      </a:r>
                      <a:endParaRPr lang="en-US" altLang="zh-C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CN" altLang="en-US" sz="1800" dirty="0"/>
                        <a:t>原指令照常进行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1800" dirty="0"/>
                        <a:t>增加硬件布线</a:t>
                      </a:r>
                      <a:endParaRPr lang="en-US" altLang="zh-CN" sz="1800" dirty="0"/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774129467"/>
                  </a:ext>
                </a:extLst>
              </a:tr>
              <a:tr h="15912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zh-CN" sz="1800" dirty="0"/>
                        <a:t>x-</a:t>
                      </a:r>
                      <a:r>
                        <a:rPr lang="zh-CN" altLang="en-US" sz="1800" dirty="0"/>
                        <a:t>转发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CN" altLang="en-US" sz="1800" dirty="0"/>
                        <a:t>流水线图中冒险的阶段处于决定是否冒险的阶段正下方或右下方时</a:t>
                      </a:r>
                      <a:endParaRPr lang="en-US" altLang="zh-CN" sz="1800" dirty="0"/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zh-CN" altLang="en-US" sz="1800" dirty="0"/>
                        <a:t>由于开销问题通常只在正下方时使用</a:t>
                      </a:r>
                    </a:p>
                  </a:txBody>
                  <a:tcPr marL="104049" marR="104049" marT="52024" marB="5202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dirty="0"/>
                        <a:t>增加递入阶段延迟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zh-CN" altLang="en-US" sz="1800" dirty="0"/>
                    </a:p>
                  </a:txBody>
                  <a:tcPr marL="104049" marR="104049" marT="52024" marB="52024"/>
                </a:tc>
                <a:extLst>
                  <a:ext uri="{0D108BD9-81ED-4DB2-BD59-A6C34878D82A}">
                    <a16:rowId xmlns:a16="http://schemas.microsoft.com/office/drawing/2014/main" val="1342429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2598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13733-E486-C265-30F3-388C6423F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EXCEPTION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FBD2CE-72A0-8C9D-C3E0-6FDC35F619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36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86FFE-DC87-77DD-1FDE-8C589C23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1D1673-F478-42A0-4797-B08F5ADE6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希望异常被如何处理？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——</a:t>
            </a:r>
            <a:r>
              <a:rPr lang="zh-CN" altLang="en-US" sz="2400" dirty="0"/>
              <a:t>看上去应该是异常指令之前的所有指令都已完成，而其后所有指令都不应该对程序员可见状态产生任何影响（</a:t>
            </a:r>
            <a:r>
              <a:rPr lang="en-US" altLang="zh-CN" sz="2400" dirty="0"/>
              <a:t>P306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——</a:t>
            </a:r>
            <a:r>
              <a:rPr lang="zh-CN" altLang="en-US" sz="2400" dirty="0"/>
              <a:t>如果取出了某条指令，过后又被取消了，那么所有关于这条指令的异常状态信息也被取消掉（</a:t>
            </a:r>
            <a:r>
              <a:rPr lang="en-US" altLang="zh-CN" sz="2400" dirty="0"/>
              <a:t>P308</a:t>
            </a:r>
            <a:r>
              <a:rPr lang="zh-CN" altLang="en-US" sz="2400" dirty="0"/>
              <a:t>）</a:t>
            </a:r>
            <a:r>
              <a:rPr lang="zh-CN" altLang="en-US" sz="1600" i="1" dirty="0"/>
              <a:t>暗示了流水线要正常运行，不能</a:t>
            </a:r>
            <a:r>
              <a:rPr lang="en-US" altLang="zh-CN" sz="1600" i="1" dirty="0"/>
              <a:t>STALL</a:t>
            </a:r>
            <a:endParaRPr lang="zh-CN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952248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D0A55-E803-346C-C22F-7F0EBF316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FD4CBDF3-E9DA-B412-745E-CAB636657263}"/>
              </a:ext>
            </a:extLst>
          </p:cNvPr>
          <p:cNvSpPr/>
          <p:nvPr/>
        </p:nvSpPr>
        <p:spPr>
          <a:xfrm>
            <a:off x="9588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EB3276-0984-7E74-929E-FF726B5C7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275" y="0"/>
            <a:ext cx="5388428" cy="6858000"/>
          </a:xfrm>
          <a:prstGeom prst="rect">
            <a:avLst/>
          </a:prstGeom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6563687F-5933-E0E3-3DA9-59C30D513AB3}"/>
              </a:ext>
            </a:extLst>
          </p:cNvPr>
          <p:cNvSpPr/>
          <p:nvPr/>
        </p:nvSpPr>
        <p:spPr>
          <a:xfrm>
            <a:off x="18732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D77BE26-A101-5EEE-4A08-EC418DF552ED}"/>
              </a:ext>
            </a:extLst>
          </p:cNvPr>
          <p:cNvSpPr/>
          <p:nvPr/>
        </p:nvSpPr>
        <p:spPr>
          <a:xfrm>
            <a:off x="27876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9A0B953-8B3C-ABA5-6818-8EB4339E1CCD}"/>
              </a:ext>
            </a:extLst>
          </p:cNvPr>
          <p:cNvSpPr/>
          <p:nvPr/>
        </p:nvSpPr>
        <p:spPr>
          <a:xfrm>
            <a:off x="37020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735815E-E0B4-F96C-A49D-B8E36529FE06}"/>
              </a:ext>
            </a:extLst>
          </p:cNvPr>
          <p:cNvSpPr/>
          <p:nvPr/>
        </p:nvSpPr>
        <p:spPr>
          <a:xfrm>
            <a:off x="4616450" y="1771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8B18AE4-88B9-E386-82A6-7ADF0D74C305}"/>
              </a:ext>
            </a:extLst>
          </p:cNvPr>
          <p:cNvSpPr/>
          <p:nvPr/>
        </p:nvSpPr>
        <p:spPr>
          <a:xfrm>
            <a:off x="9588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F</a:t>
            </a:r>
            <a:endParaRPr lang="zh-CN" altLang="en-US" sz="2800" dirty="0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A108D55-523F-2F04-3823-06EFA14B931D}"/>
              </a:ext>
            </a:extLst>
          </p:cNvPr>
          <p:cNvSpPr/>
          <p:nvPr/>
        </p:nvSpPr>
        <p:spPr>
          <a:xfrm>
            <a:off x="18732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D</a:t>
            </a:r>
            <a:endParaRPr lang="zh-CN" altLang="en-US" sz="2800" dirty="0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04F8F0D-265B-AB1F-A04F-D7509A2EC184}"/>
              </a:ext>
            </a:extLst>
          </p:cNvPr>
          <p:cNvSpPr/>
          <p:nvPr/>
        </p:nvSpPr>
        <p:spPr>
          <a:xfrm>
            <a:off x="27876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E</a:t>
            </a:r>
            <a:endParaRPr lang="zh-CN" altLang="en-US" sz="2800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9D77189-1E98-9C70-9D45-720FCE403AC2}"/>
              </a:ext>
            </a:extLst>
          </p:cNvPr>
          <p:cNvSpPr/>
          <p:nvPr/>
        </p:nvSpPr>
        <p:spPr>
          <a:xfrm>
            <a:off x="37020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M</a:t>
            </a:r>
            <a:endParaRPr lang="zh-CN" altLang="en-US" sz="2800" dirty="0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51729328-FA3E-8491-5726-71B3A791039F}"/>
              </a:ext>
            </a:extLst>
          </p:cNvPr>
          <p:cNvSpPr/>
          <p:nvPr/>
        </p:nvSpPr>
        <p:spPr>
          <a:xfrm>
            <a:off x="4616450" y="2787650"/>
            <a:ext cx="482600" cy="48260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/>
              <a:t>W</a:t>
            </a:r>
            <a:endParaRPr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52DB27-9C70-FDDB-3E8A-8FAA3E6EF875}"/>
              </a:ext>
            </a:extLst>
          </p:cNvPr>
          <p:cNvGrpSpPr/>
          <p:nvPr/>
        </p:nvGrpSpPr>
        <p:grpSpPr>
          <a:xfrm>
            <a:off x="-1" y="4352732"/>
            <a:ext cx="6899275" cy="2505268"/>
            <a:chOff x="-1" y="4352732"/>
            <a:chExt cx="6899275" cy="2505268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C71D9018-7BCF-E30A-FC59-F0ED89803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4352732"/>
              <a:ext cx="6899275" cy="2505268"/>
            </a:xfrm>
            <a:prstGeom prst="rect">
              <a:avLst/>
            </a:prstGeom>
          </p:spPr>
        </p:pic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90636F21-2CB5-0634-E5D5-C6AE26B6BCF2}"/>
                </a:ext>
              </a:extLst>
            </p:cNvPr>
            <p:cNvSpPr/>
            <p:nvPr/>
          </p:nvSpPr>
          <p:spPr>
            <a:xfrm>
              <a:off x="4540250" y="4603751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778FCFB-2724-5AE2-4FFC-BF060E366D39}"/>
                </a:ext>
              </a:extLst>
            </p:cNvPr>
            <p:cNvSpPr/>
            <p:nvPr/>
          </p:nvSpPr>
          <p:spPr>
            <a:xfrm>
              <a:off x="3917950" y="4435282"/>
              <a:ext cx="1162050" cy="80009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62681FF6-DB73-C9F5-C685-098A2086895D}"/>
                </a:ext>
              </a:extLst>
            </p:cNvPr>
            <p:cNvCxnSpPr>
              <a:cxnSpLocks/>
            </p:cNvCxnSpPr>
            <p:nvPr/>
          </p:nvCxnSpPr>
          <p:spPr>
            <a:xfrm>
              <a:off x="3619498" y="5505450"/>
              <a:ext cx="0" cy="43180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8AA035EA-AF0C-B692-1878-C06EC0E0CA8E}"/>
              </a:ext>
            </a:extLst>
          </p:cNvPr>
          <p:cNvCxnSpPr>
            <a:cxnSpLocks/>
            <a:stCxn id="20" idx="0"/>
            <a:endCxn id="10" idx="4"/>
          </p:cNvCxnSpPr>
          <p:nvPr/>
        </p:nvCxnSpPr>
        <p:spPr>
          <a:xfrm flipV="1">
            <a:off x="3943350" y="2254250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994063A-FDC5-1DE8-C92A-5EE26F435A19}"/>
              </a:ext>
            </a:extLst>
          </p:cNvPr>
          <p:cNvCxnSpPr>
            <a:cxnSpLocks/>
            <a:stCxn id="19" idx="0"/>
            <a:endCxn id="10" idx="4"/>
          </p:cNvCxnSpPr>
          <p:nvPr/>
        </p:nvCxnSpPr>
        <p:spPr>
          <a:xfrm flipV="1">
            <a:off x="3028950" y="2254250"/>
            <a:ext cx="9144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3267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86FFE-DC87-77DD-1FDE-8C589C235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1D1673-F478-42A0-4797-B08F5ADE6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如何做的？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——</a:t>
            </a:r>
            <a:r>
              <a:rPr lang="zh-CN" altLang="en-US" dirty="0"/>
              <a:t>在更新</a:t>
            </a:r>
            <a:r>
              <a:rPr lang="en-US" altLang="zh-CN" dirty="0"/>
              <a:t>CC/REGs/M</a:t>
            </a:r>
            <a:r>
              <a:rPr lang="zh-CN" altLang="en-US" dirty="0"/>
              <a:t>时检查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——</a:t>
            </a:r>
            <a:r>
              <a:rPr lang="zh-CN" altLang="en-US" dirty="0"/>
              <a:t>当异常完整穿越流水线之后暂停流水线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D93ABB5-87D4-8EC6-F35F-205B9F403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7006" y="2980928"/>
            <a:ext cx="8078327" cy="4001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6B8E741-EBF7-4C5F-A00A-9D10A4950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007" y="3479384"/>
            <a:ext cx="8078326" cy="96099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A102FC-56AB-067C-D858-4C075FA34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17363"/>
          <a:stretch/>
        </p:blipFill>
        <p:spPr>
          <a:xfrm>
            <a:off x="1927006" y="5499717"/>
            <a:ext cx="6348217" cy="27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6867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A9F9FA-45B0-1CA3-B963-EBB350B13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3467" y="536384"/>
            <a:ext cx="10518776" cy="36845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我们需要参考哪几个</a:t>
            </a:r>
            <a:r>
              <a:rPr lang="en-US" altLang="zh-CN" sz="2400" dirty="0"/>
              <a:t>x/X_stat?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——</a:t>
            </a:r>
            <a:r>
              <a:rPr lang="zh-CN" altLang="en-US" sz="2400" dirty="0"/>
              <a:t>只需要考虑先前指令产生的异常：只考虑流水线更深处的异常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——M/E</a:t>
            </a:r>
            <a:r>
              <a:rPr lang="zh-CN" altLang="en-US" sz="2400" dirty="0"/>
              <a:t>均对应</a:t>
            </a:r>
            <a:r>
              <a:rPr lang="en-US" altLang="zh-CN" sz="2400" dirty="0"/>
              <a:t>mW</a:t>
            </a:r>
            <a:r>
              <a:rPr lang="zh-CN" altLang="en-US" sz="2400" dirty="0"/>
              <a:t>，而取指阶段产生的异常在流水线最浅层，没有后续影响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——m-&gt;M_bubble</a:t>
            </a:r>
            <a:r>
              <a:rPr lang="zh-CN" altLang="en-US" sz="2400" dirty="0"/>
              <a:t>是“取消下一条指令进入</a:t>
            </a:r>
            <a:r>
              <a:rPr lang="en-US" altLang="zh-CN" sz="2400" dirty="0"/>
              <a:t>M</a:t>
            </a:r>
            <a:r>
              <a:rPr lang="zh-CN" altLang="en-US" sz="2400" dirty="0"/>
              <a:t>更新程序员可见状态”。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B40756C-AAB5-3A1D-0ACE-20B398C94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8411" y="3717289"/>
            <a:ext cx="8078327" cy="4001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EBB1BE7-ECCA-BF90-4251-14556A5D3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8412" y="4324549"/>
            <a:ext cx="8078326" cy="96099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CC8C059E-15FA-1118-6E9D-D3F2F6CFE257}"/>
              </a:ext>
            </a:extLst>
          </p:cNvPr>
          <p:cNvSpPr txBox="1"/>
          <p:nvPr/>
        </p:nvSpPr>
        <p:spPr>
          <a:xfrm>
            <a:off x="2153920" y="5892800"/>
            <a:ext cx="7882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bool F_bubble = f_stat in { SADR, SINS , SHLT}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2973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A7D61A-031E-0EAA-A06A-762BE3EC6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为什么两段代码一段在流水线控制逻辑里另一段在</a:t>
            </a:r>
            <a:r>
              <a:rPr lang="en-US" altLang="zh-CN" sz="2400" dirty="0"/>
              <a:t>E</a:t>
            </a:r>
            <a:r>
              <a:rPr lang="zh-CN" altLang="en-US" sz="2400" dirty="0"/>
              <a:t>阶段里？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sz="2400" dirty="0"/>
              <a:t>——</a:t>
            </a:r>
            <a:r>
              <a:rPr lang="zh-CN" altLang="en-US" sz="2400" dirty="0"/>
              <a:t>因为设置</a:t>
            </a:r>
            <a:r>
              <a:rPr lang="en-US" altLang="zh-CN" sz="2400" dirty="0"/>
              <a:t>bubble</a:t>
            </a:r>
            <a:r>
              <a:rPr lang="zh-CN" altLang="en-US" sz="2400" dirty="0"/>
              <a:t>只能阻止</a:t>
            </a:r>
            <a:r>
              <a:rPr lang="zh-CN" altLang="en-US" sz="2400" b="1" dirty="0"/>
              <a:t>下一个</a:t>
            </a:r>
            <a:r>
              <a:rPr lang="zh-CN" altLang="en-US" sz="2400" dirty="0"/>
              <a:t>指令更新</a:t>
            </a:r>
            <a:r>
              <a:rPr lang="en-US" altLang="zh-CN" sz="2400" dirty="0"/>
              <a:t>setCC</a:t>
            </a:r>
            <a:r>
              <a:rPr lang="zh-CN" altLang="en-US" sz="2400" dirty="0"/>
              <a:t>，而不能取消这个指令更新</a:t>
            </a:r>
            <a:r>
              <a:rPr lang="en-US" altLang="zh-CN" sz="2400" dirty="0"/>
              <a:t>CC</a:t>
            </a:r>
            <a:r>
              <a:rPr lang="zh-CN" altLang="en-US" sz="2400" dirty="0"/>
              <a:t>，而</a:t>
            </a:r>
            <a:r>
              <a:rPr lang="en-US" altLang="zh-CN" sz="2400" dirty="0"/>
              <a:t>E</a:t>
            </a:r>
            <a:r>
              <a:rPr lang="zh-CN" altLang="en-US" sz="2400" dirty="0"/>
              <a:t>在</a:t>
            </a:r>
            <a:r>
              <a:rPr lang="en-US" altLang="zh-CN" sz="2400" dirty="0"/>
              <a:t>M</a:t>
            </a:r>
            <a:r>
              <a:rPr lang="zh-CN" altLang="en-US" sz="2400" dirty="0"/>
              <a:t>前，必须将数据前递而非静态判断。另一方面，前递小写字母信号是有较大延迟的，能用寄存器还是用寄存器好。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br>
              <a:rPr lang="en-US" altLang="zh-CN" sz="2800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98146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08330C-8572-E935-73F1-E853A3B8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F4C67D-C834-A6BA-F259-4916D985FD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含有异常</a:t>
            </a:r>
            <a:r>
              <a:rPr lang="en-US" altLang="zh-CN" sz="2400" dirty="0"/>
              <a:t>-</a:t>
            </a:r>
            <a:r>
              <a:rPr lang="zh-CN" altLang="en-US" sz="2400" dirty="0"/>
              <a:t>特殊控制的组合逻辑能否正常处理？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2400" dirty="0"/>
              <a:t>——</a:t>
            </a:r>
            <a:r>
              <a:rPr lang="zh-CN" altLang="en-US" sz="2400" dirty="0"/>
              <a:t>特殊控制逻辑，会以</a:t>
            </a:r>
            <a:r>
              <a:rPr lang="en-US" altLang="zh-CN" sz="2400" dirty="0"/>
              <a:t>bubble</a:t>
            </a:r>
            <a:r>
              <a:rPr lang="zh-CN" altLang="en-US" sz="2400" dirty="0"/>
              <a:t>的形式最晚在</a:t>
            </a:r>
            <a:r>
              <a:rPr lang="en-US" altLang="zh-CN" sz="2400" dirty="0"/>
              <a:t>E</a:t>
            </a:r>
            <a:r>
              <a:rPr lang="zh-CN" altLang="en-US" sz="2400" dirty="0"/>
              <a:t>阶段清空</a:t>
            </a:r>
            <a:r>
              <a:rPr lang="en-US" altLang="zh-CN" sz="2400" dirty="0"/>
              <a:t>stat</a:t>
            </a:r>
            <a:r>
              <a:rPr lang="zh-CN" altLang="en-US" sz="2400" dirty="0"/>
              <a:t>，防止异常表现在可见状态上。另一方面，在进入写阶段后不可能异常消失，所以不可能出现错过写入这种情况。</a:t>
            </a: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78EA53E-82A7-6441-AAFB-EECAC4F2A3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769"/>
          <a:stretch/>
        </p:blipFill>
        <p:spPr>
          <a:xfrm>
            <a:off x="2826104" y="4348163"/>
            <a:ext cx="7235673" cy="1828800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6DFF45D-51DD-19D1-19F4-90FA4E0DF4EA}"/>
              </a:ext>
            </a:extLst>
          </p:cNvPr>
          <p:cNvCxnSpPr/>
          <p:nvPr/>
        </p:nvCxnSpPr>
        <p:spPr>
          <a:xfrm>
            <a:off x="5195463" y="3916621"/>
            <a:ext cx="3078480" cy="25501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F093E675-B001-8C24-0320-2781A005066C}"/>
              </a:ext>
            </a:extLst>
          </p:cNvPr>
          <p:cNvSpPr txBox="1"/>
          <p:nvPr/>
        </p:nvSpPr>
        <p:spPr>
          <a:xfrm>
            <a:off x="3275594" y="5008879"/>
            <a:ext cx="62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RE</a:t>
            </a:r>
            <a:endParaRPr lang="zh-CN" altLang="en-US" sz="32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905DAB-2A3B-E9FF-CA2A-E78E40596669}"/>
              </a:ext>
            </a:extLst>
          </p:cNvPr>
          <p:cNvSpPr txBox="1"/>
          <p:nvPr/>
        </p:nvSpPr>
        <p:spPr>
          <a:xfrm>
            <a:off x="8853937" y="4899313"/>
            <a:ext cx="6278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P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1070041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DA3CB-D635-BAD6-42D9-337EFFD13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2BBB7D-BE06-8000-DCEA-0CDDF523D3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JXX</a:t>
            </a:r>
            <a:endParaRPr lang="zh-CN" altLang="en-US" sz="3200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C82448-F62B-E8AA-B031-5FBB606E4C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当处理</a:t>
            </a:r>
            <a:r>
              <a:rPr lang="en-US" altLang="zh-CN" sz="2000" dirty="0"/>
              <a:t>JXX</a:t>
            </a:r>
            <a:r>
              <a:rPr lang="zh-CN" altLang="en-US" sz="2000" dirty="0"/>
              <a:t>的时候，由于</a:t>
            </a:r>
            <a:r>
              <a:rPr lang="en-US" altLang="zh-CN" sz="2000" dirty="0"/>
              <a:t>E</a:t>
            </a:r>
            <a:r>
              <a:rPr lang="zh-CN" altLang="en-US" sz="2000" dirty="0"/>
              <a:t>在流水线中比较浅，写指令尚未发生，所以采用简单</a:t>
            </a:r>
            <a:r>
              <a:rPr lang="en-US" altLang="zh-CN" sz="2000" dirty="0"/>
              <a:t>bubble</a:t>
            </a:r>
            <a:r>
              <a:rPr lang="zh-CN" altLang="en-US" sz="2000" dirty="0"/>
              <a:t>写指令的方法。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F5B845B-D35A-CE82-06F4-4853ABE9FB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EXCEPTION</a:t>
            </a:r>
            <a:endParaRPr lang="zh-CN" altLang="en-US" sz="3200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8A9F9FA-45B0-1CA3-B963-EBB350B13A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当处理异常的时候，由于</a:t>
            </a:r>
            <a:r>
              <a:rPr lang="en-US" altLang="zh-CN" sz="2000" dirty="0"/>
              <a:t>M</a:t>
            </a:r>
            <a:r>
              <a:rPr lang="zh-CN" altLang="en-US" sz="2000" dirty="0"/>
              <a:t>在流水线中比较深，所以可能出现有风险的写事件</a:t>
            </a:r>
            <a:r>
              <a:rPr lang="en-US" altLang="zh-CN" sz="2000" dirty="0"/>
              <a:t>(setCC)</a:t>
            </a:r>
            <a:r>
              <a:rPr lang="zh-CN" altLang="en-US" sz="2000" dirty="0"/>
              <a:t>我们需要转发这个异常，而</a:t>
            </a:r>
            <a:r>
              <a:rPr lang="en-US" altLang="zh-CN" sz="2000" dirty="0"/>
              <a:t>M</a:t>
            </a:r>
            <a:r>
              <a:rPr lang="zh-CN" altLang="en-US" sz="2000" dirty="0"/>
              <a:t>处的写</a:t>
            </a:r>
            <a:r>
              <a:rPr lang="en-US" altLang="zh-CN" sz="2000" dirty="0"/>
              <a:t>bubble</a:t>
            </a:r>
            <a:r>
              <a:rPr lang="zh-CN" altLang="en-US" sz="2000" dirty="0"/>
              <a:t>即可。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BDC2CF4-3663-C0ED-1B69-4872C709F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71" y="4347369"/>
            <a:ext cx="5247813" cy="208630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8B4A90D-7061-3284-E080-F3411A9B2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992" y="4750761"/>
            <a:ext cx="5024913" cy="85215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1F6A1E5-E6AB-09FF-83B8-68036D989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992" y="5602913"/>
            <a:ext cx="5024913" cy="72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160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882A3-7F4D-D441-D94E-DFDD36C5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HCL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64AEB89-020B-9FC5-BF29-DA698F150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6051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9ACB23-E797-D09F-BF75-10B700EE1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839640" cy="2553056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9D2F469B-A4B4-AC2D-D492-C2D453E83D6D}"/>
              </a:ext>
            </a:extLst>
          </p:cNvPr>
          <p:cNvSpPr/>
          <p:nvPr/>
        </p:nvSpPr>
        <p:spPr>
          <a:xfrm>
            <a:off x="444500" y="920750"/>
            <a:ext cx="3987800" cy="22189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F9D82AE-F94C-6737-D39E-C43CF063B86C}"/>
              </a:ext>
            </a:extLst>
          </p:cNvPr>
          <p:cNvSpPr/>
          <p:nvPr/>
        </p:nvSpPr>
        <p:spPr>
          <a:xfrm>
            <a:off x="444500" y="1460500"/>
            <a:ext cx="3987800" cy="234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2CC969E-AA98-2068-57D8-131CE6D5362A}"/>
              </a:ext>
            </a:extLst>
          </p:cNvPr>
          <p:cNvSpPr/>
          <p:nvPr/>
        </p:nvSpPr>
        <p:spPr>
          <a:xfrm>
            <a:off x="927100" y="2000250"/>
            <a:ext cx="1123950" cy="2349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153684-C6BC-EDD3-0542-1C28B51B5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660" y="63500"/>
            <a:ext cx="6351340" cy="6858000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416DAD9D-B2FA-2758-9B6C-8B0A263C4A82}"/>
              </a:ext>
            </a:extLst>
          </p:cNvPr>
          <p:cNvSpPr/>
          <p:nvPr/>
        </p:nvSpPr>
        <p:spPr>
          <a:xfrm>
            <a:off x="7504680" y="634484"/>
            <a:ext cx="3924300" cy="215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38A253A-F592-7719-F2C2-DB5108E50270}"/>
              </a:ext>
            </a:extLst>
          </p:cNvPr>
          <p:cNvSpPr/>
          <p:nvPr/>
        </p:nvSpPr>
        <p:spPr>
          <a:xfrm>
            <a:off x="7504680" y="882650"/>
            <a:ext cx="1593850" cy="215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35E49FF-6447-23CC-CDC6-054DD0A0BA3F}"/>
              </a:ext>
            </a:extLst>
          </p:cNvPr>
          <p:cNvSpPr/>
          <p:nvPr/>
        </p:nvSpPr>
        <p:spPr>
          <a:xfrm>
            <a:off x="7504680" y="2711450"/>
            <a:ext cx="3138080" cy="215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D4594CC-2472-5E36-FFFA-DC2A1F8D688E}"/>
              </a:ext>
            </a:extLst>
          </p:cNvPr>
          <p:cNvSpPr/>
          <p:nvPr/>
        </p:nvSpPr>
        <p:spPr>
          <a:xfrm>
            <a:off x="7504680" y="2432050"/>
            <a:ext cx="2852170" cy="2159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E1DFF07-1327-75D8-ABE7-921C96E7B77E}"/>
              </a:ext>
            </a:extLst>
          </p:cNvPr>
          <p:cNvSpPr txBox="1"/>
          <p:nvPr/>
        </p:nvSpPr>
        <p:spPr>
          <a:xfrm>
            <a:off x="9885278" y="844194"/>
            <a:ext cx="230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srcA</a:t>
            </a:r>
            <a:r>
              <a:rPr lang="zh-CN" altLang="en-US" dirty="0"/>
              <a:t>绕过</a:t>
            </a:r>
            <a:r>
              <a:rPr lang="en-US" altLang="zh-CN" dirty="0"/>
              <a:t>ALU</a:t>
            </a:r>
            <a:r>
              <a:rPr lang="zh-CN" altLang="en-US" dirty="0"/>
              <a:t>做</a:t>
            </a:r>
            <a:r>
              <a:rPr lang="en-US" altLang="zh-CN" dirty="0"/>
              <a:t>M</a:t>
            </a:r>
            <a:r>
              <a:rPr lang="zh-CN" altLang="en-US" dirty="0"/>
              <a:t>的源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615E92-5B73-D4C5-5ABF-9E8E033E14A5}"/>
              </a:ext>
            </a:extLst>
          </p:cNvPr>
          <p:cNvSpPr txBox="1"/>
          <p:nvPr/>
        </p:nvSpPr>
        <p:spPr>
          <a:xfrm>
            <a:off x="9370928" y="312519"/>
            <a:ext cx="1710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srcA</a:t>
            </a:r>
            <a:r>
              <a:rPr lang="zh-CN" altLang="en-US" dirty="0"/>
              <a:t>作为</a:t>
            </a:r>
            <a:r>
              <a:rPr lang="en-US" altLang="zh-CN" dirty="0"/>
              <a:t>W</a:t>
            </a:r>
            <a:r>
              <a:rPr lang="zh-CN" altLang="en-US" dirty="0"/>
              <a:t>的源</a:t>
            </a:r>
          </a:p>
        </p:txBody>
      </p:sp>
    </p:spTree>
    <p:extLst>
      <p:ext uri="{BB962C8B-B14F-4D97-AF65-F5344CB8AC3E}">
        <p14:creationId xmlns:p14="http://schemas.microsoft.com/office/powerpoint/2010/main" val="11776273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CC5E609-F788-B3E4-7106-282B202E04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63853" cy="5620534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E4FCA6EF-7A2D-2375-0F42-034363102F3A}"/>
              </a:ext>
            </a:extLst>
          </p:cNvPr>
          <p:cNvSpPr/>
          <p:nvPr/>
        </p:nvSpPr>
        <p:spPr>
          <a:xfrm>
            <a:off x="1599179" y="1181100"/>
            <a:ext cx="5764673" cy="1352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注意次序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AF8A2AF3-AF30-B4C8-7A69-D8B8C346F2B4}"/>
              </a:ext>
            </a:extLst>
          </p:cNvPr>
          <p:cNvSpPr/>
          <p:nvPr/>
        </p:nvSpPr>
        <p:spPr>
          <a:xfrm>
            <a:off x="1599179" y="3581400"/>
            <a:ext cx="5764673" cy="1352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51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4E93AB-ECAE-748F-E7A4-63D4EE5822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77851" cy="452500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DD4BB17-9727-0168-E040-691974481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986225"/>
            <a:ext cx="6935168" cy="1609950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C4640A07-026C-FC0B-DEE5-4E8E663173C8}"/>
              </a:ext>
            </a:extLst>
          </p:cNvPr>
          <p:cNvSpPr/>
          <p:nvPr/>
        </p:nvSpPr>
        <p:spPr>
          <a:xfrm>
            <a:off x="1776979" y="393700"/>
            <a:ext cx="4388871" cy="13525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114747-68E8-8469-E80D-FEE8BC16B976}"/>
              </a:ext>
            </a:extLst>
          </p:cNvPr>
          <p:cNvSpPr/>
          <p:nvPr/>
        </p:nvSpPr>
        <p:spPr>
          <a:xfrm>
            <a:off x="1389629" y="3000375"/>
            <a:ext cx="4128521" cy="8572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362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084244C-BCDE-D11E-C357-BCEB107482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204"/>
          <a:stretch>
            <a:fillRect/>
          </a:stretch>
        </p:blipFill>
        <p:spPr>
          <a:xfrm>
            <a:off x="-6350" y="0"/>
            <a:ext cx="7548565" cy="544195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E7C25E-5E6F-6F3D-91AA-6D6B87B69D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704"/>
          <a:stretch>
            <a:fillRect/>
          </a:stretch>
        </p:blipFill>
        <p:spPr>
          <a:xfrm>
            <a:off x="5543550" y="0"/>
            <a:ext cx="6697009" cy="415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813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8328</TotalTime>
  <Words>1970</Words>
  <Application>Microsoft Office PowerPoint</Application>
  <PresentationFormat>宽屏</PresentationFormat>
  <Paragraphs>250</Paragraphs>
  <Slides>46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2" baseType="lpstr">
      <vt:lpstr>等线</vt:lpstr>
      <vt:lpstr>Arial</vt:lpstr>
      <vt:lpstr>Calibri</vt:lpstr>
      <vt:lpstr>Calibri Light</vt:lpstr>
      <vt:lpstr>Wingdings</vt:lpstr>
      <vt:lpstr>Office 主题​​</vt:lpstr>
      <vt:lpstr>ICS seminar 0x5</vt:lpstr>
      <vt:lpstr>周期计算</vt:lpstr>
      <vt:lpstr>PowerPoint 演示文稿</vt:lpstr>
      <vt:lpstr>PowerPoint 演示文稿</vt:lpstr>
      <vt:lpstr>PowerPoint 演示文稿</vt:lpstr>
      <vt:lpstr>流水线划分</vt:lpstr>
      <vt:lpstr>PowerPoint 演示文稿</vt:lpstr>
      <vt:lpstr>PowerPoint 演示文稿</vt:lpstr>
      <vt:lpstr>Pipeline - bypass</vt:lpstr>
      <vt:lpstr>如何理解这张图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Pipeline control – detect &amp; handle</vt:lpstr>
      <vt:lpstr>PowerPoint 演示文稿</vt:lpstr>
      <vt:lpstr>PowerPoint 演示文稿</vt:lpstr>
      <vt:lpstr>Stall 和 bubble 的行为</vt:lpstr>
      <vt:lpstr>Stall？Bubble？</vt:lpstr>
      <vt:lpstr>Bubble &amp; stall 的图形化解释</vt:lpstr>
      <vt:lpstr>PowerPoint 演示文稿</vt:lpstr>
      <vt:lpstr>PowerPoint 演示文稿</vt:lpstr>
      <vt:lpstr>L/U</vt:lpstr>
      <vt:lpstr>jmp - MISPRED</vt:lpstr>
      <vt:lpstr>jmp - MISPRED</vt:lpstr>
      <vt:lpstr>jmp - MISPRED</vt:lpstr>
      <vt:lpstr>Ret</vt:lpstr>
      <vt:lpstr>Ret</vt:lpstr>
      <vt:lpstr>PowerPoint 演示文稿</vt:lpstr>
      <vt:lpstr>EXCEPTION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HCL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ziyuan he</dc:creator>
  <cp:lastModifiedBy>ziyuan he</cp:lastModifiedBy>
  <cp:revision>7</cp:revision>
  <dcterms:created xsi:type="dcterms:W3CDTF">2024-10-23T13:30:01Z</dcterms:created>
  <dcterms:modified xsi:type="dcterms:W3CDTF">2025-11-05T12:48:00Z</dcterms:modified>
</cp:coreProperties>
</file>