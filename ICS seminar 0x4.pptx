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76" r:id="rId3"/>
    <p:sldId id="277" r:id="rId4"/>
    <p:sldId id="274" r:id="rId5"/>
    <p:sldId id="281" r:id="rId6"/>
    <p:sldId id="279" r:id="rId7"/>
    <p:sldId id="282" r:id="rId8"/>
    <p:sldId id="275" r:id="rId9"/>
    <p:sldId id="283" r:id="rId10"/>
    <p:sldId id="278" r:id="rId11"/>
    <p:sldId id="265" r:id="rId12"/>
    <p:sldId id="267" r:id="rId13"/>
    <p:sldId id="257" r:id="rId14"/>
    <p:sldId id="258" r:id="rId15"/>
    <p:sldId id="259" r:id="rId16"/>
    <p:sldId id="260" r:id="rId17"/>
    <p:sldId id="261" r:id="rId18"/>
    <p:sldId id="262" r:id="rId19"/>
    <p:sldId id="263" r:id="rId20"/>
    <p:sldId id="264" r:id="rId21"/>
    <p:sldId id="270" r:id="rId22"/>
    <p:sldId id="273" r:id="rId23"/>
    <p:sldId id="268" r:id="rId24"/>
    <p:sldId id="271" r:id="rId25"/>
    <p:sldId id="272" r:id="rId26"/>
    <p:sldId id="284" r:id="rId27"/>
    <p:sldId id="285" r:id="rId28"/>
    <p:sldId id="28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84" d="100"/>
          <a:sy n="84" d="100"/>
        </p:scale>
        <p:origin x="92" y="5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FCB017-902F-48FA-B4A8-CBC497AB431A}" type="datetimeFigureOut">
              <a:rPr lang="zh-CN" altLang="en-US" smtClean="0"/>
              <a:t>2025/10/21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779BFC-62A9-479D-9412-5679318DF040}" type="slidenum">
              <a:rPr lang="zh-CN" altLang="en-US" smtClean="0"/>
              <a:t>‹#›</a:t>
            </a:fld>
            <a:endParaRPr lang="zh-CN" altLang="en-US"/>
          </a:p>
        </p:txBody>
      </p:sp>
    </p:spTree>
    <p:extLst>
      <p:ext uri="{BB962C8B-B14F-4D97-AF65-F5344CB8AC3E}">
        <p14:creationId xmlns:p14="http://schemas.microsoft.com/office/powerpoint/2010/main" val="4223259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779BFC-62A9-479D-9412-5679318DF040}" type="slidenum">
              <a:rPr lang="zh-CN" altLang="en-US" smtClean="0"/>
              <a:t>12</a:t>
            </a:fld>
            <a:endParaRPr lang="zh-CN" altLang="en-US"/>
          </a:p>
        </p:txBody>
      </p:sp>
    </p:spTree>
    <p:extLst>
      <p:ext uri="{BB962C8B-B14F-4D97-AF65-F5344CB8AC3E}">
        <p14:creationId xmlns:p14="http://schemas.microsoft.com/office/powerpoint/2010/main" val="219529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分别是段寄存器新值和偏移量</a:t>
            </a:r>
          </a:p>
        </p:txBody>
      </p:sp>
      <p:sp>
        <p:nvSpPr>
          <p:cNvPr id="4" name="灯片编号占位符 3"/>
          <p:cNvSpPr>
            <a:spLocks noGrp="1"/>
          </p:cNvSpPr>
          <p:nvPr>
            <p:ph type="sldNum" sz="quarter" idx="5"/>
          </p:nvPr>
        </p:nvSpPr>
        <p:spPr/>
        <p:txBody>
          <a:bodyPr/>
          <a:lstStyle/>
          <a:p>
            <a:fld id="{33779BFC-62A9-479D-9412-5679318DF040}" type="slidenum">
              <a:rPr lang="zh-CN" altLang="en-US" smtClean="0"/>
              <a:t>14</a:t>
            </a:fld>
            <a:endParaRPr lang="zh-CN" altLang="en-US"/>
          </a:p>
        </p:txBody>
      </p:sp>
    </p:spTree>
    <p:extLst>
      <p:ext uri="{BB962C8B-B14F-4D97-AF65-F5344CB8AC3E}">
        <p14:creationId xmlns:p14="http://schemas.microsoft.com/office/powerpoint/2010/main" val="1110935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779BFC-62A9-479D-9412-5679318DF040}" type="slidenum">
              <a:rPr lang="zh-CN" altLang="en-US" smtClean="0"/>
              <a:t>25</a:t>
            </a:fld>
            <a:endParaRPr lang="zh-CN" altLang="en-US"/>
          </a:p>
        </p:txBody>
      </p:sp>
    </p:spTree>
    <p:extLst>
      <p:ext uri="{BB962C8B-B14F-4D97-AF65-F5344CB8AC3E}">
        <p14:creationId xmlns:p14="http://schemas.microsoft.com/office/powerpoint/2010/main" val="527540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656A1F6-6FC3-44E1-A365-915CC25B6F9B}" type="datetimeFigureOut">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2974731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656A1F6-6FC3-44E1-A365-915CC25B6F9B}" type="datetimeFigureOut">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558495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656A1F6-6FC3-44E1-A365-915CC25B6F9B}" type="datetimeFigureOut">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1612753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656A1F6-6FC3-44E1-A365-915CC25B6F9B}" type="datetimeFigureOut">
              <a:rPr lang="zh-CN" altLang="en-US" smtClean="0"/>
              <a:t>2025/10/21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277504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A656A1F6-6FC3-44E1-A365-915CC25B6F9B}" type="datetimeFigureOut">
              <a:rPr lang="zh-CN" altLang="en-US" smtClean="0"/>
              <a:t>2025/10/21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2836442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656A1F6-6FC3-44E1-A365-915CC25B6F9B}" type="datetimeFigureOut">
              <a:rPr lang="zh-CN" altLang="en-US" smtClean="0"/>
              <a:t>2025/10/21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671644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56A1F6-6FC3-44E1-A365-915CC25B6F9B}" type="datetimeFigureOut">
              <a:rPr lang="zh-CN" altLang="en-US" smtClean="0"/>
              <a:t>2025/10/21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4281251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656A1F6-6FC3-44E1-A365-915CC25B6F9B}" type="datetimeFigureOut">
              <a:rPr lang="zh-CN" altLang="en-US" smtClean="0"/>
              <a:t>2025/10/21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3728520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656A1F6-6FC3-44E1-A365-915CC25B6F9B}" type="datetimeFigureOut">
              <a:rPr lang="zh-CN" altLang="en-US" smtClean="0"/>
              <a:t>2025/10/21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2566796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656A1F6-6FC3-44E1-A365-915CC25B6F9B}" type="datetimeFigureOut">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3665774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656A1F6-6FC3-44E1-A365-915CC25B6F9B}" type="datetimeFigureOut">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4124776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56A1F6-6FC3-44E1-A365-915CC25B6F9B}" type="datetimeFigureOut">
              <a:rPr lang="zh-CN" altLang="en-US" smtClean="0"/>
              <a:t>2025/10/21</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B8914-D470-4467-88E8-1B43347742CD}" type="slidenum">
              <a:rPr lang="zh-CN" altLang="en-US" smtClean="0"/>
              <a:t>‹#›</a:t>
            </a:fld>
            <a:endParaRPr lang="zh-CN" altLang="en-US"/>
          </a:p>
        </p:txBody>
      </p:sp>
    </p:spTree>
    <p:extLst>
      <p:ext uri="{BB962C8B-B14F-4D97-AF65-F5344CB8AC3E}">
        <p14:creationId xmlns:p14="http://schemas.microsoft.com/office/powerpoint/2010/main" val="156365511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FC2CE1-EF31-4B42-035D-C2B7613EDEB1}"/>
              </a:ext>
            </a:extLst>
          </p:cNvPr>
          <p:cNvSpPr>
            <a:spLocks noGrp="1"/>
          </p:cNvSpPr>
          <p:nvPr>
            <p:ph type="ctrTitle"/>
          </p:nvPr>
        </p:nvSpPr>
        <p:spPr/>
        <p:txBody>
          <a:bodyPr/>
          <a:lstStyle/>
          <a:p>
            <a:r>
              <a:rPr lang="en-US" altLang="zh-CN" dirty="0"/>
              <a:t>ICS seminar 0x4</a:t>
            </a:r>
            <a:endParaRPr lang="zh-CN" altLang="en-US" dirty="0"/>
          </a:p>
        </p:txBody>
      </p:sp>
      <p:sp>
        <p:nvSpPr>
          <p:cNvPr id="3" name="副标题 2">
            <a:extLst>
              <a:ext uri="{FF2B5EF4-FFF2-40B4-BE49-F238E27FC236}">
                <a16:creationId xmlns:a16="http://schemas.microsoft.com/office/drawing/2014/main" id="{04BEC49F-B9CE-62B3-975D-2CE97A8FF108}"/>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553694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505B22-0550-8D0B-1F48-AADDDC7AE07F}"/>
              </a:ext>
            </a:extLst>
          </p:cNvPr>
          <p:cNvSpPr>
            <a:spLocks noGrp="1"/>
          </p:cNvSpPr>
          <p:nvPr>
            <p:ph type="title"/>
          </p:nvPr>
        </p:nvSpPr>
        <p:spPr/>
        <p:txBody>
          <a:bodyPr/>
          <a:lstStyle/>
          <a:p>
            <a:r>
              <a:rPr lang="en-US" altLang="zh-CN" dirty="0"/>
              <a:t>X86-Y86</a:t>
            </a:r>
            <a:r>
              <a:rPr lang="zh-CN" altLang="en-US" dirty="0"/>
              <a:t>的翻译</a:t>
            </a:r>
          </a:p>
        </p:txBody>
      </p:sp>
      <p:sp>
        <p:nvSpPr>
          <p:cNvPr id="3" name="文本占位符 2">
            <a:extLst>
              <a:ext uri="{FF2B5EF4-FFF2-40B4-BE49-F238E27FC236}">
                <a16:creationId xmlns:a16="http://schemas.microsoft.com/office/drawing/2014/main" id="{9D6698F7-FAA3-ECC8-D643-B3FFB846D086}"/>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90816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F55762-8E8E-A796-4918-99657C589FF2}"/>
              </a:ext>
            </a:extLst>
          </p:cNvPr>
          <p:cNvSpPr>
            <a:spLocks noGrp="1"/>
          </p:cNvSpPr>
          <p:nvPr>
            <p:ph type="title"/>
          </p:nvPr>
        </p:nvSpPr>
        <p:spPr/>
        <p:txBody>
          <a:bodyPr/>
          <a:lstStyle/>
          <a:p>
            <a:r>
              <a:rPr lang="en-US" altLang="zh-CN" dirty="0"/>
              <a:t>Y86</a:t>
            </a:r>
            <a:r>
              <a:rPr lang="zh-CN" altLang="en-US" dirty="0"/>
              <a:t>不支持的功能</a:t>
            </a:r>
          </a:p>
        </p:txBody>
      </p:sp>
      <p:sp>
        <p:nvSpPr>
          <p:cNvPr id="3" name="内容占位符 2">
            <a:extLst>
              <a:ext uri="{FF2B5EF4-FFF2-40B4-BE49-F238E27FC236}">
                <a16:creationId xmlns:a16="http://schemas.microsoft.com/office/drawing/2014/main" id="{2DD04834-8AF9-FF45-B0C2-5206F46F1F45}"/>
              </a:ext>
            </a:extLst>
          </p:cNvPr>
          <p:cNvSpPr>
            <a:spLocks noGrp="1"/>
          </p:cNvSpPr>
          <p:nvPr>
            <p:ph idx="1"/>
          </p:nvPr>
        </p:nvSpPr>
        <p:spPr/>
        <p:txBody>
          <a:bodyPr>
            <a:normAutofit/>
          </a:bodyPr>
          <a:lstStyle/>
          <a:p>
            <a:pPr>
              <a:lnSpc>
                <a:spcPct val="150000"/>
              </a:lnSpc>
            </a:pPr>
            <a:r>
              <a:rPr lang="en-US" altLang="zh-CN" sz="2400" dirty="0" err="1"/>
              <a:t>cmp</a:t>
            </a:r>
            <a:r>
              <a:rPr lang="zh-CN" altLang="en-US" sz="2400" dirty="0"/>
              <a:t>设置条件码</a:t>
            </a:r>
            <a:endParaRPr lang="en-US" altLang="zh-CN" sz="2400" dirty="0"/>
          </a:p>
          <a:p>
            <a:pPr>
              <a:lnSpc>
                <a:spcPct val="150000"/>
              </a:lnSpc>
            </a:pPr>
            <a:r>
              <a:rPr lang="zh-CN" altLang="en-US" sz="2400" dirty="0"/>
              <a:t>更多寄存器 </a:t>
            </a:r>
            <a:r>
              <a:rPr lang="en-US" altLang="zh-CN" sz="2400" dirty="0"/>
              <a:t>-&gt; </a:t>
            </a:r>
            <a:r>
              <a:rPr lang="zh-CN" altLang="en-US" sz="2400" dirty="0"/>
              <a:t>压栈</a:t>
            </a:r>
            <a:r>
              <a:rPr lang="en-US" altLang="zh-CN" sz="2400" dirty="0"/>
              <a:t>/</a:t>
            </a:r>
            <a:r>
              <a:rPr lang="zh-CN" altLang="en-US" sz="2400" dirty="0"/>
              <a:t>弹栈</a:t>
            </a:r>
            <a:r>
              <a:rPr lang="en-US" altLang="zh-CN" sz="2400" dirty="0"/>
              <a:t>/</a:t>
            </a:r>
            <a:r>
              <a:rPr lang="zh-CN" altLang="en-US" sz="2400" dirty="0"/>
              <a:t>空寄存器分配</a:t>
            </a:r>
            <a:endParaRPr lang="en-US" altLang="zh-CN" sz="2400" dirty="0"/>
          </a:p>
          <a:p>
            <a:pPr>
              <a:lnSpc>
                <a:spcPct val="150000"/>
              </a:lnSpc>
            </a:pPr>
            <a:r>
              <a:rPr lang="zh-CN" altLang="en-US" sz="2400" dirty="0"/>
              <a:t>相对</a:t>
            </a:r>
            <a:r>
              <a:rPr lang="en-US" altLang="zh-CN" sz="2400" dirty="0"/>
              <a:t>PC</a:t>
            </a:r>
            <a:r>
              <a:rPr lang="zh-CN" altLang="en-US" sz="2400" dirty="0"/>
              <a:t>跳转</a:t>
            </a:r>
            <a:endParaRPr lang="en-US" altLang="zh-CN" sz="2400" dirty="0"/>
          </a:p>
          <a:p>
            <a:pPr>
              <a:lnSpc>
                <a:spcPct val="150000"/>
              </a:lnSpc>
            </a:pPr>
            <a:r>
              <a:rPr lang="zh-CN" altLang="en-US" sz="2400" dirty="0"/>
              <a:t>不同的数据大小  </a:t>
            </a:r>
            <a:r>
              <a:rPr lang="en-US" altLang="zh-CN" sz="2400" dirty="0"/>
              <a:t>-&gt;  </a:t>
            </a:r>
            <a:r>
              <a:rPr lang="zh-CN" altLang="en-US" sz="2400" dirty="0"/>
              <a:t>重新分配栈空间</a:t>
            </a:r>
            <a:endParaRPr lang="en-US" altLang="zh-CN" sz="2400" dirty="0"/>
          </a:p>
          <a:p>
            <a:pPr>
              <a:lnSpc>
                <a:spcPct val="150000"/>
              </a:lnSpc>
            </a:pPr>
            <a:endParaRPr lang="en-US" altLang="zh-CN" sz="2400" dirty="0"/>
          </a:p>
          <a:p>
            <a:pPr>
              <a:lnSpc>
                <a:spcPct val="150000"/>
              </a:lnSpc>
            </a:pPr>
            <a:endParaRPr lang="en-US" altLang="zh-CN" sz="2400" dirty="0"/>
          </a:p>
          <a:p>
            <a:pPr>
              <a:lnSpc>
                <a:spcPct val="150000"/>
              </a:lnSpc>
            </a:pPr>
            <a:endParaRPr lang="zh-CN" altLang="en-US" sz="2400" dirty="0"/>
          </a:p>
        </p:txBody>
      </p:sp>
    </p:spTree>
    <p:extLst>
      <p:ext uri="{BB962C8B-B14F-4D97-AF65-F5344CB8AC3E}">
        <p14:creationId xmlns:p14="http://schemas.microsoft.com/office/powerpoint/2010/main" val="828780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B1C2CC-6101-DAE0-4991-A80051A0B58B}"/>
              </a:ext>
            </a:extLst>
          </p:cNvPr>
          <p:cNvSpPr>
            <a:spLocks noGrp="1"/>
          </p:cNvSpPr>
          <p:nvPr>
            <p:ph type="title"/>
          </p:nvPr>
        </p:nvSpPr>
        <p:spPr/>
        <p:txBody>
          <a:bodyPr/>
          <a:lstStyle/>
          <a:p>
            <a:r>
              <a:rPr lang="en-US" altLang="zh-CN" dirty="0"/>
              <a:t>circuit</a:t>
            </a:r>
            <a:endParaRPr lang="zh-CN" altLang="en-US" dirty="0"/>
          </a:p>
        </p:txBody>
      </p:sp>
      <p:sp>
        <p:nvSpPr>
          <p:cNvPr id="3" name="文本占位符 2">
            <a:extLst>
              <a:ext uri="{FF2B5EF4-FFF2-40B4-BE49-F238E27FC236}">
                <a16:creationId xmlns:a16="http://schemas.microsoft.com/office/drawing/2014/main" id="{6319B0E2-58B6-D152-DE5F-4E21BC3DB993}"/>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97654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9D95697-0AC1-F7B7-FFED-DE36DDB0E98A}"/>
              </a:ext>
            </a:extLst>
          </p:cNvPr>
          <p:cNvPicPr>
            <a:picLocks noChangeAspect="1"/>
          </p:cNvPicPr>
          <p:nvPr/>
        </p:nvPicPr>
        <p:blipFill>
          <a:blip r:embed="rId2"/>
          <a:stretch>
            <a:fillRect/>
          </a:stretch>
        </p:blipFill>
        <p:spPr>
          <a:xfrm>
            <a:off x="2296278" y="2438649"/>
            <a:ext cx="7985487" cy="1980702"/>
          </a:xfrm>
          <a:prstGeom prst="rect">
            <a:avLst/>
          </a:prstGeom>
        </p:spPr>
      </p:pic>
      <p:pic>
        <p:nvPicPr>
          <p:cNvPr id="6" name="图片 5">
            <a:extLst>
              <a:ext uri="{FF2B5EF4-FFF2-40B4-BE49-F238E27FC236}">
                <a16:creationId xmlns:a16="http://schemas.microsoft.com/office/drawing/2014/main" id="{9E3527D0-88E5-DA24-0AA9-2868EAB2D4F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29592" y1="65476" x2="29592" y2="65476"/>
                        <a14:foregroundMark x1="71939" y1="52381" x2="71939" y2="52381"/>
                      </a14:backgroundRemoval>
                    </a14:imgEffect>
                  </a14:imgLayer>
                </a14:imgProps>
              </a:ext>
            </a:extLst>
          </a:blip>
          <a:stretch>
            <a:fillRect/>
          </a:stretch>
        </p:blipFill>
        <p:spPr>
          <a:xfrm>
            <a:off x="105528" y="2967335"/>
            <a:ext cx="4381500" cy="923330"/>
          </a:xfrm>
          <a:prstGeom prst="rect">
            <a:avLst/>
          </a:prstGeom>
        </p:spPr>
      </p:pic>
      <p:pic>
        <p:nvPicPr>
          <p:cNvPr id="8" name="图片 7">
            <a:extLst>
              <a:ext uri="{FF2B5EF4-FFF2-40B4-BE49-F238E27FC236}">
                <a16:creationId xmlns:a16="http://schemas.microsoft.com/office/drawing/2014/main" id="{BC45D02A-42A8-169B-D9A9-F4DE4D9D159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70149" y1="48276" x2="70149" y2="48276"/>
                      </a14:backgroundRemoval>
                    </a14:imgEffect>
                  </a14:imgLayer>
                </a14:imgProps>
              </a:ext>
            </a:extLst>
          </a:blip>
          <a:stretch>
            <a:fillRect/>
          </a:stretch>
        </p:blipFill>
        <p:spPr>
          <a:xfrm>
            <a:off x="4768968" y="2903220"/>
            <a:ext cx="1814305" cy="1177945"/>
          </a:xfrm>
          <a:prstGeom prst="rect">
            <a:avLst/>
          </a:prstGeom>
        </p:spPr>
      </p:pic>
    </p:spTree>
    <p:extLst>
      <p:ext uri="{BB962C8B-B14F-4D97-AF65-F5344CB8AC3E}">
        <p14:creationId xmlns:p14="http://schemas.microsoft.com/office/powerpoint/2010/main" val="2670022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198F7F2-3E4D-C307-138A-246F2125C811}"/>
              </a:ext>
            </a:extLst>
          </p:cNvPr>
          <p:cNvPicPr>
            <a:picLocks noChangeAspect="1"/>
          </p:cNvPicPr>
          <p:nvPr/>
        </p:nvPicPr>
        <p:blipFill>
          <a:blip r:embed="rId2"/>
          <a:stretch>
            <a:fillRect/>
          </a:stretch>
        </p:blipFill>
        <p:spPr>
          <a:xfrm>
            <a:off x="0" y="0"/>
            <a:ext cx="9160965" cy="6858000"/>
          </a:xfrm>
          <a:prstGeom prst="rect">
            <a:avLst/>
          </a:prstGeom>
        </p:spPr>
      </p:pic>
      <p:sp>
        <p:nvSpPr>
          <p:cNvPr id="4" name="椭圆 3">
            <a:extLst>
              <a:ext uri="{FF2B5EF4-FFF2-40B4-BE49-F238E27FC236}">
                <a16:creationId xmlns:a16="http://schemas.microsoft.com/office/drawing/2014/main" id="{A3163B8A-1CA8-9AFF-537F-A7A84B98D1A4}"/>
              </a:ext>
            </a:extLst>
          </p:cNvPr>
          <p:cNvSpPr/>
          <p:nvPr/>
        </p:nvSpPr>
        <p:spPr>
          <a:xfrm>
            <a:off x="6226296" y="1668256"/>
            <a:ext cx="928360" cy="7817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5F885E47-ADE6-6316-9101-509296F07D17}"/>
              </a:ext>
            </a:extLst>
          </p:cNvPr>
          <p:cNvSpPr/>
          <p:nvPr/>
        </p:nvSpPr>
        <p:spPr>
          <a:xfrm>
            <a:off x="6226296" y="2532631"/>
            <a:ext cx="928360" cy="7817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0889B41E-66D1-145A-2457-78E627ED5674}"/>
              </a:ext>
            </a:extLst>
          </p:cNvPr>
          <p:cNvSpPr txBox="1"/>
          <p:nvPr/>
        </p:nvSpPr>
        <p:spPr>
          <a:xfrm>
            <a:off x="9160965" y="2265368"/>
            <a:ext cx="2954655" cy="646331"/>
          </a:xfrm>
          <a:prstGeom prst="rect">
            <a:avLst/>
          </a:prstGeom>
          <a:noFill/>
        </p:spPr>
        <p:txBody>
          <a:bodyPr wrap="none" rtlCol="0">
            <a:spAutoFit/>
          </a:bodyPr>
          <a:lstStyle/>
          <a:p>
            <a:r>
              <a:rPr lang="zh-CN" altLang="en-US" dirty="0"/>
              <a:t>为什么我们需要这两个或门</a:t>
            </a:r>
            <a:endParaRPr lang="en-US" altLang="zh-CN" dirty="0"/>
          </a:p>
          <a:p>
            <a:endParaRPr lang="zh-CN" altLang="en-US" dirty="0"/>
          </a:p>
        </p:txBody>
      </p:sp>
      <p:sp>
        <p:nvSpPr>
          <p:cNvPr id="7" name="文本框 6">
            <a:extLst>
              <a:ext uri="{FF2B5EF4-FFF2-40B4-BE49-F238E27FC236}">
                <a16:creationId xmlns:a16="http://schemas.microsoft.com/office/drawing/2014/main" id="{F21B0A0D-6883-B260-4B4C-A86B9F5D702B}"/>
              </a:ext>
            </a:extLst>
          </p:cNvPr>
          <p:cNvSpPr txBox="1"/>
          <p:nvPr/>
        </p:nvSpPr>
        <p:spPr>
          <a:xfrm>
            <a:off x="9160965" y="3129743"/>
            <a:ext cx="2954655" cy="1711944"/>
          </a:xfrm>
          <a:prstGeom prst="rect">
            <a:avLst/>
          </a:prstGeom>
          <a:noFill/>
        </p:spPr>
        <p:txBody>
          <a:bodyPr wrap="none" rtlCol="0">
            <a:spAutoFit/>
          </a:bodyPr>
          <a:lstStyle/>
          <a:p>
            <a:pPr>
              <a:lnSpc>
                <a:spcPct val="150000"/>
              </a:lnSpc>
            </a:pPr>
            <a:r>
              <a:rPr lang="zh-CN" altLang="en-US" dirty="0"/>
              <a:t>直接将两个可能不同节点相</a:t>
            </a:r>
            <a:endParaRPr lang="en-US" altLang="zh-CN" dirty="0"/>
          </a:p>
          <a:p>
            <a:pPr>
              <a:lnSpc>
                <a:spcPct val="150000"/>
              </a:lnSpc>
            </a:pPr>
            <a:r>
              <a:rPr lang="zh-CN" altLang="en-US" dirty="0"/>
              <a:t>连在物理世界中结果是难以</a:t>
            </a:r>
            <a:endParaRPr lang="en-US" altLang="zh-CN" dirty="0"/>
          </a:p>
          <a:p>
            <a:pPr>
              <a:lnSpc>
                <a:spcPct val="150000"/>
              </a:lnSpc>
            </a:pPr>
            <a:r>
              <a:rPr lang="zh-CN" altLang="en-US" dirty="0"/>
              <a:t>预知的，在规范的设计中是</a:t>
            </a:r>
            <a:endParaRPr lang="en-US" altLang="zh-CN" dirty="0"/>
          </a:p>
          <a:p>
            <a:pPr>
              <a:lnSpc>
                <a:spcPct val="150000"/>
              </a:lnSpc>
            </a:pPr>
            <a:r>
              <a:rPr lang="zh-CN" altLang="en-US" dirty="0"/>
              <a:t>不允许的。</a:t>
            </a:r>
          </a:p>
        </p:txBody>
      </p:sp>
      <p:cxnSp>
        <p:nvCxnSpPr>
          <p:cNvPr id="11" name="直接箭头连接符 10">
            <a:extLst>
              <a:ext uri="{FF2B5EF4-FFF2-40B4-BE49-F238E27FC236}">
                <a16:creationId xmlns:a16="http://schemas.microsoft.com/office/drawing/2014/main" id="{D64CE0B6-B902-0207-45BF-F716C4A7D9A0}"/>
              </a:ext>
            </a:extLst>
          </p:cNvPr>
          <p:cNvCxnSpPr/>
          <p:nvPr/>
        </p:nvCxnSpPr>
        <p:spPr>
          <a:xfrm>
            <a:off x="914400" y="1898602"/>
            <a:ext cx="1277368" cy="97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7F9CF972-F665-B637-AD87-15DC4B8DD009}"/>
              </a:ext>
            </a:extLst>
          </p:cNvPr>
          <p:cNvSpPr txBox="1"/>
          <p:nvPr/>
        </p:nvSpPr>
        <p:spPr>
          <a:xfrm>
            <a:off x="174504" y="1483590"/>
            <a:ext cx="4804520" cy="369332"/>
          </a:xfrm>
          <a:prstGeom prst="rect">
            <a:avLst/>
          </a:prstGeom>
          <a:noFill/>
        </p:spPr>
        <p:txBody>
          <a:bodyPr wrap="none" rtlCol="0">
            <a:spAutoFit/>
          </a:bodyPr>
          <a:lstStyle/>
          <a:p>
            <a:r>
              <a:rPr lang="zh-CN" altLang="en-US" dirty="0">
                <a:solidFill>
                  <a:schemeClr val="bg1"/>
                </a:solidFill>
              </a:rPr>
              <a:t>这个点如果有一个</a:t>
            </a:r>
            <a:r>
              <a:rPr lang="en-US" altLang="zh-CN" dirty="0">
                <a:solidFill>
                  <a:schemeClr val="bg1"/>
                </a:solidFill>
              </a:rPr>
              <a:t>0</a:t>
            </a:r>
            <a:r>
              <a:rPr lang="zh-CN" altLang="en-US" dirty="0">
                <a:solidFill>
                  <a:schemeClr val="bg1"/>
                </a:solidFill>
              </a:rPr>
              <a:t>和一个</a:t>
            </a:r>
            <a:r>
              <a:rPr lang="en-US" altLang="zh-CN" dirty="0">
                <a:solidFill>
                  <a:schemeClr val="bg1"/>
                </a:solidFill>
              </a:rPr>
              <a:t>1</a:t>
            </a:r>
            <a:r>
              <a:rPr lang="zh-CN" altLang="en-US" dirty="0">
                <a:solidFill>
                  <a:schemeClr val="bg1"/>
                </a:solidFill>
              </a:rPr>
              <a:t>应该结果是什么？</a:t>
            </a:r>
          </a:p>
        </p:txBody>
      </p:sp>
    </p:spTree>
    <p:extLst>
      <p:ext uri="{BB962C8B-B14F-4D97-AF65-F5344CB8AC3E}">
        <p14:creationId xmlns:p14="http://schemas.microsoft.com/office/powerpoint/2010/main" val="3003365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86F9D-8A28-5463-51FF-ABDB48A0BD0E}"/>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2842F6D-6187-7C7B-4661-6DCE026BB640}"/>
              </a:ext>
            </a:extLst>
          </p:cNvPr>
          <p:cNvPicPr>
            <a:picLocks noChangeAspect="1"/>
          </p:cNvPicPr>
          <p:nvPr/>
        </p:nvPicPr>
        <p:blipFill>
          <a:blip r:embed="rId2"/>
          <a:stretch>
            <a:fillRect/>
          </a:stretch>
        </p:blipFill>
        <p:spPr>
          <a:xfrm>
            <a:off x="0" y="0"/>
            <a:ext cx="9160965" cy="6858000"/>
          </a:xfrm>
          <a:prstGeom prst="rect">
            <a:avLst/>
          </a:prstGeom>
        </p:spPr>
      </p:pic>
      <p:sp>
        <p:nvSpPr>
          <p:cNvPr id="4" name="椭圆 3">
            <a:extLst>
              <a:ext uri="{FF2B5EF4-FFF2-40B4-BE49-F238E27FC236}">
                <a16:creationId xmlns:a16="http://schemas.microsoft.com/office/drawing/2014/main" id="{F1A010B6-FC2A-4436-A1D2-FEA403983BA3}"/>
              </a:ext>
            </a:extLst>
          </p:cNvPr>
          <p:cNvSpPr/>
          <p:nvPr/>
        </p:nvSpPr>
        <p:spPr>
          <a:xfrm>
            <a:off x="6226296" y="1668256"/>
            <a:ext cx="928360" cy="7817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E0C36D48-8D51-4DE1-1ECD-AB03B357893F}"/>
              </a:ext>
            </a:extLst>
          </p:cNvPr>
          <p:cNvSpPr/>
          <p:nvPr/>
        </p:nvSpPr>
        <p:spPr>
          <a:xfrm>
            <a:off x="6226296" y="2532631"/>
            <a:ext cx="928360" cy="7817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6F70AB2-2133-1CFF-D73D-BD5C3C47DB37}"/>
              </a:ext>
            </a:extLst>
          </p:cNvPr>
          <p:cNvSpPr txBox="1"/>
          <p:nvPr/>
        </p:nvSpPr>
        <p:spPr>
          <a:xfrm>
            <a:off x="9160965" y="2265368"/>
            <a:ext cx="2954655" cy="646331"/>
          </a:xfrm>
          <a:prstGeom prst="rect">
            <a:avLst/>
          </a:prstGeom>
          <a:noFill/>
        </p:spPr>
        <p:txBody>
          <a:bodyPr wrap="none" rtlCol="0">
            <a:spAutoFit/>
          </a:bodyPr>
          <a:lstStyle/>
          <a:p>
            <a:r>
              <a:rPr lang="zh-CN" altLang="en-US" dirty="0"/>
              <a:t>为什么我们需要这两个与门</a:t>
            </a:r>
            <a:endParaRPr lang="en-US" altLang="zh-CN" dirty="0"/>
          </a:p>
          <a:p>
            <a:endParaRPr lang="zh-CN" altLang="en-US" dirty="0"/>
          </a:p>
        </p:txBody>
      </p:sp>
      <p:sp>
        <p:nvSpPr>
          <p:cNvPr id="7" name="文本框 6">
            <a:extLst>
              <a:ext uri="{FF2B5EF4-FFF2-40B4-BE49-F238E27FC236}">
                <a16:creationId xmlns:a16="http://schemas.microsoft.com/office/drawing/2014/main" id="{A40E39FB-666A-6B29-ACBD-6768293466AC}"/>
              </a:ext>
            </a:extLst>
          </p:cNvPr>
          <p:cNvSpPr txBox="1"/>
          <p:nvPr/>
        </p:nvSpPr>
        <p:spPr>
          <a:xfrm>
            <a:off x="9160965" y="3129743"/>
            <a:ext cx="2954655" cy="1711944"/>
          </a:xfrm>
          <a:prstGeom prst="rect">
            <a:avLst/>
          </a:prstGeom>
          <a:noFill/>
        </p:spPr>
        <p:txBody>
          <a:bodyPr wrap="none" rtlCol="0">
            <a:spAutoFit/>
          </a:bodyPr>
          <a:lstStyle/>
          <a:p>
            <a:pPr>
              <a:lnSpc>
                <a:spcPct val="150000"/>
              </a:lnSpc>
            </a:pPr>
            <a:r>
              <a:rPr lang="zh-CN" altLang="en-US" dirty="0"/>
              <a:t>直接将两个可能不同节点相</a:t>
            </a:r>
            <a:endParaRPr lang="en-US" altLang="zh-CN" dirty="0"/>
          </a:p>
          <a:p>
            <a:pPr>
              <a:lnSpc>
                <a:spcPct val="150000"/>
              </a:lnSpc>
            </a:pPr>
            <a:r>
              <a:rPr lang="zh-CN" altLang="en-US" dirty="0"/>
              <a:t>连在物理世界中结果是难以</a:t>
            </a:r>
            <a:endParaRPr lang="en-US" altLang="zh-CN" dirty="0"/>
          </a:p>
          <a:p>
            <a:pPr>
              <a:lnSpc>
                <a:spcPct val="150000"/>
              </a:lnSpc>
            </a:pPr>
            <a:r>
              <a:rPr lang="zh-CN" altLang="en-US" dirty="0"/>
              <a:t>预知的，在规范的设计中是</a:t>
            </a:r>
            <a:endParaRPr lang="en-US" altLang="zh-CN" dirty="0"/>
          </a:p>
          <a:p>
            <a:pPr>
              <a:lnSpc>
                <a:spcPct val="150000"/>
              </a:lnSpc>
            </a:pPr>
            <a:r>
              <a:rPr lang="zh-CN" altLang="en-US" dirty="0"/>
              <a:t>不允许的。</a:t>
            </a:r>
          </a:p>
        </p:txBody>
      </p:sp>
      <p:cxnSp>
        <p:nvCxnSpPr>
          <p:cNvPr id="11" name="直接箭头连接符 10">
            <a:extLst>
              <a:ext uri="{FF2B5EF4-FFF2-40B4-BE49-F238E27FC236}">
                <a16:creationId xmlns:a16="http://schemas.microsoft.com/office/drawing/2014/main" id="{6526A2DB-9076-F669-7858-ED74E7B40338}"/>
              </a:ext>
            </a:extLst>
          </p:cNvPr>
          <p:cNvCxnSpPr/>
          <p:nvPr/>
        </p:nvCxnSpPr>
        <p:spPr>
          <a:xfrm>
            <a:off x="914400" y="1898602"/>
            <a:ext cx="1277368" cy="97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1C4E6968-C965-B6A7-6604-AA4A329A87E9}"/>
              </a:ext>
            </a:extLst>
          </p:cNvPr>
          <p:cNvSpPr txBox="1"/>
          <p:nvPr/>
        </p:nvSpPr>
        <p:spPr>
          <a:xfrm>
            <a:off x="174504" y="1483590"/>
            <a:ext cx="4804520" cy="369332"/>
          </a:xfrm>
          <a:prstGeom prst="rect">
            <a:avLst/>
          </a:prstGeom>
          <a:noFill/>
        </p:spPr>
        <p:txBody>
          <a:bodyPr wrap="none" rtlCol="0">
            <a:spAutoFit/>
          </a:bodyPr>
          <a:lstStyle/>
          <a:p>
            <a:r>
              <a:rPr lang="zh-CN" altLang="en-US" dirty="0">
                <a:solidFill>
                  <a:schemeClr val="bg1"/>
                </a:solidFill>
              </a:rPr>
              <a:t>这个点如果有一个</a:t>
            </a:r>
            <a:r>
              <a:rPr lang="en-US" altLang="zh-CN" dirty="0">
                <a:solidFill>
                  <a:schemeClr val="bg1"/>
                </a:solidFill>
              </a:rPr>
              <a:t>0</a:t>
            </a:r>
            <a:r>
              <a:rPr lang="zh-CN" altLang="en-US" dirty="0">
                <a:solidFill>
                  <a:schemeClr val="bg1"/>
                </a:solidFill>
              </a:rPr>
              <a:t>和一个</a:t>
            </a:r>
            <a:r>
              <a:rPr lang="en-US" altLang="zh-CN" dirty="0">
                <a:solidFill>
                  <a:schemeClr val="bg1"/>
                </a:solidFill>
              </a:rPr>
              <a:t>1</a:t>
            </a:r>
            <a:r>
              <a:rPr lang="zh-CN" altLang="en-US" dirty="0">
                <a:solidFill>
                  <a:schemeClr val="bg1"/>
                </a:solidFill>
              </a:rPr>
              <a:t>应该结果是什么？</a:t>
            </a:r>
          </a:p>
        </p:txBody>
      </p:sp>
    </p:spTree>
    <p:extLst>
      <p:ext uri="{BB962C8B-B14F-4D97-AF65-F5344CB8AC3E}">
        <p14:creationId xmlns:p14="http://schemas.microsoft.com/office/powerpoint/2010/main" val="165713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A9B601E-2A0C-ECEF-0CDA-EA5DC8A7AD2B}"/>
              </a:ext>
            </a:extLst>
          </p:cNvPr>
          <p:cNvPicPr>
            <a:picLocks noChangeAspect="1"/>
          </p:cNvPicPr>
          <p:nvPr/>
        </p:nvPicPr>
        <p:blipFill>
          <a:blip r:embed="rId2"/>
          <a:stretch>
            <a:fillRect/>
          </a:stretch>
        </p:blipFill>
        <p:spPr>
          <a:xfrm>
            <a:off x="0" y="0"/>
            <a:ext cx="9150385" cy="6858000"/>
          </a:xfrm>
          <a:prstGeom prst="rect">
            <a:avLst/>
          </a:prstGeom>
        </p:spPr>
      </p:pic>
      <p:sp>
        <p:nvSpPr>
          <p:cNvPr id="4" name="椭圆 3">
            <a:extLst>
              <a:ext uri="{FF2B5EF4-FFF2-40B4-BE49-F238E27FC236}">
                <a16:creationId xmlns:a16="http://schemas.microsoft.com/office/drawing/2014/main" id="{1A24691E-6BB8-11FE-C4F1-A0FB886BDB55}"/>
              </a:ext>
            </a:extLst>
          </p:cNvPr>
          <p:cNvSpPr/>
          <p:nvPr/>
        </p:nvSpPr>
        <p:spPr>
          <a:xfrm>
            <a:off x="441960" y="952500"/>
            <a:ext cx="2948940" cy="30784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A3C90BD1-9E80-C8C7-E432-A8334541F133}"/>
              </a:ext>
            </a:extLst>
          </p:cNvPr>
          <p:cNvSpPr txBox="1"/>
          <p:nvPr/>
        </p:nvSpPr>
        <p:spPr>
          <a:xfrm>
            <a:off x="9319260" y="2122408"/>
            <a:ext cx="2289858" cy="369332"/>
          </a:xfrm>
          <a:prstGeom prst="rect">
            <a:avLst/>
          </a:prstGeom>
          <a:noFill/>
        </p:spPr>
        <p:txBody>
          <a:bodyPr wrap="none" rtlCol="0">
            <a:spAutoFit/>
          </a:bodyPr>
          <a:lstStyle/>
          <a:p>
            <a:r>
              <a:rPr lang="zh-CN" altLang="en-US" dirty="0"/>
              <a:t>这个结构起什么作用</a:t>
            </a:r>
          </a:p>
        </p:txBody>
      </p:sp>
      <p:sp>
        <p:nvSpPr>
          <p:cNvPr id="6" name="文本框 5">
            <a:extLst>
              <a:ext uri="{FF2B5EF4-FFF2-40B4-BE49-F238E27FC236}">
                <a16:creationId xmlns:a16="http://schemas.microsoft.com/office/drawing/2014/main" id="{5D8216B7-EE4B-8A67-90F8-37059B5203A0}"/>
              </a:ext>
            </a:extLst>
          </p:cNvPr>
          <p:cNvSpPr txBox="1"/>
          <p:nvPr/>
        </p:nvSpPr>
        <p:spPr>
          <a:xfrm>
            <a:off x="9319260" y="2834640"/>
            <a:ext cx="2262158" cy="646331"/>
          </a:xfrm>
          <a:prstGeom prst="rect">
            <a:avLst/>
          </a:prstGeom>
          <a:noFill/>
        </p:spPr>
        <p:txBody>
          <a:bodyPr wrap="none" rtlCol="0">
            <a:spAutoFit/>
          </a:bodyPr>
          <a:lstStyle/>
          <a:p>
            <a:r>
              <a:rPr lang="zh-CN" altLang="en-US" dirty="0"/>
              <a:t>保证下一级输入合法</a:t>
            </a:r>
            <a:endParaRPr lang="en-US" altLang="zh-CN" dirty="0"/>
          </a:p>
          <a:p>
            <a:r>
              <a:rPr lang="zh-CN" altLang="en-US" dirty="0"/>
              <a:t>（怎么保证）</a:t>
            </a:r>
          </a:p>
        </p:txBody>
      </p:sp>
    </p:spTree>
    <p:extLst>
      <p:ext uri="{BB962C8B-B14F-4D97-AF65-F5344CB8AC3E}">
        <p14:creationId xmlns:p14="http://schemas.microsoft.com/office/powerpoint/2010/main" val="1714140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22D6B2D-3EC4-36AF-ADB1-010C2A06B0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357767" cy="6858000"/>
          </a:xfrm>
          <a:prstGeom prst="rect">
            <a:avLst/>
          </a:prstGeom>
        </p:spPr>
      </p:pic>
      <p:sp>
        <p:nvSpPr>
          <p:cNvPr id="4" name="文本框 3">
            <a:extLst>
              <a:ext uri="{FF2B5EF4-FFF2-40B4-BE49-F238E27FC236}">
                <a16:creationId xmlns:a16="http://schemas.microsoft.com/office/drawing/2014/main" id="{2CDC6F57-968A-4716-A41A-6952B2E022C4}"/>
              </a:ext>
            </a:extLst>
          </p:cNvPr>
          <p:cNvSpPr txBox="1"/>
          <p:nvPr/>
        </p:nvSpPr>
        <p:spPr>
          <a:xfrm>
            <a:off x="9357767" y="2415540"/>
            <a:ext cx="184731" cy="369332"/>
          </a:xfrm>
          <a:prstGeom prst="rect">
            <a:avLst/>
          </a:prstGeom>
          <a:noFill/>
        </p:spPr>
        <p:txBody>
          <a:bodyPr wrap="none" rtlCol="0">
            <a:spAutoFit/>
          </a:bodyPr>
          <a:lstStyle/>
          <a:p>
            <a:endParaRPr lang="zh-CN" altLang="en-US" dirty="0"/>
          </a:p>
        </p:txBody>
      </p:sp>
      <p:sp>
        <p:nvSpPr>
          <p:cNvPr id="5" name="文本框 4">
            <a:extLst>
              <a:ext uri="{FF2B5EF4-FFF2-40B4-BE49-F238E27FC236}">
                <a16:creationId xmlns:a16="http://schemas.microsoft.com/office/drawing/2014/main" id="{B23FBC6A-E702-E636-A844-D95C292583C3}"/>
              </a:ext>
            </a:extLst>
          </p:cNvPr>
          <p:cNvSpPr txBox="1"/>
          <p:nvPr/>
        </p:nvSpPr>
        <p:spPr>
          <a:xfrm>
            <a:off x="9367188" y="3985260"/>
            <a:ext cx="2723823" cy="880947"/>
          </a:xfrm>
          <a:prstGeom prst="rect">
            <a:avLst/>
          </a:prstGeom>
          <a:noFill/>
        </p:spPr>
        <p:txBody>
          <a:bodyPr wrap="none" rtlCol="0">
            <a:spAutoFit/>
          </a:bodyPr>
          <a:lstStyle/>
          <a:p>
            <a:pPr>
              <a:lnSpc>
                <a:spcPct val="150000"/>
              </a:lnSpc>
            </a:pPr>
            <a:r>
              <a:rPr lang="zh-CN" altLang="en-US" dirty="0"/>
              <a:t>为什么使用触发器，而非</a:t>
            </a:r>
            <a:endParaRPr lang="en-US" altLang="zh-CN" dirty="0"/>
          </a:p>
          <a:p>
            <a:pPr>
              <a:lnSpc>
                <a:spcPct val="150000"/>
              </a:lnSpc>
            </a:pPr>
            <a:r>
              <a:rPr lang="zh-CN" altLang="en-US" dirty="0"/>
              <a:t>单纯的锁存器？</a:t>
            </a:r>
          </a:p>
        </p:txBody>
      </p:sp>
    </p:spTree>
    <p:extLst>
      <p:ext uri="{BB962C8B-B14F-4D97-AF65-F5344CB8AC3E}">
        <p14:creationId xmlns:p14="http://schemas.microsoft.com/office/powerpoint/2010/main" val="1764682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683C973-BC75-E52E-8524-E101F32A1810}"/>
              </a:ext>
            </a:extLst>
          </p:cNvPr>
          <p:cNvPicPr>
            <a:picLocks noChangeAspect="1"/>
          </p:cNvPicPr>
          <p:nvPr/>
        </p:nvPicPr>
        <p:blipFill>
          <a:blip r:embed="rId2"/>
          <a:stretch>
            <a:fillRect/>
          </a:stretch>
        </p:blipFill>
        <p:spPr>
          <a:xfrm>
            <a:off x="0" y="0"/>
            <a:ext cx="5471468" cy="6858000"/>
          </a:xfrm>
          <a:prstGeom prst="rect">
            <a:avLst/>
          </a:prstGeom>
        </p:spPr>
      </p:pic>
    </p:spTree>
    <p:extLst>
      <p:ext uri="{BB962C8B-B14F-4D97-AF65-F5344CB8AC3E}">
        <p14:creationId xmlns:p14="http://schemas.microsoft.com/office/powerpoint/2010/main" val="3347970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1079B0-C8A2-CEE0-295B-F58DF4FFCF10}"/>
              </a:ext>
            </a:extLst>
          </p:cNvPr>
          <p:cNvSpPr>
            <a:spLocks noGrp="1"/>
          </p:cNvSpPr>
          <p:nvPr>
            <p:ph type="title"/>
          </p:nvPr>
        </p:nvSpPr>
        <p:spPr/>
        <p:txBody>
          <a:bodyPr/>
          <a:lstStyle/>
          <a:p>
            <a:r>
              <a:rPr lang="en-US" altLang="zh-CN" dirty="0"/>
              <a:t>RISC &amp; CISC</a:t>
            </a:r>
            <a:endParaRPr lang="zh-CN" altLang="en-US" dirty="0"/>
          </a:p>
        </p:txBody>
      </p:sp>
      <p:sp>
        <p:nvSpPr>
          <p:cNvPr id="3" name="文本占位符 2">
            <a:extLst>
              <a:ext uri="{FF2B5EF4-FFF2-40B4-BE49-F238E27FC236}">
                <a16:creationId xmlns:a16="http://schemas.microsoft.com/office/drawing/2014/main" id="{3B835492-1533-CD91-5F14-C2F855841A2E}"/>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70735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B6EF847A-D801-9F72-0A0B-261B9333F098}"/>
              </a:ext>
            </a:extLst>
          </p:cNvPr>
          <p:cNvPicPr>
            <a:picLocks noGrp="1" noChangeAspect="1"/>
          </p:cNvPicPr>
          <p:nvPr>
            <p:ph idx="1"/>
          </p:nvPr>
        </p:nvPicPr>
        <p:blipFill>
          <a:blip r:embed="rId3"/>
          <a:stretch>
            <a:fillRect/>
          </a:stretch>
        </p:blipFill>
        <p:spPr>
          <a:xfrm>
            <a:off x="0" y="0"/>
            <a:ext cx="9342901" cy="6858000"/>
          </a:xfrm>
          <a:prstGeom prst="rect">
            <a:avLst/>
          </a:prstGeom>
        </p:spPr>
      </p:pic>
      <p:sp>
        <p:nvSpPr>
          <p:cNvPr id="5" name="文本框 4">
            <a:extLst>
              <a:ext uri="{FF2B5EF4-FFF2-40B4-BE49-F238E27FC236}">
                <a16:creationId xmlns:a16="http://schemas.microsoft.com/office/drawing/2014/main" id="{B4ACCE89-62AE-5F8A-B18B-E02DF8CCB9B2}"/>
              </a:ext>
            </a:extLst>
          </p:cNvPr>
          <p:cNvSpPr txBox="1"/>
          <p:nvPr/>
        </p:nvSpPr>
        <p:spPr>
          <a:xfrm>
            <a:off x="9430186" y="1884641"/>
            <a:ext cx="2031325" cy="369332"/>
          </a:xfrm>
          <a:prstGeom prst="rect">
            <a:avLst/>
          </a:prstGeom>
          <a:noFill/>
        </p:spPr>
        <p:txBody>
          <a:bodyPr wrap="none" rtlCol="0">
            <a:spAutoFit/>
          </a:bodyPr>
          <a:lstStyle/>
          <a:p>
            <a:r>
              <a:rPr lang="zh-CN" altLang="en-US" dirty="0"/>
              <a:t>为了精简解码电路</a:t>
            </a:r>
          </a:p>
        </p:txBody>
      </p:sp>
      <p:sp>
        <p:nvSpPr>
          <p:cNvPr id="6" name="文本框 5">
            <a:extLst>
              <a:ext uri="{FF2B5EF4-FFF2-40B4-BE49-F238E27FC236}">
                <a16:creationId xmlns:a16="http://schemas.microsoft.com/office/drawing/2014/main" id="{8A32CE0A-2D9E-AFD5-7592-61D77A6CC669}"/>
              </a:ext>
            </a:extLst>
          </p:cNvPr>
          <p:cNvSpPr txBox="1"/>
          <p:nvPr/>
        </p:nvSpPr>
        <p:spPr>
          <a:xfrm>
            <a:off x="9430185" y="3502873"/>
            <a:ext cx="2031325" cy="369332"/>
          </a:xfrm>
          <a:prstGeom prst="rect">
            <a:avLst/>
          </a:prstGeom>
          <a:noFill/>
        </p:spPr>
        <p:txBody>
          <a:bodyPr wrap="none" rtlCol="0">
            <a:spAutoFit/>
          </a:bodyPr>
          <a:lstStyle/>
          <a:p>
            <a:r>
              <a:rPr lang="zh-CN" altLang="en-US" dirty="0"/>
              <a:t>为了精简解码电路</a:t>
            </a:r>
          </a:p>
        </p:txBody>
      </p:sp>
      <p:sp>
        <p:nvSpPr>
          <p:cNvPr id="7" name="文本框 6">
            <a:extLst>
              <a:ext uri="{FF2B5EF4-FFF2-40B4-BE49-F238E27FC236}">
                <a16:creationId xmlns:a16="http://schemas.microsoft.com/office/drawing/2014/main" id="{8778F3E0-3DFF-6219-14A3-37DEEBA29E7D}"/>
              </a:ext>
            </a:extLst>
          </p:cNvPr>
          <p:cNvSpPr txBox="1"/>
          <p:nvPr/>
        </p:nvSpPr>
        <p:spPr>
          <a:xfrm>
            <a:off x="9430185" y="6003598"/>
            <a:ext cx="2443298" cy="646331"/>
          </a:xfrm>
          <a:prstGeom prst="rect">
            <a:avLst/>
          </a:prstGeom>
          <a:noFill/>
        </p:spPr>
        <p:txBody>
          <a:bodyPr wrap="none" rtlCol="0">
            <a:spAutoFit/>
          </a:bodyPr>
          <a:lstStyle/>
          <a:p>
            <a:r>
              <a:rPr lang="en-US" altLang="zh-CN" dirty="0"/>
              <a:t>RISC</a:t>
            </a:r>
            <a:r>
              <a:rPr lang="zh-CN" altLang="en-US" dirty="0"/>
              <a:t>兴盛在多寄存器的</a:t>
            </a:r>
            <a:endParaRPr lang="en-US" altLang="zh-CN" dirty="0"/>
          </a:p>
          <a:p>
            <a:r>
              <a:rPr lang="zh-CN" altLang="en-US" dirty="0"/>
              <a:t>时代</a:t>
            </a:r>
          </a:p>
        </p:txBody>
      </p:sp>
      <p:sp>
        <p:nvSpPr>
          <p:cNvPr id="8" name="文本框 7">
            <a:extLst>
              <a:ext uri="{FF2B5EF4-FFF2-40B4-BE49-F238E27FC236}">
                <a16:creationId xmlns:a16="http://schemas.microsoft.com/office/drawing/2014/main" id="{EDCCDE0B-D7D9-F457-B414-E40235233763}"/>
              </a:ext>
            </a:extLst>
          </p:cNvPr>
          <p:cNvSpPr txBox="1"/>
          <p:nvPr/>
        </p:nvSpPr>
        <p:spPr>
          <a:xfrm>
            <a:off x="9430185" y="5182764"/>
            <a:ext cx="2443298" cy="646331"/>
          </a:xfrm>
          <a:prstGeom prst="rect">
            <a:avLst/>
          </a:prstGeom>
          <a:noFill/>
        </p:spPr>
        <p:txBody>
          <a:bodyPr wrap="none" rtlCol="0">
            <a:spAutoFit/>
          </a:bodyPr>
          <a:lstStyle/>
          <a:p>
            <a:r>
              <a:rPr lang="en-US" altLang="zh-CN" dirty="0"/>
              <a:t>RISC</a:t>
            </a:r>
            <a:r>
              <a:rPr lang="zh-CN" altLang="en-US" dirty="0"/>
              <a:t>为了流水线化，不</a:t>
            </a:r>
            <a:endParaRPr lang="en-US" altLang="zh-CN" dirty="0"/>
          </a:p>
          <a:p>
            <a:r>
              <a:rPr lang="zh-CN" altLang="en-US" dirty="0"/>
              <a:t>希望指令间相互影响</a:t>
            </a:r>
          </a:p>
        </p:txBody>
      </p:sp>
      <p:sp>
        <p:nvSpPr>
          <p:cNvPr id="9" name="文本框 8">
            <a:extLst>
              <a:ext uri="{FF2B5EF4-FFF2-40B4-BE49-F238E27FC236}">
                <a16:creationId xmlns:a16="http://schemas.microsoft.com/office/drawing/2014/main" id="{18CE1735-443C-050A-D66B-E0A528EEA88A}"/>
              </a:ext>
            </a:extLst>
          </p:cNvPr>
          <p:cNvSpPr txBox="1"/>
          <p:nvPr/>
        </p:nvSpPr>
        <p:spPr>
          <a:xfrm>
            <a:off x="9430185" y="4280862"/>
            <a:ext cx="2212465" cy="646331"/>
          </a:xfrm>
          <a:prstGeom prst="rect">
            <a:avLst/>
          </a:prstGeom>
          <a:noFill/>
        </p:spPr>
        <p:txBody>
          <a:bodyPr wrap="none" rtlCol="0">
            <a:spAutoFit/>
          </a:bodyPr>
          <a:lstStyle/>
          <a:p>
            <a:r>
              <a:rPr lang="en-US" altLang="zh-CN" dirty="0"/>
              <a:t>RISC</a:t>
            </a:r>
            <a:r>
              <a:rPr lang="zh-CN" altLang="en-US" dirty="0"/>
              <a:t>为了流水线化产</a:t>
            </a:r>
            <a:endParaRPr lang="en-US" altLang="zh-CN" dirty="0"/>
          </a:p>
          <a:p>
            <a:r>
              <a:rPr lang="zh-CN" altLang="en-US" dirty="0"/>
              <a:t>生的历史遗留问题</a:t>
            </a:r>
          </a:p>
        </p:txBody>
      </p:sp>
    </p:spTree>
    <p:extLst>
      <p:ext uri="{BB962C8B-B14F-4D97-AF65-F5344CB8AC3E}">
        <p14:creationId xmlns:p14="http://schemas.microsoft.com/office/powerpoint/2010/main" val="1151783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A81802-1425-E1FE-D778-95E18C5E66F7}"/>
              </a:ext>
            </a:extLst>
          </p:cNvPr>
          <p:cNvSpPr>
            <a:spLocks noGrp="1"/>
          </p:cNvSpPr>
          <p:nvPr>
            <p:ph type="title"/>
          </p:nvPr>
        </p:nvSpPr>
        <p:spPr/>
        <p:txBody>
          <a:bodyPr/>
          <a:lstStyle/>
          <a:p>
            <a:r>
              <a:rPr lang="en-US" altLang="zh-CN" dirty="0"/>
              <a:t>Extended topic:</a:t>
            </a:r>
            <a:endParaRPr lang="zh-CN" altLang="en-US" dirty="0"/>
          </a:p>
        </p:txBody>
      </p:sp>
      <p:sp>
        <p:nvSpPr>
          <p:cNvPr id="3" name="内容占位符 2">
            <a:extLst>
              <a:ext uri="{FF2B5EF4-FFF2-40B4-BE49-F238E27FC236}">
                <a16:creationId xmlns:a16="http://schemas.microsoft.com/office/drawing/2014/main" id="{E31B434A-8245-6F0B-5B9F-731DB48EC71B}"/>
              </a:ext>
            </a:extLst>
          </p:cNvPr>
          <p:cNvSpPr>
            <a:spLocks noGrp="1"/>
          </p:cNvSpPr>
          <p:nvPr>
            <p:ph idx="1"/>
          </p:nvPr>
        </p:nvSpPr>
        <p:spPr/>
        <p:txBody>
          <a:bodyPr>
            <a:normAutofit/>
          </a:bodyPr>
          <a:lstStyle/>
          <a:p>
            <a:pPr>
              <a:lnSpc>
                <a:spcPct val="150000"/>
              </a:lnSpc>
            </a:pPr>
            <a:r>
              <a:rPr lang="zh-CN" altLang="en-US" sz="2400" dirty="0"/>
              <a:t>拓展研讨：基于课件第</a:t>
            </a:r>
            <a:r>
              <a:rPr lang="en-US" altLang="zh-CN" sz="2400" dirty="0"/>
              <a:t>16 </a:t>
            </a:r>
            <a:r>
              <a:rPr lang="zh-CN" altLang="en-US" sz="2400" dirty="0"/>
              <a:t>页，调研</a:t>
            </a:r>
            <a:r>
              <a:rPr lang="en-US" altLang="zh-CN" sz="2400" dirty="0"/>
              <a:t>x86-64 </a:t>
            </a:r>
            <a:r>
              <a:rPr lang="zh-CN" altLang="en-US" sz="2400" dirty="0"/>
              <a:t>中</a:t>
            </a:r>
            <a:r>
              <a:rPr lang="en-US" altLang="zh-CN" sz="2400" dirty="0"/>
              <a:t>Jump </a:t>
            </a:r>
            <a:r>
              <a:rPr lang="zh-CN" altLang="en-US" sz="2400" dirty="0"/>
              <a:t>类指令采用的寻址方式（是</a:t>
            </a:r>
            <a:r>
              <a:rPr lang="en-US" altLang="zh-CN" sz="2400" dirty="0"/>
              <a:t>PC</a:t>
            </a:r>
            <a:r>
              <a:rPr lang="zh-CN" altLang="en-US" sz="2400" dirty="0"/>
              <a:t>相对寻址还是有其他方式），分析</a:t>
            </a:r>
            <a:r>
              <a:rPr lang="en-US" altLang="zh-CN" sz="2400" dirty="0"/>
              <a:t>Y86 </a:t>
            </a:r>
            <a:r>
              <a:rPr lang="zh-CN" altLang="en-US" sz="2400" dirty="0"/>
              <a:t>采用完整的绝对地址是出于什么考虑。</a:t>
            </a:r>
          </a:p>
        </p:txBody>
      </p:sp>
    </p:spTree>
    <p:extLst>
      <p:ext uri="{BB962C8B-B14F-4D97-AF65-F5344CB8AC3E}">
        <p14:creationId xmlns:p14="http://schemas.microsoft.com/office/powerpoint/2010/main" val="3996157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C169157-FB92-8586-6A44-A69545F10042}"/>
              </a:ext>
            </a:extLst>
          </p:cNvPr>
          <p:cNvPicPr>
            <a:picLocks noChangeAspect="1"/>
          </p:cNvPicPr>
          <p:nvPr/>
        </p:nvPicPr>
        <p:blipFill>
          <a:blip r:embed="rId3"/>
          <a:stretch>
            <a:fillRect/>
          </a:stretch>
        </p:blipFill>
        <p:spPr>
          <a:xfrm>
            <a:off x="1470967" y="475838"/>
            <a:ext cx="9250066" cy="5906324"/>
          </a:xfrm>
          <a:prstGeom prst="rect">
            <a:avLst/>
          </a:prstGeom>
        </p:spPr>
      </p:pic>
      <p:cxnSp>
        <p:nvCxnSpPr>
          <p:cNvPr id="5" name="直接连接符 4">
            <a:extLst>
              <a:ext uri="{FF2B5EF4-FFF2-40B4-BE49-F238E27FC236}">
                <a16:creationId xmlns:a16="http://schemas.microsoft.com/office/drawing/2014/main" id="{3C173520-7526-236E-5ABD-54E87204C920}"/>
              </a:ext>
            </a:extLst>
          </p:cNvPr>
          <p:cNvCxnSpPr/>
          <p:nvPr/>
        </p:nvCxnSpPr>
        <p:spPr>
          <a:xfrm>
            <a:off x="914400" y="2854883"/>
            <a:ext cx="10519090" cy="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6" name="直接连接符 5">
            <a:extLst>
              <a:ext uri="{FF2B5EF4-FFF2-40B4-BE49-F238E27FC236}">
                <a16:creationId xmlns:a16="http://schemas.microsoft.com/office/drawing/2014/main" id="{82C4E538-0BA6-B7CC-0952-54F9190F8A2A}"/>
              </a:ext>
            </a:extLst>
          </p:cNvPr>
          <p:cNvCxnSpPr/>
          <p:nvPr/>
        </p:nvCxnSpPr>
        <p:spPr>
          <a:xfrm>
            <a:off x="836455" y="4361432"/>
            <a:ext cx="10519090" cy="0"/>
          </a:xfrm>
          <a:prstGeom prst="line">
            <a:avLst/>
          </a:prstGeom>
          <a:ln w="1905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59527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98CEEF0-ADCB-9155-9606-FA238F0EC5C0}"/>
              </a:ext>
            </a:extLst>
          </p:cNvPr>
          <p:cNvSpPr>
            <a:spLocks noGrp="1"/>
          </p:cNvSpPr>
          <p:nvPr>
            <p:ph idx="1"/>
          </p:nvPr>
        </p:nvSpPr>
        <p:spPr>
          <a:xfrm>
            <a:off x="838200" y="446730"/>
            <a:ext cx="10515600" cy="5730233"/>
          </a:xfrm>
        </p:spPr>
        <p:txBody>
          <a:bodyPr>
            <a:normAutofit fontScale="92500" lnSpcReduction="10000"/>
          </a:bodyPr>
          <a:lstStyle/>
          <a:p>
            <a:pPr>
              <a:lnSpc>
                <a:spcPct val="150000"/>
              </a:lnSpc>
            </a:pPr>
            <a:r>
              <a:rPr lang="en-US" altLang="zh-CN" sz="2400" dirty="0"/>
              <a:t>Transfers program control to a different point in the instruction stream without recording return information. The destination (target) operand specifies the address of the instruction being jumped to. This operand can be an </a:t>
            </a:r>
            <a:r>
              <a:rPr lang="en-US" altLang="zh-CN" sz="2400" b="1" dirty="0"/>
              <a:t>immediate value</a:t>
            </a:r>
            <a:r>
              <a:rPr lang="en-US" altLang="zh-CN" sz="2400" dirty="0"/>
              <a:t>, a </a:t>
            </a:r>
            <a:r>
              <a:rPr lang="en-US" altLang="zh-CN" sz="2400" b="1" dirty="0"/>
              <a:t>general-purpose register</a:t>
            </a:r>
            <a:r>
              <a:rPr lang="en-US" altLang="zh-CN" sz="2400" dirty="0"/>
              <a:t>, or a </a:t>
            </a:r>
            <a:r>
              <a:rPr lang="en-US" altLang="zh-CN" sz="2400" b="1" dirty="0"/>
              <a:t>memory location</a:t>
            </a:r>
            <a:r>
              <a:rPr lang="en-US" altLang="zh-CN" sz="2400" dirty="0"/>
              <a:t>.</a:t>
            </a:r>
          </a:p>
          <a:p>
            <a:pPr>
              <a:lnSpc>
                <a:spcPct val="150000"/>
              </a:lnSpc>
            </a:pPr>
            <a:r>
              <a:rPr lang="en-US" altLang="zh-CN" sz="2400" dirty="0"/>
              <a:t>This instruction can be used to execute four different types of jumps:</a:t>
            </a:r>
          </a:p>
          <a:p>
            <a:pPr lvl="1">
              <a:lnSpc>
                <a:spcPct val="150000"/>
              </a:lnSpc>
            </a:pPr>
            <a:r>
              <a:rPr lang="en-US" altLang="zh-CN" sz="2000" dirty="0"/>
              <a:t> Near jump—A jump to an instruction within the current code segment (the segment currently pointed to by the CS register), sometimes referred to as an </a:t>
            </a:r>
            <a:r>
              <a:rPr lang="en-US" altLang="zh-CN" sz="2000" dirty="0" err="1"/>
              <a:t>intrasegment</a:t>
            </a:r>
            <a:r>
              <a:rPr lang="en-US" altLang="zh-CN" sz="2000" dirty="0"/>
              <a:t> jump.</a:t>
            </a:r>
          </a:p>
          <a:p>
            <a:pPr lvl="1">
              <a:lnSpc>
                <a:spcPct val="150000"/>
              </a:lnSpc>
            </a:pPr>
            <a:r>
              <a:rPr lang="en-US" altLang="zh-CN" sz="2000" dirty="0"/>
              <a:t> Short jump—A near jump where the jump range is limited to –128 to +127 from the current EIP value.</a:t>
            </a:r>
          </a:p>
          <a:p>
            <a:pPr lvl="1">
              <a:lnSpc>
                <a:spcPct val="150000"/>
              </a:lnSpc>
            </a:pPr>
            <a:r>
              <a:rPr lang="en-US" altLang="zh-CN" sz="2000" dirty="0"/>
              <a:t>Far jump—A jump to an instruction located in a different segment than the current code segment but at </a:t>
            </a:r>
            <a:r>
              <a:rPr lang="en-US" altLang="zh-CN" sz="2100" dirty="0"/>
              <a:t>the same privilege level, sometimes referred to as an intersegment jump.</a:t>
            </a:r>
          </a:p>
          <a:p>
            <a:pPr lvl="1">
              <a:lnSpc>
                <a:spcPct val="150000"/>
              </a:lnSpc>
            </a:pPr>
            <a:r>
              <a:rPr lang="en-US" altLang="zh-CN" sz="2000" dirty="0"/>
              <a:t>Task switch—A jump to an instruction located in a different task.</a:t>
            </a:r>
            <a:endParaRPr lang="zh-CN" altLang="en-US" sz="2000" dirty="0"/>
          </a:p>
        </p:txBody>
      </p:sp>
    </p:spTree>
    <p:extLst>
      <p:ext uri="{BB962C8B-B14F-4D97-AF65-F5344CB8AC3E}">
        <p14:creationId xmlns:p14="http://schemas.microsoft.com/office/powerpoint/2010/main" val="4277454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1DD58A-7583-9818-7C0F-B03E6D2C300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AC6A52B-F403-4409-9426-56843E054C8D}"/>
              </a:ext>
            </a:extLst>
          </p:cNvPr>
          <p:cNvSpPr>
            <a:spLocks noGrp="1"/>
          </p:cNvSpPr>
          <p:nvPr>
            <p:ph idx="1"/>
          </p:nvPr>
        </p:nvSpPr>
        <p:spPr/>
        <p:txBody>
          <a:bodyPr>
            <a:normAutofit/>
          </a:bodyPr>
          <a:lstStyle/>
          <a:p>
            <a:pPr>
              <a:lnSpc>
                <a:spcPct val="150000"/>
              </a:lnSpc>
            </a:pPr>
            <a:r>
              <a:rPr lang="en-US" altLang="zh-CN" sz="2400" dirty="0"/>
              <a:t>In protected mode, the processor always uses the segment selector part of the far address to access the corresponding descriptor in the GDT or LDT. The descriptor type (code segment, call gate, task gate, or TSS) and access</a:t>
            </a:r>
          </a:p>
          <a:p>
            <a:pPr>
              <a:lnSpc>
                <a:spcPct val="150000"/>
              </a:lnSpc>
            </a:pPr>
            <a:r>
              <a:rPr lang="en-US" altLang="zh-CN" sz="2400" dirty="0"/>
              <a:t>rights determine the type of jump to be performed.</a:t>
            </a:r>
            <a:endParaRPr lang="zh-CN" altLang="en-US" sz="2400" dirty="0"/>
          </a:p>
        </p:txBody>
      </p:sp>
    </p:spTree>
    <p:extLst>
      <p:ext uri="{BB962C8B-B14F-4D97-AF65-F5344CB8AC3E}">
        <p14:creationId xmlns:p14="http://schemas.microsoft.com/office/powerpoint/2010/main" val="3608084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8476A7-F285-60D0-6F86-DD857BFC99DA}"/>
              </a:ext>
            </a:extLst>
          </p:cNvPr>
          <p:cNvSpPr>
            <a:spLocks noGrp="1"/>
          </p:cNvSpPr>
          <p:nvPr>
            <p:ph type="title"/>
          </p:nvPr>
        </p:nvSpPr>
        <p:spPr/>
        <p:txBody>
          <a:bodyPr/>
          <a:lstStyle/>
          <a:p>
            <a:r>
              <a:rPr lang="en-US" altLang="zh-CN" dirty="0"/>
              <a:t>ISA &amp; ABI</a:t>
            </a:r>
            <a:endParaRPr lang="zh-CN" altLang="en-US" dirty="0"/>
          </a:p>
        </p:txBody>
      </p:sp>
      <p:sp>
        <p:nvSpPr>
          <p:cNvPr id="3" name="文本占位符 2">
            <a:extLst>
              <a:ext uri="{FF2B5EF4-FFF2-40B4-BE49-F238E27FC236}">
                <a16:creationId xmlns:a16="http://schemas.microsoft.com/office/drawing/2014/main" id="{C3C41F64-142E-590D-16B5-44F7612EEC40}"/>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68717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C7074A-ABA7-F993-42FC-20E55105EAF2}"/>
              </a:ext>
            </a:extLst>
          </p:cNvPr>
          <p:cNvSpPr>
            <a:spLocks noGrp="1"/>
          </p:cNvSpPr>
          <p:nvPr>
            <p:ph type="title"/>
          </p:nvPr>
        </p:nvSpPr>
        <p:spPr/>
        <p:txBody>
          <a:bodyPr/>
          <a:lstStyle/>
          <a:p>
            <a:r>
              <a:rPr lang="en-US" altLang="zh-CN" b="1" dirty="0"/>
              <a:t>ISA</a:t>
            </a:r>
            <a:r>
              <a:rPr lang="zh-CN" altLang="en-US" b="1" dirty="0"/>
              <a:t>（二进制如何作用在硬件上）</a:t>
            </a:r>
            <a:endParaRPr lang="zh-CN" altLang="en-US" dirty="0"/>
          </a:p>
        </p:txBody>
      </p:sp>
      <p:sp>
        <p:nvSpPr>
          <p:cNvPr id="3" name="内容占位符 2">
            <a:extLst>
              <a:ext uri="{FF2B5EF4-FFF2-40B4-BE49-F238E27FC236}">
                <a16:creationId xmlns:a16="http://schemas.microsoft.com/office/drawing/2014/main" id="{EC824252-F6FE-1F31-0B26-FE19E06359C8}"/>
              </a:ext>
            </a:extLst>
          </p:cNvPr>
          <p:cNvSpPr>
            <a:spLocks noGrp="1"/>
          </p:cNvSpPr>
          <p:nvPr>
            <p:ph idx="1"/>
          </p:nvPr>
        </p:nvSpPr>
        <p:spPr>
          <a:xfrm>
            <a:off x="468630" y="1637219"/>
            <a:ext cx="11254740" cy="4791560"/>
          </a:xfrm>
        </p:spPr>
        <p:txBody>
          <a:bodyPr>
            <a:normAutofit/>
          </a:bodyPr>
          <a:lstStyle/>
          <a:p>
            <a:pPr>
              <a:lnSpc>
                <a:spcPct val="150000"/>
              </a:lnSpc>
            </a:pPr>
            <a:r>
              <a:rPr lang="zh-CN" altLang="en-US" sz="2400" dirty="0"/>
              <a:t>指令集：处理器能理解和执行的基本命令，如加法、减法、加载、存储等。</a:t>
            </a:r>
          </a:p>
          <a:p>
            <a:pPr>
              <a:lnSpc>
                <a:spcPct val="150000"/>
              </a:lnSpc>
            </a:pPr>
            <a:r>
              <a:rPr lang="zh-CN" altLang="en-US" sz="2400" b="1" dirty="0"/>
              <a:t>寄存器：处理器内部可直接访问的高速存储单元的数量和功能（什么是功能？）</a:t>
            </a:r>
          </a:p>
          <a:p>
            <a:pPr>
              <a:lnSpc>
                <a:spcPct val="150000"/>
              </a:lnSpc>
            </a:pPr>
            <a:r>
              <a:rPr lang="zh-CN" altLang="en-US" sz="2400" dirty="0"/>
              <a:t>内存寻址模式：如何计算和访问内存地址。</a:t>
            </a:r>
          </a:p>
          <a:p>
            <a:pPr>
              <a:lnSpc>
                <a:spcPct val="150000"/>
              </a:lnSpc>
            </a:pPr>
            <a:r>
              <a:rPr lang="zh-CN" altLang="en-US" sz="2400" b="1" dirty="0"/>
              <a:t>数据类型：硬件直接支持的数据的大小和表示方式（什么是直接？）。</a:t>
            </a:r>
          </a:p>
          <a:p>
            <a:pPr>
              <a:lnSpc>
                <a:spcPct val="150000"/>
              </a:lnSpc>
            </a:pPr>
            <a:r>
              <a:rPr lang="zh-CN" altLang="en-US" sz="2400" dirty="0"/>
              <a:t>特权级别：用户模式和内核模式等，用于系统保护。</a:t>
            </a:r>
          </a:p>
          <a:p>
            <a:pPr>
              <a:lnSpc>
                <a:spcPct val="150000"/>
              </a:lnSpc>
            </a:pPr>
            <a:r>
              <a:rPr lang="zh-CN" altLang="en-US" sz="2400" dirty="0"/>
              <a:t>例子：</a:t>
            </a:r>
            <a:r>
              <a:rPr lang="en-US" altLang="zh-CN" sz="2400" dirty="0"/>
              <a:t>x86-64, ARM, RISC-V, MIPS</a:t>
            </a:r>
            <a:r>
              <a:rPr lang="zh-CN" altLang="en-US" sz="2400" dirty="0"/>
              <a:t>。为特定</a:t>
            </a:r>
            <a:r>
              <a:rPr lang="en-US" altLang="zh-CN" sz="2400" dirty="0"/>
              <a:t>ISA</a:t>
            </a:r>
            <a:r>
              <a:rPr lang="zh-CN" altLang="en-US" sz="2400" dirty="0"/>
              <a:t>（如</a:t>
            </a:r>
            <a:r>
              <a:rPr lang="en-US" altLang="zh-CN" sz="2400" dirty="0"/>
              <a:t>x86-64</a:t>
            </a:r>
            <a:r>
              <a:rPr lang="zh-CN" altLang="en-US" sz="2400" dirty="0"/>
              <a:t>）编译的程序，无法直接在另一种</a:t>
            </a:r>
            <a:r>
              <a:rPr lang="en-US" altLang="zh-CN" sz="2400" dirty="0"/>
              <a:t>ISA</a:t>
            </a:r>
            <a:r>
              <a:rPr lang="zh-CN" altLang="en-US" sz="2400" dirty="0"/>
              <a:t>（如</a:t>
            </a:r>
            <a:r>
              <a:rPr lang="en-US" altLang="zh-CN" sz="2400" dirty="0"/>
              <a:t>ARM</a:t>
            </a:r>
            <a:r>
              <a:rPr lang="zh-CN" altLang="en-US" sz="2400" dirty="0"/>
              <a:t>）的处理器上运行。</a:t>
            </a:r>
          </a:p>
          <a:p>
            <a:pPr>
              <a:lnSpc>
                <a:spcPct val="150000"/>
              </a:lnSpc>
            </a:pPr>
            <a:endParaRPr lang="zh-CN" altLang="en-US" sz="2400" dirty="0"/>
          </a:p>
        </p:txBody>
      </p:sp>
    </p:spTree>
    <p:extLst>
      <p:ext uri="{BB962C8B-B14F-4D97-AF65-F5344CB8AC3E}">
        <p14:creationId xmlns:p14="http://schemas.microsoft.com/office/powerpoint/2010/main" val="882669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EB3CF2-02F1-0E73-92DD-5018E998D600}"/>
              </a:ext>
            </a:extLst>
          </p:cNvPr>
          <p:cNvSpPr>
            <a:spLocks noGrp="1"/>
          </p:cNvSpPr>
          <p:nvPr>
            <p:ph type="title"/>
          </p:nvPr>
        </p:nvSpPr>
        <p:spPr/>
        <p:txBody>
          <a:bodyPr/>
          <a:lstStyle/>
          <a:p>
            <a:r>
              <a:rPr lang="en-US" altLang="zh-CN" b="1" dirty="0"/>
              <a:t>ABI</a:t>
            </a:r>
            <a:r>
              <a:rPr lang="zh-CN" altLang="en-US" b="1" dirty="0"/>
              <a:t>（应用如何作用在二进制上）</a:t>
            </a:r>
          </a:p>
        </p:txBody>
      </p:sp>
      <p:sp>
        <p:nvSpPr>
          <p:cNvPr id="3" name="内容占位符 2">
            <a:extLst>
              <a:ext uri="{FF2B5EF4-FFF2-40B4-BE49-F238E27FC236}">
                <a16:creationId xmlns:a16="http://schemas.microsoft.com/office/drawing/2014/main" id="{F089E589-5560-BF9E-0BEC-19B26EF47F91}"/>
              </a:ext>
            </a:extLst>
          </p:cNvPr>
          <p:cNvSpPr>
            <a:spLocks noGrp="1"/>
          </p:cNvSpPr>
          <p:nvPr>
            <p:ph idx="1"/>
          </p:nvPr>
        </p:nvSpPr>
        <p:spPr>
          <a:xfrm>
            <a:off x="838200" y="1460500"/>
            <a:ext cx="10515600" cy="5032375"/>
          </a:xfrm>
        </p:spPr>
        <p:txBody>
          <a:bodyPr>
            <a:normAutofit fontScale="92500" lnSpcReduction="20000"/>
          </a:bodyPr>
          <a:lstStyle/>
          <a:p>
            <a:pPr>
              <a:lnSpc>
                <a:spcPct val="160000"/>
              </a:lnSpc>
            </a:pPr>
            <a:r>
              <a:rPr lang="en-US" altLang="zh-CN" sz="2400" dirty="0"/>
              <a:t>ABI</a:t>
            </a:r>
            <a:r>
              <a:rPr lang="zh-CN" altLang="en-US" sz="2400" dirty="0"/>
              <a:t>是应用程序和操作系统</a:t>
            </a:r>
            <a:r>
              <a:rPr lang="en-US" altLang="zh-CN" sz="2400" dirty="0"/>
              <a:t>/</a:t>
            </a:r>
            <a:r>
              <a:rPr lang="zh-CN" altLang="en-US" sz="2400" dirty="0"/>
              <a:t>运行环境之间的一份</a:t>
            </a:r>
            <a:r>
              <a:rPr lang="zh-CN" altLang="en-US" sz="2400" b="1" dirty="0"/>
              <a:t>合同</a:t>
            </a:r>
            <a:r>
              <a:rPr lang="zh-CN" altLang="en-US" sz="2400" dirty="0"/>
              <a:t>。它规定了如何</a:t>
            </a:r>
            <a:r>
              <a:rPr lang="zh-CN" altLang="en-US" sz="2400" b="1" dirty="0"/>
              <a:t>使用</a:t>
            </a:r>
            <a:r>
              <a:rPr lang="en-US" altLang="zh-CN" sz="2400" dirty="0"/>
              <a:t>ISA</a:t>
            </a:r>
            <a:r>
              <a:rPr lang="zh-CN" altLang="en-US" sz="2400" dirty="0"/>
              <a:t>来构建一个可运行的软件。一个</a:t>
            </a:r>
            <a:r>
              <a:rPr lang="en-US" altLang="zh-CN" sz="2400" dirty="0"/>
              <a:t>ABI</a:t>
            </a:r>
            <a:r>
              <a:rPr lang="zh-CN" altLang="en-US" sz="2400" dirty="0"/>
              <a:t>通常包括：</a:t>
            </a:r>
          </a:p>
          <a:p>
            <a:pPr>
              <a:lnSpc>
                <a:spcPct val="160000"/>
              </a:lnSpc>
            </a:pPr>
            <a:r>
              <a:rPr lang="zh-CN" altLang="en-US" sz="2400" b="1" dirty="0"/>
              <a:t>调用约定</a:t>
            </a:r>
            <a:r>
              <a:rPr lang="zh-CN" altLang="en-US" sz="2400" dirty="0"/>
              <a:t>：函数调用时，参数如何传递（通过寄存器还是栈？顺序是怎样的？）、返回值放在哪里、哪些寄存器由调用者保存，哪些由被调用者保存。</a:t>
            </a:r>
          </a:p>
          <a:p>
            <a:pPr>
              <a:lnSpc>
                <a:spcPct val="160000"/>
              </a:lnSpc>
            </a:pPr>
            <a:r>
              <a:rPr lang="zh-CN" altLang="en-US" sz="2400" b="1" dirty="0"/>
              <a:t>系统调用约定</a:t>
            </a:r>
            <a:r>
              <a:rPr lang="zh-CN" altLang="en-US" sz="2400" dirty="0"/>
              <a:t>：应用程序如何向操作系统请求服务（例如，打开文件、分配内存）。这通常涉及使用特定的指令（如</a:t>
            </a:r>
            <a:r>
              <a:rPr lang="en-US" altLang="zh-CN" sz="2400" dirty="0" err="1"/>
              <a:t>syscall</a:t>
            </a:r>
            <a:r>
              <a:rPr lang="zh-CN" altLang="en-US" sz="2400" dirty="0"/>
              <a:t>）和寄存器来传递系统调用号和参数。</a:t>
            </a:r>
          </a:p>
          <a:p>
            <a:pPr>
              <a:lnSpc>
                <a:spcPct val="160000"/>
              </a:lnSpc>
            </a:pPr>
            <a:r>
              <a:rPr lang="zh-CN" altLang="en-US" sz="2400" b="1" dirty="0"/>
              <a:t>目标文件格式</a:t>
            </a:r>
            <a:r>
              <a:rPr lang="zh-CN" altLang="en-US" sz="2400" dirty="0"/>
              <a:t>：可执行文件和库文件的格式（如</a:t>
            </a:r>
            <a:r>
              <a:rPr lang="en-US" altLang="zh-CN" sz="2400" dirty="0"/>
              <a:t>Linux</a:t>
            </a:r>
            <a:r>
              <a:rPr lang="zh-CN" altLang="en-US" sz="2400" dirty="0"/>
              <a:t>上的</a:t>
            </a:r>
            <a:r>
              <a:rPr lang="en-US" altLang="zh-CN" sz="2400" dirty="0"/>
              <a:t>ELF</a:t>
            </a:r>
            <a:r>
              <a:rPr lang="zh-CN" altLang="en-US" sz="2400" dirty="0"/>
              <a:t>，</a:t>
            </a:r>
            <a:r>
              <a:rPr lang="en-US" altLang="zh-CN" sz="2400" dirty="0"/>
              <a:t>Windows</a:t>
            </a:r>
            <a:r>
              <a:rPr lang="zh-CN" altLang="en-US" sz="2400" dirty="0"/>
              <a:t>上的</a:t>
            </a:r>
            <a:r>
              <a:rPr lang="en-US" altLang="zh-CN" sz="2400" dirty="0"/>
              <a:t>PE</a:t>
            </a:r>
            <a:r>
              <a:rPr lang="zh-CN" altLang="en-US" sz="2400" dirty="0"/>
              <a:t>）。</a:t>
            </a:r>
          </a:p>
          <a:p>
            <a:pPr>
              <a:lnSpc>
                <a:spcPct val="160000"/>
              </a:lnSpc>
            </a:pPr>
            <a:r>
              <a:rPr lang="zh-CN" altLang="en-US" sz="2400" b="1" dirty="0"/>
              <a:t>数据对齐和对齐方式</a:t>
            </a:r>
            <a:r>
              <a:rPr lang="zh-CN" altLang="en-US" sz="2400" dirty="0"/>
              <a:t>：数据在内存中应如何对齐以保证访问效率。</a:t>
            </a:r>
          </a:p>
          <a:p>
            <a:pPr>
              <a:lnSpc>
                <a:spcPct val="160000"/>
              </a:lnSpc>
            </a:pPr>
            <a:r>
              <a:rPr lang="en-US" altLang="zh-CN" sz="2400" b="1" dirty="0"/>
              <a:t>C++</a:t>
            </a:r>
            <a:r>
              <a:rPr lang="zh-CN" altLang="en-US" sz="2400" b="1" dirty="0"/>
              <a:t>名称修饰</a:t>
            </a:r>
            <a:r>
              <a:rPr lang="zh-CN" altLang="en-US" sz="2400" dirty="0"/>
              <a:t>：编译器如何将函数和类型名称编码成链接器可以理解的唯一符号。</a:t>
            </a:r>
          </a:p>
          <a:p>
            <a:pPr>
              <a:lnSpc>
                <a:spcPct val="160000"/>
              </a:lnSpc>
            </a:pPr>
            <a:endParaRPr lang="zh-CN" altLang="en-US" sz="2400" dirty="0"/>
          </a:p>
        </p:txBody>
      </p:sp>
    </p:spTree>
    <p:extLst>
      <p:ext uri="{BB962C8B-B14F-4D97-AF65-F5344CB8AC3E}">
        <p14:creationId xmlns:p14="http://schemas.microsoft.com/office/powerpoint/2010/main" val="1691407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A0A7CF-8887-920D-EB98-9FD8DFF8093C}"/>
              </a:ext>
            </a:extLst>
          </p:cNvPr>
          <p:cNvSpPr>
            <a:spLocks noGrp="1"/>
          </p:cNvSpPr>
          <p:nvPr>
            <p:ph type="title"/>
          </p:nvPr>
        </p:nvSpPr>
        <p:spPr/>
        <p:txBody>
          <a:bodyPr/>
          <a:lstStyle/>
          <a:p>
            <a:r>
              <a:rPr lang="zh-CN" altLang="en-US" dirty="0"/>
              <a:t>为什么有的时候会混淆？</a:t>
            </a:r>
          </a:p>
        </p:txBody>
      </p:sp>
      <p:sp>
        <p:nvSpPr>
          <p:cNvPr id="3" name="内容占位符 2">
            <a:extLst>
              <a:ext uri="{FF2B5EF4-FFF2-40B4-BE49-F238E27FC236}">
                <a16:creationId xmlns:a16="http://schemas.microsoft.com/office/drawing/2014/main" id="{99842FDB-0E10-9D11-D5C4-FBC8DD4F1C7D}"/>
              </a:ext>
            </a:extLst>
          </p:cNvPr>
          <p:cNvSpPr>
            <a:spLocks noGrp="1"/>
          </p:cNvSpPr>
          <p:nvPr>
            <p:ph idx="1"/>
          </p:nvPr>
        </p:nvSpPr>
        <p:spPr/>
        <p:txBody>
          <a:bodyPr>
            <a:normAutofit/>
          </a:bodyPr>
          <a:lstStyle/>
          <a:p>
            <a:pPr>
              <a:lnSpc>
                <a:spcPct val="150000"/>
              </a:lnSpc>
            </a:pPr>
            <a:r>
              <a:rPr lang="zh-CN" altLang="en-US" sz="2400" dirty="0"/>
              <a:t>很多特殊的硬件功能的存在与一些指令强绑定：</a:t>
            </a:r>
            <a:endParaRPr lang="en-US" altLang="zh-CN" sz="2400" dirty="0"/>
          </a:p>
          <a:p>
            <a:pPr lvl="1">
              <a:lnSpc>
                <a:spcPct val="150000"/>
              </a:lnSpc>
            </a:pPr>
            <a:r>
              <a:rPr lang="zh-CN" altLang="en-US" sz="2000" dirty="0"/>
              <a:t>例如原子加操作要求读取</a:t>
            </a:r>
            <a:r>
              <a:rPr lang="en-US" altLang="zh-CN" sz="2000" dirty="0"/>
              <a:t>-</a:t>
            </a:r>
            <a:r>
              <a:rPr lang="zh-CN" altLang="en-US" sz="2000" dirty="0"/>
              <a:t>操作</a:t>
            </a:r>
            <a:r>
              <a:rPr lang="en-US" altLang="zh-CN" sz="2000" dirty="0"/>
              <a:t>-</a:t>
            </a:r>
            <a:r>
              <a:rPr lang="zh-CN" altLang="en-US" sz="2000" dirty="0"/>
              <a:t>写回期间之间内存不能发生变化，这与硬件封锁总线指令强相关。</a:t>
            </a:r>
            <a:endParaRPr lang="en-US" altLang="zh-CN" sz="2000" dirty="0"/>
          </a:p>
          <a:p>
            <a:pPr lvl="1">
              <a:lnSpc>
                <a:spcPct val="150000"/>
              </a:lnSpc>
            </a:pPr>
            <a:r>
              <a:rPr lang="zh-CN" altLang="en-US" sz="2000" dirty="0"/>
              <a:t>例如检查访存合法性、检查特权指令是否没有在用户程序中使用这些工作也需要由硬件完成。</a:t>
            </a:r>
            <a:endParaRPr lang="en-US" altLang="zh-CN" sz="2000" dirty="0"/>
          </a:p>
          <a:p>
            <a:pPr lvl="1">
              <a:lnSpc>
                <a:spcPct val="150000"/>
              </a:lnSpc>
            </a:pPr>
            <a:endParaRPr lang="zh-CN" altLang="en-US" sz="2000" dirty="0"/>
          </a:p>
        </p:txBody>
      </p:sp>
    </p:spTree>
    <p:extLst>
      <p:ext uri="{BB962C8B-B14F-4D97-AF65-F5344CB8AC3E}">
        <p14:creationId xmlns:p14="http://schemas.microsoft.com/office/powerpoint/2010/main" val="4116126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9F92EF-5856-6B9C-DB19-F0853119E60D}"/>
              </a:ext>
            </a:extLst>
          </p:cNvPr>
          <p:cNvSpPr>
            <a:spLocks noGrp="1"/>
          </p:cNvSpPr>
          <p:nvPr>
            <p:ph type="title"/>
          </p:nvPr>
        </p:nvSpPr>
        <p:spPr/>
        <p:txBody>
          <a:bodyPr/>
          <a:lstStyle/>
          <a:p>
            <a:r>
              <a:rPr lang="zh-CN" altLang="en-US" dirty="0"/>
              <a:t>核心内容：</a:t>
            </a:r>
            <a:r>
              <a:rPr lang="en-US" altLang="zh-CN" dirty="0"/>
              <a:t>SEQ</a:t>
            </a:r>
            <a:endParaRPr lang="zh-CN" altLang="en-US" dirty="0"/>
          </a:p>
        </p:txBody>
      </p:sp>
      <p:sp>
        <p:nvSpPr>
          <p:cNvPr id="3" name="文本占位符 2">
            <a:extLst>
              <a:ext uri="{FF2B5EF4-FFF2-40B4-BE49-F238E27FC236}">
                <a16:creationId xmlns:a16="http://schemas.microsoft.com/office/drawing/2014/main" id="{0C4B6103-3D6F-90DC-9680-5EF3C64E9C61}"/>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88762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A3E28E-BA19-3AB6-DD9E-062D39A11329}"/>
              </a:ext>
            </a:extLst>
          </p:cNvPr>
          <p:cNvSpPr>
            <a:spLocks noGrp="1"/>
          </p:cNvSpPr>
          <p:nvPr>
            <p:ph type="title"/>
          </p:nvPr>
        </p:nvSpPr>
        <p:spPr/>
        <p:txBody>
          <a:bodyPr/>
          <a:lstStyle/>
          <a:p>
            <a:r>
              <a:rPr lang="zh-CN" altLang="en-US" dirty="0"/>
              <a:t>杂项</a:t>
            </a:r>
          </a:p>
        </p:txBody>
      </p:sp>
      <p:sp>
        <p:nvSpPr>
          <p:cNvPr id="3" name="内容占位符 2">
            <a:extLst>
              <a:ext uri="{FF2B5EF4-FFF2-40B4-BE49-F238E27FC236}">
                <a16:creationId xmlns:a16="http://schemas.microsoft.com/office/drawing/2014/main" id="{23962B41-7368-7351-3B98-F221E241111B}"/>
              </a:ext>
            </a:extLst>
          </p:cNvPr>
          <p:cNvSpPr>
            <a:spLocks noGrp="1"/>
          </p:cNvSpPr>
          <p:nvPr>
            <p:ph idx="1"/>
          </p:nvPr>
        </p:nvSpPr>
        <p:spPr/>
        <p:txBody>
          <a:bodyPr>
            <a:normAutofit/>
          </a:bodyPr>
          <a:lstStyle/>
          <a:p>
            <a:pPr>
              <a:lnSpc>
                <a:spcPct val="150000"/>
              </a:lnSpc>
            </a:pPr>
            <a:r>
              <a:rPr lang="en-US" altLang="zh-CN" sz="2400" b="1" dirty="0" err="1"/>
              <a:t>i</a:t>
            </a:r>
            <a:r>
              <a:rPr lang="en-US" altLang="zh-CN" sz="2400" dirty="0" err="1"/>
              <a:t>rmov</a:t>
            </a:r>
            <a:r>
              <a:rPr lang="en-US" altLang="zh-CN" sz="2400" b="1" dirty="0" err="1"/>
              <a:t>q</a:t>
            </a:r>
            <a:r>
              <a:rPr lang="en-US" altLang="zh-CN" sz="2400" dirty="0"/>
              <a:t>/</a:t>
            </a:r>
            <a:r>
              <a:rPr lang="en-US" altLang="zh-CN" sz="2400" dirty="0" err="1"/>
              <a:t>val</a:t>
            </a:r>
            <a:r>
              <a:rPr lang="en-US" altLang="zh-CN" sz="2400" b="1" dirty="0" err="1"/>
              <a:t>M</a:t>
            </a:r>
            <a:r>
              <a:rPr lang="zh-CN" altLang="en-US" sz="2400" dirty="0"/>
              <a:t>：注意大小写和后缀</a:t>
            </a:r>
            <a:endParaRPr lang="en-US" altLang="zh-CN" sz="2400" dirty="0"/>
          </a:p>
          <a:p>
            <a:pPr>
              <a:lnSpc>
                <a:spcPct val="150000"/>
              </a:lnSpc>
            </a:pPr>
            <a:r>
              <a:rPr lang="zh-CN" altLang="en-US" sz="2400" b="1" dirty="0"/>
              <a:t>所有访存操作必须指明大小</a:t>
            </a:r>
            <a:endParaRPr lang="en-US" altLang="zh-CN" sz="2400" b="1" dirty="0"/>
          </a:p>
          <a:p>
            <a:pPr>
              <a:lnSpc>
                <a:spcPct val="150000"/>
              </a:lnSpc>
            </a:pPr>
            <a:r>
              <a:rPr lang="zh-CN" altLang="en-US" sz="2400" dirty="0"/>
              <a:t>注意</a:t>
            </a:r>
            <a:r>
              <a:rPr lang="en-US" altLang="zh-CN" sz="2400" dirty="0"/>
              <a:t>ALU</a:t>
            </a:r>
            <a:r>
              <a:rPr lang="zh-CN" altLang="en-US" sz="2400" dirty="0"/>
              <a:t>的</a:t>
            </a:r>
            <a:r>
              <a:rPr lang="en-US" altLang="zh-CN" sz="2400" dirty="0"/>
              <a:t>operand</a:t>
            </a:r>
            <a:r>
              <a:rPr lang="zh-CN" altLang="en-US" sz="2400" dirty="0"/>
              <a:t>顺序是</a:t>
            </a:r>
            <a:r>
              <a:rPr lang="en-US" altLang="zh-CN" sz="2400" dirty="0"/>
              <a:t>ValB/CONST OP </a:t>
            </a:r>
            <a:r>
              <a:rPr lang="en-US" altLang="zh-CN" sz="2400" dirty="0" err="1"/>
              <a:t>ValA</a:t>
            </a:r>
            <a:r>
              <a:rPr lang="en-US" altLang="zh-CN" sz="2400" dirty="0"/>
              <a:t>/C</a:t>
            </a:r>
          </a:p>
          <a:p>
            <a:pPr>
              <a:lnSpc>
                <a:spcPct val="150000"/>
              </a:lnSpc>
            </a:pPr>
            <a:r>
              <a:rPr lang="zh-CN" altLang="en-US" sz="2400" dirty="0"/>
              <a:t>注意箭头方向</a:t>
            </a:r>
            <a:endParaRPr lang="en-US" altLang="zh-CN" sz="2400" dirty="0"/>
          </a:p>
          <a:p>
            <a:pPr>
              <a:lnSpc>
                <a:spcPct val="150000"/>
              </a:lnSpc>
            </a:pPr>
            <a:r>
              <a:rPr lang="en-US" altLang="zh-CN" sz="2400" dirty="0"/>
              <a:t>…</a:t>
            </a:r>
            <a:endParaRPr lang="zh-CN" altLang="en-US" sz="2400" dirty="0"/>
          </a:p>
        </p:txBody>
      </p:sp>
    </p:spTree>
    <p:extLst>
      <p:ext uri="{BB962C8B-B14F-4D97-AF65-F5344CB8AC3E}">
        <p14:creationId xmlns:p14="http://schemas.microsoft.com/office/powerpoint/2010/main" val="641738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5CA6600-2696-44E0-4358-07166161A62F}"/>
              </a:ext>
            </a:extLst>
          </p:cNvPr>
          <p:cNvPicPr>
            <a:picLocks noChangeAspect="1"/>
          </p:cNvPicPr>
          <p:nvPr/>
        </p:nvPicPr>
        <p:blipFill>
          <a:blip r:embed="rId2"/>
          <a:stretch>
            <a:fillRect/>
          </a:stretch>
        </p:blipFill>
        <p:spPr>
          <a:xfrm>
            <a:off x="321088" y="1550626"/>
            <a:ext cx="7002740" cy="3756748"/>
          </a:xfrm>
          <a:prstGeom prst="rect">
            <a:avLst/>
          </a:prstGeom>
        </p:spPr>
      </p:pic>
    </p:spTree>
    <p:extLst>
      <p:ext uri="{BB962C8B-B14F-4D97-AF65-F5344CB8AC3E}">
        <p14:creationId xmlns:p14="http://schemas.microsoft.com/office/powerpoint/2010/main" val="2273418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1FF8A-07CE-8D25-D084-A237C40C2D4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86A4D4E-9614-7BAE-7B36-E5B26D94845F}"/>
              </a:ext>
            </a:extLst>
          </p:cNvPr>
          <p:cNvPicPr>
            <a:picLocks noChangeAspect="1"/>
          </p:cNvPicPr>
          <p:nvPr/>
        </p:nvPicPr>
        <p:blipFill>
          <a:blip r:embed="rId2"/>
          <a:stretch>
            <a:fillRect/>
          </a:stretch>
        </p:blipFill>
        <p:spPr>
          <a:xfrm>
            <a:off x="321088" y="1550626"/>
            <a:ext cx="7002740" cy="3756748"/>
          </a:xfrm>
          <a:prstGeom prst="rect">
            <a:avLst/>
          </a:prstGeom>
        </p:spPr>
      </p:pic>
      <p:sp>
        <p:nvSpPr>
          <p:cNvPr id="2" name="椭圆 1">
            <a:extLst>
              <a:ext uri="{FF2B5EF4-FFF2-40B4-BE49-F238E27FC236}">
                <a16:creationId xmlns:a16="http://schemas.microsoft.com/office/drawing/2014/main" id="{01A73B25-D12B-F94F-B90A-3A3D50662CD1}"/>
              </a:ext>
            </a:extLst>
          </p:cNvPr>
          <p:cNvSpPr/>
          <p:nvPr/>
        </p:nvSpPr>
        <p:spPr>
          <a:xfrm>
            <a:off x="1354150" y="2840922"/>
            <a:ext cx="467670" cy="272226"/>
          </a:xfrm>
          <a:prstGeom prst="ellipse">
            <a:avLst/>
          </a:prstGeom>
          <a:noFill/>
          <a:ln>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221806C8-3373-04C7-0FB9-43D1A00A1714}"/>
              </a:ext>
            </a:extLst>
          </p:cNvPr>
          <p:cNvSpPr/>
          <p:nvPr/>
        </p:nvSpPr>
        <p:spPr>
          <a:xfrm>
            <a:off x="1078435" y="3098024"/>
            <a:ext cx="467670" cy="272226"/>
          </a:xfrm>
          <a:prstGeom prst="ellipse">
            <a:avLst/>
          </a:prstGeom>
          <a:noFill/>
          <a:ln>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6F5A2501-F94E-3834-7121-8A7FC912C3E3}"/>
              </a:ext>
            </a:extLst>
          </p:cNvPr>
          <p:cNvSpPr txBox="1"/>
          <p:nvPr/>
        </p:nvSpPr>
        <p:spPr>
          <a:xfrm>
            <a:off x="7475745" y="1779939"/>
            <a:ext cx="4205767" cy="369332"/>
          </a:xfrm>
          <a:prstGeom prst="rect">
            <a:avLst/>
          </a:prstGeom>
          <a:noFill/>
        </p:spPr>
        <p:txBody>
          <a:bodyPr wrap="none" rtlCol="0">
            <a:spAutoFit/>
          </a:bodyPr>
          <a:lstStyle/>
          <a:p>
            <a:r>
              <a:rPr lang="zh-CN" altLang="en-US" dirty="0"/>
              <a:t>内存的寻址方式是统一的</a:t>
            </a:r>
            <a:r>
              <a:rPr lang="en-US" altLang="zh-CN" dirty="0"/>
              <a:t>Imm(Reg)</a:t>
            </a:r>
            <a:r>
              <a:rPr lang="zh-CN" altLang="en-US" dirty="0"/>
              <a:t>模式</a:t>
            </a:r>
          </a:p>
        </p:txBody>
      </p:sp>
      <p:sp>
        <p:nvSpPr>
          <p:cNvPr id="6" name="文本框 5">
            <a:extLst>
              <a:ext uri="{FF2B5EF4-FFF2-40B4-BE49-F238E27FC236}">
                <a16:creationId xmlns:a16="http://schemas.microsoft.com/office/drawing/2014/main" id="{06F99000-4626-9D2C-EDF6-8BCB0C532CC7}"/>
              </a:ext>
            </a:extLst>
          </p:cNvPr>
          <p:cNvSpPr txBox="1"/>
          <p:nvPr/>
        </p:nvSpPr>
        <p:spPr>
          <a:xfrm>
            <a:off x="7475744" y="2149271"/>
            <a:ext cx="1917513" cy="369332"/>
          </a:xfrm>
          <a:prstGeom prst="rect">
            <a:avLst/>
          </a:prstGeom>
          <a:noFill/>
        </p:spPr>
        <p:txBody>
          <a:bodyPr wrap="none" rtlCol="0">
            <a:spAutoFit/>
          </a:bodyPr>
          <a:lstStyle/>
          <a:p>
            <a:r>
              <a:rPr lang="zh-CN" altLang="en-US" dirty="0"/>
              <a:t>立即数都是</a:t>
            </a:r>
            <a:r>
              <a:rPr lang="en-US" altLang="zh-CN" dirty="0"/>
              <a:t>8</a:t>
            </a:r>
            <a:r>
              <a:rPr lang="zh-CN" altLang="en-US" dirty="0"/>
              <a:t>位长</a:t>
            </a:r>
          </a:p>
        </p:txBody>
      </p:sp>
      <p:sp>
        <p:nvSpPr>
          <p:cNvPr id="7" name="文本框 6">
            <a:extLst>
              <a:ext uri="{FF2B5EF4-FFF2-40B4-BE49-F238E27FC236}">
                <a16:creationId xmlns:a16="http://schemas.microsoft.com/office/drawing/2014/main" id="{36C7372D-2D60-AF44-684C-81A0E681C81C}"/>
              </a:ext>
            </a:extLst>
          </p:cNvPr>
          <p:cNvSpPr txBox="1"/>
          <p:nvPr/>
        </p:nvSpPr>
        <p:spPr>
          <a:xfrm>
            <a:off x="7475743" y="2518603"/>
            <a:ext cx="3237874" cy="369332"/>
          </a:xfrm>
          <a:prstGeom prst="rect">
            <a:avLst/>
          </a:prstGeom>
          <a:noFill/>
        </p:spPr>
        <p:txBody>
          <a:bodyPr wrap="none" rtlCol="0">
            <a:spAutoFit/>
          </a:bodyPr>
          <a:lstStyle/>
          <a:p>
            <a:r>
              <a:rPr lang="en-US" altLang="zh-CN" dirty="0"/>
              <a:t>Push/pop</a:t>
            </a:r>
            <a:r>
              <a:rPr lang="zh-CN" altLang="en-US" dirty="0"/>
              <a:t>外写入都发生在</a:t>
            </a:r>
            <a:r>
              <a:rPr lang="en-US" altLang="zh-CN" dirty="0" err="1"/>
              <a:t>rB</a:t>
            </a:r>
            <a:r>
              <a:rPr lang="zh-CN" altLang="en-US" dirty="0"/>
              <a:t>上</a:t>
            </a:r>
            <a:endParaRPr lang="en-US" altLang="zh-CN" dirty="0"/>
          </a:p>
        </p:txBody>
      </p:sp>
      <p:sp>
        <p:nvSpPr>
          <p:cNvPr id="8" name="椭圆 7">
            <a:extLst>
              <a:ext uri="{FF2B5EF4-FFF2-40B4-BE49-F238E27FC236}">
                <a16:creationId xmlns:a16="http://schemas.microsoft.com/office/drawing/2014/main" id="{3B8FAA68-9108-73D9-210F-52E8372742FD}"/>
              </a:ext>
            </a:extLst>
          </p:cNvPr>
          <p:cNvSpPr/>
          <p:nvPr/>
        </p:nvSpPr>
        <p:spPr>
          <a:xfrm>
            <a:off x="1354150" y="2333937"/>
            <a:ext cx="258265" cy="249883"/>
          </a:xfrm>
          <a:prstGeom prst="ellipse">
            <a:avLst/>
          </a:prstGeom>
          <a:no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2AD9BB88-E9A3-3BBD-9355-D1D735ED72DE}"/>
              </a:ext>
            </a:extLst>
          </p:cNvPr>
          <p:cNvSpPr/>
          <p:nvPr/>
        </p:nvSpPr>
        <p:spPr>
          <a:xfrm>
            <a:off x="1312270" y="2591039"/>
            <a:ext cx="258265" cy="249883"/>
          </a:xfrm>
          <a:prstGeom prst="ellipse">
            <a:avLst/>
          </a:prstGeom>
          <a:no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90CFFD69-666E-A162-E915-DE6E0DA454FC}"/>
              </a:ext>
            </a:extLst>
          </p:cNvPr>
          <p:cNvSpPr/>
          <p:nvPr/>
        </p:nvSpPr>
        <p:spPr>
          <a:xfrm>
            <a:off x="1095885" y="3363031"/>
            <a:ext cx="258265" cy="249883"/>
          </a:xfrm>
          <a:prstGeom prst="ellipse">
            <a:avLst/>
          </a:prstGeom>
          <a:no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1EDBAFC-1DAA-206E-68B4-FF9770AA22BA}"/>
              </a:ext>
            </a:extLst>
          </p:cNvPr>
          <p:cNvSpPr/>
          <p:nvPr/>
        </p:nvSpPr>
        <p:spPr>
          <a:xfrm>
            <a:off x="892297" y="4917648"/>
            <a:ext cx="258265" cy="249883"/>
          </a:xfrm>
          <a:prstGeom prst="ellipse">
            <a:avLst/>
          </a:prstGeom>
          <a:no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657232EA-B09C-6D49-A566-C8435CB14D6B}"/>
              </a:ext>
            </a:extLst>
          </p:cNvPr>
          <p:cNvCxnSpPr/>
          <p:nvPr/>
        </p:nvCxnSpPr>
        <p:spPr>
          <a:xfrm>
            <a:off x="390889" y="2282510"/>
            <a:ext cx="311314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直接连接符 14">
            <a:extLst>
              <a:ext uri="{FF2B5EF4-FFF2-40B4-BE49-F238E27FC236}">
                <a16:creationId xmlns:a16="http://schemas.microsoft.com/office/drawing/2014/main" id="{B614DA57-8476-CF51-8822-A396A1FDBBF9}"/>
              </a:ext>
            </a:extLst>
          </p:cNvPr>
          <p:cNvCxnSpPr/>
          <p:nvPr/>
        </p:nvCxnSpPr>
        <p:spPr>
          <a:xfrm>
            <a:off x="390889" y="3354888"/>
            <a:ext cx="311314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6" name="直接连接符 15">
            <a:extLst>
              <a:ext uri="{FF2B5EF4-FFF2-40B4-BE49-F238E27FC236}">
                <a16:creationId xmlns:a16="http://schemas.microsoft.com/office/drawing/2014/main" id="{F25F1643-D3E5-F075-CB22-E79CDBCDE5BA}"/>
              </a:ext>
            </a:extLst>
          </p:cNvPr>
          <p:cNvCxnSpPr/>
          <p:nvPr/>
        </p:nvCxnSpPr>
        <p:spPr>
          <a:xfrm>
            <a:off x="321088" y="3623146"/>
            <a:ext cx="311314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直接连接符 16">
            <a:extLst>
              <a:ext uri="{FF2B5EF4-FFF2-40B4-BE49-F238E27FC236}">
                <a16:creationId xmlns:a16="http://schemas.microsoft.com/office/drawing/2014/main" id="{3336CDBA-3C28-86DD-EE9C-6805BD354B9D}"/>
              </a:ext>
            </a:extLst>
          </p:cNvPr>
          <p:cNvCxnSpPr/>
          <p:nvPr/>
        </p:nvCxnSpPr>
        <p:spPr>
          <a:xfrm>
            <a:off x="372277" y="4669005"/>
            <a:ext cx="3113148" cy="0"/>
          </a:xfrm>
          <a:prstGeom prst="line">
            <a:avLst/>
          </a:prstGeom>
        </p:spPr>
        <p:style>
          <a:lnRef idx="1">
            <a:schemeClr val="accent2"/>
          </a:lnRef>
          <a:fillRef idx="0">
            <a:schemeClr val="accent2"/>
          </a:fillRef>
          <a:effectRef idx="0">
            <a:schemeClr val="accent2"/>
          </a:effectRef>
          <a:fontRef idx="minor">
            <a:schemeClr val="tx1"/>
          </a:fontRef>
        </p:style>
      </p:cxnSp>
      <p:sp>
        <p:nvSpPr>
          <p:cNvPr id="18" name="箭头: 下 17">
            <a:extLst>
              <a:ext uri="{FF2B5EF4-FFF2-40B4-BE49-F238E27FC236}">
                <a16:creationId xmlns:a16="http://schemas.microsoft.com/office/drawing/2014/main" id="{EC9DAA68-E81B-B6BA-A67C-F609BC1140E3}"/>
              </a:ext>
            </a:extLst>
          </p:cNvPr>
          <p:cNvSpPr/>
          <p:nvPr/>
        </p:nvSpPr>
        <p:spPr>
          <a:xfrm rot="5400000">
            <a:off x="3507527" y="3361050"/>
            <a:ext cx="143096" cy="13017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91089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2"/>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9"/>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8" grpId="0" animBg="1"/>
      <p:bldP spid="8" grpId="1" animBg="1"/>
      <p:bldP spid="9" grpId="0" animBg="1"/>
      <p:bldP spid="9" grpId="1" animBg="1"/>
      <p:bldP spid="10" grpId="0" animBg="1"/>
      <p:bldP spid="10" grpId="1" animBg="1"/>
      <p:bldP spid="12" grpId="0" animBg="1"/>
      <p:bldP spid="12"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E3FFC98-8964-40D2-F277-C9DF42E372EE}"/>
              </a:ext>
            </a:extLst>
          </p:cNvPr>
          <p:cNvPicPr>
            <a:picLocks noChangeAspect="1"/>
          </p:cNvPicPr>
          <p:nvPr/>
        </p:nvPicPr>
        <p:blipFill>
          <a:blip r:embed="rId3"/>
          <a:stretch>
            <a:fillRect/>
          </a:stretch>
        </p:blipFill>
        <p:spPr>
          <a:xfrm>
            <a:off x="-76999" y="0"/>
            <a:ext cx="6733954" cy="6858000"/>
          </a:xfrm>
          <a:prstGeom prst="rect">
            <a:avLst/>
          </a:prstGeom>
        </p:spPr>
      </p:pic>
      <p:cxnSp>
        <p:nvCxnSpPr>
          <p:cNvPr id="8" name="直接箭头连接符 7">
            <a:extLst>
              <a:ext uri="{FF2B5EF4-FFF2-40B4-BE49-F238E27FC236}">
                <a16:creationId xmlns:a16="http://schemas.microsoft.com/office/drawing/2014/main" id="{0660D599-161C-13B5-B889-819E66662FBC}"/>
              </a:ext>
            </a:extLst>
          </p:cNvPr>
          <p:cNvCxnSpPr/>
          <p:nvPr/>
        </p:nvCxnSpPr>
        <p:spPr>
          <a:xfrm flipH="1" flipV="1">
            <a:off x="3462156" y="2638498"/>
            <a:ext cx="460690" cy="14379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连接符: 曲线 9">
            <a:extLst>
              <a:ext uri="{FF2B5EF4-FFF2-40B4-BE49-F238E27FC236}">
                <a16:creationId xmlns:a16="http://schemas.microsoft.com/office/drawing/2014/main" id="{9C9119DE-CEB1-C09B-6931-2B75559C039A}"/>
              </a:ext>
            </a:extLst>
          </p:cNvPr>
          <p:cNvCxnSpPr/>
          <p:nvPr/>
        </p:nvCxnSpPr>
        <p:spPr>
          <a:xfrm rot="16200000" flipV="1">
            <a:off x="3175970" y="3378393"/>
            <a:ext cx="823658" cy="670095"/>
          </a:xfrm>
          <a:prstGeom prst="curved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直接箭头连接符 11">
            <a:extLst>
              <a:ext uri="{FF2B5EF4-FFF2-40B4-BE49-F238E27FC236}">
                <a16:creationId xmlns:a16="http://schemas.microsoft.com/office/drawing/2014/main" id="{A88A7255-731C-B946-7D30-2AF5D097FB45}"/>
              </a:ext>
            </a:extLst>
          </p:cNvPr>
          <p:cNvCxnSpPr/>
          <p:nvPr/>
        </p:nvCxnSpPr>
        <p:spPr>
          <a:xfrm flipV="1">
            <a:off x="3252751" y="2638498"/>
            <a:ext cx="209405" cy="66311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 name="文本框 12">
            <a:extLst>
              <a:ext uri="{FF2B5EF4-FFF2-40B4-BE49-F238E27FC236}">
                <a16:creationId xmlns:a16="http://schemas.microsoft.com/office/drawing/2014/main" id="{5B41BF37-F352-B213-F0A6-E5DDB4BAA90B}"/>
              </a:ext>
            </a:extLst>
          </p:cNvPr>
          <p:cNvSpPr txBox="1"/>
          <p:nvPr/>
        </p:nvSpPr>
        <p:spPr>
          <a:xfrm>
            <a:off x="7147677" y="4176955"/>
            <a:ext cx="4767652" cy="646331"/>
          </a:xfrm>
          <a:prstGeom prst="rect">
            <a:avLst/>
          </a:prstGeom>
          <a:noFill/>
        </p:spPr>
        <p:txBody>
          <a:bodyPr wrap="none" rtlCol="0">
            <a:spAutoFit/>
          </a:bodyPr>
          <a:lstStyle/>
          <a:p>
            <a:r>
              <a:rPr lang="zh-CN" altLang="en-US" dirty="0"/>
              <a:t>写回有两个接口，一个是从</a:t>
            </a:r>
            <a:r>
              <a:rPr lang="en-US" altLang="zh-CN" dirty="0"/>
              <a:t>M</a:t>
            </a:r>
            <a:r>
              <a:rPr lang="zh-CN" altLang="en-US" dirty="0"/>
              <a:t>写回，一个是从</a:t>
            </a:r>
            <a:endParaRPr lang="en-US" altLang="zh-CN" dirty="0"/>
          </a:p>
          <a:p>
            <a:r>
              <a:rPr lang="en-US" altLang="zh-CN" dirty="0"/>
              <a:t>E</a:t>
            </a:r>
            <a:r>
              <a:rPr lang="zh-CN" altLang="en-US" dirty="0"/>
              <a:t>写回。</a:t>
            </a:r>
            <a:r>
              <a:rPr lang="zh-CN" altLang="en-US" b="1" dirty="0"/>
              <a:t>永远不能从</a:t>
            </a:r>
            <a:r>
              <a:rPr lang="en-US" altLang="zh-CN" b="1" dirty="0"/>
              <a:t>ValC</a:t>
            </a:r>
            <a:r>
              <a:rPr lang="zh-CN" altLang="en-US" b="1" dirty="0"/>
              <a:t>写回</a:t>
            </a:r>
            <a:r>
              <a:rPr lang="zh-CN" altLang="en-US" dirty="0"/>
              <a:t>。</a:t>
            </a:r>
          </a:p>
        </p:txBody>
      </p:sp>
      <p:sp>
        <p:nvSpPr>
          <p:cNvPr id="14" name="文本框 13">
            <a:extLst>
              <a:ext uri="{FF2B5EF4-FFF2-40B4-BE49-F238E27FC236}">
                <a16:creationId xmlns:a16="http://schemas.microsoft.com/office/drawing/2014/main" id="{01563517-97AE-8914-80CE-756521829072}"/>
              </a:ext>
            </a:extLst>
          </p:cNvPr>
          <p:cNvSpPr txBox="1"/>
          <p:nvPr/>
        </p:nvSpPr>
        <p:spPr>
          <a:xfrm>
            <a:off x="7147677" y="1433566"/>
            <a:ext cx="4579523" cy="742447"/>
          </a:xfrm>
          <a:prstGeom prst="rect">
            <a:avLst/>
          </a:prstGeom>
          <a:noFill/>
        </p:spPr>
        <p:txBody>
          <a:bodyPr wrap="none" rtlCol="0">
            <a:spAutoFit/>
          </a:bodyPr>
          <a:lstStyle/>
          <a:p>
            <a:r>
              <a:rPr lang="zh-CN" altLang="en-US" dirty="0"/>
              <a:t>地址可以来自</a:t>
            </a:r>
            <a:r>
              <a:rPr lang="en-US" altLang="zh-CN" dirty="0" err="1"/>
              <a:t>valA</a:t>
            </a:r>
            <a:r>
              <a:rPr lang="zh-CN" altLang="en-US" dirty="0"/>
              <a:t>或者</a:t>
            </a:r>
            <a:r>
              <a:rPr lang="en-US" altLang="zh-CN" dirty="0" err="1"/>
              <a:t>valE</a:t>
            </a:r>
            <a:r>
              <a:rPr lang="zh-CN" altLang="en-US" dirty="0"/>
              <a:t>，但</a:t>
            </a:r>
            <a:r>
              <a:rPr lang="zh-CN" altLang="en-US" b="1" dirty="0"/>
              <a:t>永远不是</a:t>
            </a:r>
            <a:r>
              <a:rPr lang="en-US" altLang="zh-CN" b="1" dirty="0" err="1"/>
              <a:t>valB</a:t>
            </a:r>
            <a:endParaRPr lang="en-US" altLang="zh-CN" b="1" dirty="0"/>
          </a:p>
          <a:p>
            <a:pPr>
              <a:lnSpc>
                <a:spcPct val="150000"/>
              </a:lnSpc>
            </a:pPr>
            <a:r>
              <a:rPr lang="zh-CN" altLang="en-US" b="1" dirty="0"/>
              <a:t>或者</a:t>
            </a:r>
            <a:r>
              <a:rPr lang="en-US" altLang="zh-CN" b="1" dirty="0" err="1"/>
              <a:t>valC</a:t>
            </a:r>
            <a:endParaRPr lang="zh-CN" altLang="en-US" b="1" dirty="0"/>
          </a:p>
        </p:txBody>
      </p:sp>
      <p:sp>
        <p:nvSpPr>
          <p:cNvPr id="15" name="椭圆 14">
            <a:extLst>
              <a:ext uri="{FF2B5EF4-FFF2-40B4-BE49-F238E27FC236}">
                <a16:creationId xmlns:a16="http://schemas.microsoft.com/office/drawing/2014/main" id="{F61EB005-20FB-7C89-924E-6DAFA9514F8C}"/>
              </a:ext>
            </a:extLst>
          </p:cNvPr>
          <p:cNvSpPr/>
          <p:nvPr/>
        </p:nvSpPr>
        <p:spPr>
          <a:xfrm>
            <a:off x="4292794" y="4823286"/>
            <a:ext cx="258266" cy="44673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89B72999-2CD5-20B9-3D72-C1BDFD9791A9}"/>
              </a:ext>
            </a:extLst>
          </p:cNvPr>
          <p:cNvSpPr/>
          <p:nvPr/>
        </p:nvSpPr>
        <p:spPr>
          <a:xfrm>
            <a:off x="2059145" y="2638498"/>
            <a:ext cx="621234" cy="109588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FF2D5D07-79ED-E9EC-2FCB-3C27BF0070A6}"/>
              </a:ext>
            </a:extLst>
          </p:cNvPr>
          <p:cNvSpPr txBox="1"/>
          <p:nvPr/>
        </p:nvSpPr>
        <p:spPr>
          <a:xfrm>
            <a:off x="7147677" y="2863274"/>
            <a:ext cx="2305118" cy="369332"/>
          </a:xfrm>
          <a:prstGeom prst="rect">
            <a:avLst/>
          </a:prstGeom>
          <a:noFill/>
        </p:spPr>
        <p:txBody>
          <a:bodyPr wrap="none" rtlCol="0">
            <a:spAutoFit/>
          </a:bodyPr>
          <a:lstStyle/>
          <a:p>
            <a:r>
              <a:rPr lang="en-US" altLang="zh-CN" dirty="0"/>
              <a:t>CC</a:t>
            </a:r>
            <a:r>
              <a:rPr lang="zh-CN" altLang="en-US" dirty="0"/>
              <a:t>与</a:t>
            </a:r>
            <a:r>
              <a:rPr lang="en-US" altLang="zh-CN" dirty="0" err="1"/>
              <a:t>Cnd</a:t>
            </a:r>
            <a:r>
              <a:rPr lang="zh-CN" altLang="en-US" dirty="0"/>
              <a:t>在</a:t>
            </a:r>
            <a:r>
              <a:rPr lang="en-US" altLang="zh-CN" dirty="0"/>
              <a:t>E</a:t>
            </a:r>
            <a:r>
              <a:rPr lang="zh-CN" altLang="en-US" dirty="0"/>
              <a:t>中操作。</a:t>
            </a:r>
          </a:p>
        </p:txBody>
      </p:sp>
      <p:sp>
        <p:nvSpPr>
          <p:cNvPr id="18" name="文本框 17">
            <a:extLst>
              <a:ext uri="{FF2B5EF4-FFF2-40B4-BE49-F238E27FC236}">
                <a16:creationId xmlns:a16="http://schemas.microsoft.com/office/drawing/2014/main" id="{FA57559D-B59C-FDB6-D438-C97F8486A4E3}"/>
              </a:ext>
            </a:extLst>
          </p:cNvPr>
          <p:cNvSpPr txBox="1"/>
          <p:nvPr/>
        </p:nvSpPr>
        <p:spPr>
          <a:xfrm>
            <a:off x="7147677" y="4823286"/>
            <a:ext cx="4169731" cy="369332"/>
          </a:xfrm>
          <a:prstGeom prst="rect">
            <a:avLst/>
          </a:prstGeom>
          <a:noFill/>
        </p:spPr>
        <p:txBody>
          <a:bodyPr wrap="none" rtlCol="0">
            <a:spAutoFit/>
          </a:bodyPr>
          <a:lstStyle/>
          <a:p>
            <a:r>
              <a:rPr lang="en-US" altLang="zh-CN" dirty="0"/>
              <a:t>M</a:t>
            </a:r>
            <a:r>
              <a:rPr lang="zh-CN" altLang="en-US" dirty="0"/>
              <a:t>的写回口写回</a:t>
            </a:r>
            <a:r>
              <a:rPr lang="en-US" altLang="zh-CN" dirty="0" err="1"/>
              <a:t>rA</a:t>
            </a:r>
            <a:r>
              <a:rPr lang="zh-CN" altLang="en-US" dirty="0"/>
              <a:t>对应位置，</a:t>
            </a:r>
            <a:r>
              <a:rPr lang="en-US" altLang="zh-CN" dirty="0"/>
              <a:t>E</a:t>
            </a:r>
            <a:r>
              <a:rPr lang="zh-CN" altLang="en-US" dirty="0"/>
              <a:t>不一定。</a:t>
            </a:r>
          </a:p>
        </p:txBody>
      </p:sp>
      <p:sp>
        <p:nvSpPr>
          <p:cNvPr id="19" name="椭圆 18">
            <a:extLst>
              <a:ext uri="{FF2B5EF4-FFF2-40B4-BE49-F238E27FC236}">
                <a16:creationId xmlns:a16="http://schemas.microsoft.com/office/drawing/2014/main" id="{8F670FE1-9B4A-01D6-B8A7-4CC71B924BFD}"/>
              </a:ext>
            </a:extLst>
          </p:cNvPr>
          <p:cNvSpPr/>
          <p:nvPr/>
        </p:nvSpPr>
        <p:spPr>
          <a:xfrm>
            <a:off x="2234405" y="6027420"/>
            <a:ext cx="621234" cy="3454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81FFE63-C1ED-9EC1-7758-7D02AA324116}"/>
              </a:ext>
            </a:extLst>
          </p:cNvPr>
          <p:cNvSpPr txBox="1"/>
          <p:nvPr/>
        </p:nvSpPr>
        <p:spPr>
          <a:xfrm>
            <a:off x="7147677" y="6027420"/>
            <a:ext cx="3461204" cy="369332"/>
          </a:xfrm>
          <a:prstGeom prst="rect">
            <a:avLst/>
          </a:prstGeom>
          <a:noFill/>
        </p:spPr>
        <p:txBody>
          <a:bodyPr wrap="none" rtlCol="0">
            <a:spAutoFit/>
          </a:bodyPr>
          <a:lstStyle/>
          <a:p>
            <a:r>
              <a:rPr lang="zh-CN" altLang="en-US" dirty="0"/>
              <a:t>我们没有把</a:t>
            </a:r>
            <a:r>
              <a:rPr lang="en-US" altLang="zh-CN" dirty="0"/>
              <a:t>PC</a:t>
            </a:r>
            <a:r>
              <a:rPr lang="zh-CN" altLang="en-US" dirty="0"/>
              <a:t>抽象成普通寄存器</a:t>
            </a:r>
          </a:p>
        </p:txBody>
      </p:sp>
    </p:spTree>
    <p:extLst>
      <p:ext uri="{BB962C8B-B14F-4D97-AF65-F5344CB8AC3E}">
        <p14:creationId xmlns:p14="http://schemas.microsoft.com/office/powerpoint/2010/main" val="1012859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par>
                                <p:cTn id="8" presetID="21" presetClass="entr" presetSubtype="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heel(1)">
                                      <p:cBhvr>
                                        <p:cTn id="10" dur="2000"/>
                                        <p:tgtEl>
                                          <p:spTgt spid="10"/>
                                        </p:tgtEl>
                                      </p:cBhvr>
                                    </p:animEffect>
                                  </p:childTnLst>
                                </p:cTn>
                              </p:par>
                              <p:par>
                                <p:cTn id="11" presetID="21" presetClass="entr" presetSubtype="1"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heel(1)">
                                      <p:cBhvr>
                                        <p:cTn id="13" dur="20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9C23FEF-48D1-2797-45F6-CE609216B04B}"/>
              </a:ext>
            </a:extLst>
          </p:cNvPr>
          <p:cNvPicPr>
            <a:picLocks noChangeAspect="1"/>
          </p:cNvPicPr>
          <p:nvPr/>
        </p:nvPicPr>
        <p:blipFill>
          <a:blip r:embed="rId2"/>
          <a:stretch>
            <a:fillRect/>
          </a:stretch>
        </p:blipFill>
        <p:spPr>
          <a:xfrm>
            <a:off x="0" y="0"/>
            <a:ext cx="8592749" cy="1467055"/>
          </a:xfrm>
          <a:prstGeom prst="rect">
            <a:avLst/>
          </a:prstGeom>
        </p:spPr>
      </p:pic>
      <p:sp>
        <p:nvSpPr>
          <p:cNvPr id="4" name="矩形 3">
            <a:extLst>
              <a:ext uri="{FF2B5EF4-FFF2-40B4-BE49-F238E27FC236}">
                <a16:creationId xmlns:a16="http://schemas.microsoft.com/office/drawing/2014/main" id="{165D27FB-B488-3C65-D2F9-8A8087959260}"/>
              </a:ext>
            </a:extLst>
          </p:cNvPr>
          <p:cNvSpPr/>
          <p:nvPr/>
        </p:nvSpPr>
        <p:spPr>
          <a:xfrm>
            <a:off x="2825715" y="367768"/>
            <a:ext cx="5547360" cy="502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A52EBE93-2175-2B8C-6B19-AE52DE558C96}"/>
              </a:ext>
            </a:extLst>
          </p:cNvPr>
          <p:cNvPicPr>
            <a:picLocks noChangeAspect="1"/>
          </p:cNvPicPr>
          <p:nvPr/>
        </p:nvPicPr>
        <p:blipFill>
          <a:blip r:embed="rId3"/>
          <a:stretch>
            <a:fillRect/>
          </a:stretch>
        </p:blipFill>
        <p:spPr>
          <a:xfrm>
            <a:off x="0" y="1909662"/>
            <a:ext cx="8619320" cy="1641258"/>
          </a:xfrm>
          <a:prstGeom prst="rect">
            <a:avLst/>
          </a:prstGeom>
        </p:spPr>
      </p:pic>
      <p:sp>
        <p:nvSpPr>
          <p:cNvPr id="7" name="矩形 6">
            <a:extLst>
              <a:ext uri="{FF2B5EF4-FFF2-40B4-BE49-F238E27FC236}">
                <a16:creationId xmlns:a16="http://schemas.microsoft.com/office/drawing/2014/main" id="{B8AC038E-BF34-31A1-4DCC-FE323DF10377}"/>
              </a:ext>
            </a:extLst>
          </p:cNvPr>
          <p:cNvSpPr/>
          <p:nvPr/>
        </p:nvSpPr>
        <p:spPr>
          <a:xfrm>
            <a:off x="2727959" y="2240926"/>
            <a:ext cx="5783581" cy="7003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B26F09B3-D7BD-48A6-E2F6-0BD74088E47C}"/>
              </a:ext>
            </a:extLst>
          </p:cNvPr>
          <p:cNvPicPr>
            <a:picLocks noChangeAspect="1"/>
          </p:cNvPicPr>
          <p:nvPr/>
        </p:nvPicPr>
        <p:blipFill>
          <a:blip r:embed="rId4"/>
          <a:stretch>
            <a:fillRect/>
          </a:stretch>
        </p:blipFill>
        <p:spPr>
          <a:xfrm>
            <a:off x="9556292" y="1001405"/>
            <a:ext cx="2010056" cy="4582164"/>
          </a:xfrm>
          <a:prstGeom prst="rect">
            <a:avLst/>
          </a:prstGeom>
        </p:spPr>
      </p:pic>
      <p:pic>
        <p:nvPicPr>
          <p:cNvPr id="11" name="图片 10">
            <a:extLst>
              <a:ext uri="{FF2B5EF4-FFF2-40B4-BE49-F238E27FC236}">
                <a16:creationId xmlns:a16="http://schemas.microsoft.com/office/drawing/2014/main" id="{E2890D01-C896-5E08-BCF7-8AFD34425A2F}"/>
              </a:ext>
            </a:extLst>
          </p:cNvPr>
          <p:cNvPicPr>
            <a:picLocks noChangeAspect="1"/>
          </p:cNvPicPr>
          <p:nvPr/>
        </p:nvPicPr>
        <p:blipFill>
          <a:blip r:embed="rId5"/>
          <a:stretch>
            <a:fillRect/>
          </a:stretch>
        </p:blipFill>
        <p:spPr>
          <a:xfrm>
            <a:off x="0" y="3882184"/>
            <a:ext cx="7106930" cy="2608048"/>
          </a:xfrm>
          <a:prstGeom prst="rect">
            <a:avLst/>
          </a:prstGeom>
        </p:spPr>
      </p:pic>
      <p:sp>
        <p:nvSpPr>
          <p:cNvPr id="12" name="矩形 11">
            <a:extLst>
              <a:ext uri="{FF2B5EF4-FFF2-40B4-BE49-F238E27FC236}">
                <a16:creationId xmlns:a16="http://schemas.microsoft.com/office/drawing/2014/main" id="{DACC0372-FD59-1BFA-BCA0-72CA335F5E4F}"/>
              </a:ext>
            </a:extLst>
          </p:cNvPr>
          <p:cNvSpPr/>
          <p:nvPr/>
        </p:nvSpPr>
        <p:spPr>
          <a:xfrm>
            <a:off x="2707605" y="4836011"/>
            <a:ext cx="4203736" cy="2541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53B1C3E2-EC23-17A8-F212-C4349C41E9E8}"/>
              </a:ext>
            </a:extLst>
          </p:cNvPr>
          <p:cNvSpPr/>
          <p:nvPr/>
        </p:nvSpPr>
        <p:spPr>
          <a:xfrm>
            <a:off x="2707605" y="5437561"/>
            <a:ext cx="4203736" cy="2541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6930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4"/>
                                        </p:tgtEl>
                                        <p:attrNameLst>
                                          <p:attrName>style.opacity</p:attrName>
                                        </p:attrNameLst>
                                      </p:cBhvr>
                                      <p:to>
                                        <p:strVal val="0.5"/>
                                      </p:to>
                                    </p:set>
                                    <p:animEffect filter="image" prLst="opacity: 0.5">
                                      <p:cBhvr rctx="IE">
                                        <p:cTn id="7" dur="indefinite"/>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mph" presetSubtype="0" grpId="0" nodeType="clickEffect">
                                  <p:stCondLst>
                                    <p:cond delay="0"/>
                                  </p:stCondLst>
                                  <p:childTnLst>
                                    <p:set>
                                      <p:cBhvr>
                                        <p:cTn id="11" dur="indefinite"/>
                                        <p:tgtEl>
                                          <p:spTgt spid="7"/>
                                        </p:tgtEl>
                                        <p:attrNameLst>
                                          <p:attrName>style.opacity</p:attrName>
                                        </p:attrNameLst>
                                      </p:cBhvr>
                                      <p:to>
                                        <p:strVal val="0.5"/>
                                      </p:to>
                                    </p:set>
                                    <p:animEffect filter="image" prLst="opacity: 0.5">
                                      <p:cBhvr rctx="IE">
                                        <p:cTn id="12" dur="indefinite"/>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mph" presetSubtype="0" grpId="0" nodeType="clickEffect">
                                  <p:stCondLst>
                                    <p:cond delay="0"/>
                                  </p:stCondLst>
                                  <p:childTnLst>
                                    <p:set>
                                      <p:cBhvr>
                                        <p:cTn id="16" dur="indefinite"/>
                                        <p:tgtEl>
                                          <p:spTgt spid="12"/>
                                        </p:tgtEl>
                                        <p:attrNameLst>
                                          <p:attrName>style.opacity</p:attrName>
                                        </p:attrNameLst>
                                      </p:cBhvr>
                                      <p:to>
                                        <p:strVal val="0.5"/>
                                      </p:to>
                                    </p:set>
                                    <p:animEffect filter="image" prLst="opacity: 0.5">
                                      <p:cBhvr rctx="IE">
                                        <p:cTn id="17" dur="indefinite"/>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mph" presetSubtype="0" grpId="0" nodeType="clickEffect">
                                  <p:stCondLst>
                                    <p:cond delay="0"/>
                                  </p:stCondLst>
                                  <p:childTnLst>
                                    <p:set>
                                      <p:cBhvr>
                                        <p:cTn id="21" dur="indefinite"/>
                                        <p:tgtEl>
                                          <p:spTgt spid="13"/>
                                        </p:tgtEl>
                                        <p:attrNameLst>
                                          <p:attrName>style.opacity</p:attrName>
                                        </p:attrNameLst>
                                      </p:cBhvr>
                                      <p:to>
                                        <p:strVal val="0.5"/>
                                      </p:to>
                                    </p:set>
                                    <p:animEffect filter="image" prLst="opacity: 0.5">
                                      <p:cBhvr rctx="IE">
                                        <p:cTn id="22" dur="indefinite"/>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2"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FA1900A-450A-A26D-42D6-C56AD48D32ED}"/>
              </a:ext>
            </a:extLst>
          </p:cNvPr>
          <p:cNvPicPr>
            <a:picLocks noChangeAspect="1"/>
          </p:cNvPicPr>
          <p:nvPr/>
        </p:nvPicPr>
        <p:blipFill>
          <a:blip r:embed="rId2"/>
          <a:stretch>
            <a:fillRect/>
          </a:stretch>
        </p:blipFill>
        <p:spPr>
          <a:xfrm>
            <a:off x="402335" y="478036"/>
            <a:ext cx="8202170" cy="1695687"/>
          </a:xfrm>
          <a:prstGeom prst="rect">
            <a:avLst/>
          </a:prstGeom>
        </p:spPr>
      </p:pic>
      <p:sp>
        <p:nvSpPr>
          <p:cNvPr id="4" name="矩形 3">
            <a:extLst>
              <a:ext uri="{FF2B5EF4-FFF2-40B4-BE49-F238E27FC236}">
                <a16:creationId xmlns:a16="http://schemas.microsoft.com/office/drawing/2014/main" id="{9083EEFD-473B-9776-2905-409BE2F7E7B2}"/>
              </a:ext>
            </a:extLst>
          </p:cNvPr>
          <p:cNvSpPr/>
          <p:nvPr/>
        </p:nvSpPr>
        <p:spPr>
          <a:xfrm>
            <a:off x="2917154" y="1074419"/>
            <a:ext cx="5586765" cy="502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D149AAD1-8C39-61A4-6F4B-D5FD88C1D22D}"/>
              </a:ext>
            </a:extLst>
          </p:cNvPr>
          <p:cNvPicPr>
            <a:picLocks noChangeAspect="1"/>
          </p:cNvPicPr>
          <p:nvPr/>
        </p:nvPicPr>
        <p:blipFill>
          <a:blip r:embed="rId3"/>
          <a:stretch>
            <a:fillRect/>
          </a:stretch>
        </p:blipFill>
        <p:spPr>
          <a:xfrm>
            <a:off x="9556292" y="1001405"/>
            <a:ext cx="2010056" cy="4582164"/>
          </a:xfrm>
          <a:prstGeom prst="rect">
            <a:avLst/>
          </a:prstGeom>
        </p:spPr>
      </p:pic>
      <p:pic>
        <p:nvPicPr>
          <p:cNvPr id="7" name="图片 6">
            <a:extLst>
              <a:ext uri="{FF2B5EF4-FFF2-40B4-BE49-F238E27FC236}">
                <a16:creationId xmlns:a16="http://schemas.microsoft.com/office/drawing/2014/main" id="{FCCFF593-FB5B-86C8-4BF1-4395BFB58D8F}"/>
              </a:ext>
            </a:extLst>
          </p:cNvPr>
          <p:cNvPicPr>
            <a:picLocks noChangeAspect="1"/>
          </p:cNvPicPr>
          <p:nvPr/>
        </p:nvPicPr>
        <p:blipFill>
          <a:blip r:embed="rId4"/>
          <a:stretch>
            <a:fillRect/>
          </a:stretch>
        </p:blipFill>
        <p:spPr>
          <a:xfrm>
            <a:off x="402335" y="2265683"/>
            <a:ext cx="7802064" cy="4505954"/>
          </a:xfrm>
          <a:prstGeom prst="rect">
            <a:avLst/>
          </a:prstGeom>
        </p:spPr>
      </p:pic>
      <p:sp>
        <p:nvSpPr>
          <p:cNvPr id="8" name="矩形 7">
            <a:extLst>
              <a:ext uri="{FF2B5EF4-FFF2-40B4-BE49-F238E27FC236}">
                <a16:creationId xmlns:a16="http://schemas.microsoft.com/office/drawing/2014/main" id="{610BAB43-2C29-4BFA-515F-93F7BE806E9D}"/>
              </a:ext>
            </a:extLst>
          </p:cNvPr>
          <p:cNvSpPr/>
          <p:nvPr/>
        </p:nvSpPr>
        <p:spPr>
          <a:xfrm>
            <a:off x="2706841" y="2830210"/>
            <a:ext cx="4996980" cy="11093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CF1BF56-7948-8083-0B3C-736A477F3762}"/>
              </a:ext>
            </a:extLst>
          </p:cNvPr>
          <p:cNvSpPr/>
          <p:nvPr/>
        </p:nvSpPr>
        <p:spPr>
          <a:xfrm>
            <a:off x="2706842" y="5280660"/>
            <a:ext cx="4996980" cy="8381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8064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4"/>
                                        </p:tgtEl>
                                        <p:attrNameLst>
                                          <p:attrName>style.opacity</p:attrName>
                                        </p:attrNameLst>
                                      </p:cBhvr>
                                      <p:to>
                                        <p:strVal val="0.5"/>
                                      </p:to>
                                    </p:set>
                                    <p:animEffect filter="image" prLst="opacity: 0.5">
                                      <p:cBhvr rctx="IE">
                                        <p:cTn id="7" dur="indefinite"/>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mph" presetSubtype="0" grpId="0" nodeType="clickEffect">
                                  <p:stCondLst>
                                    <p:cond delay="0"/>
                                  </p:stCondLst>
                                  <p:childTnLst>
                                    <p:set>
                                      <p:cBhvr>
                                        <p:cTn id="11" dur="indefinite"/>
                                        <p:tgtEl>
                                          <p:spTgt spid="8"/>
                                        </p:tgtEl>
                                        <p:attrNameLst>
                                          <p:attrName>style.opacity</p:attrName>
                                        </p:attrNameLst>
                                      </p:cBhvr>
                                      <p:to>
                                        <p:strVal val="0.5"/>
                                      </p:to>
                                    </p:set>
                                    <p:animEffect filter="image" prLst="opacity: 0.5">
                                      <p:cBhvr rctx="IE">
                                        <p:cTn id="12" dur="indefinite"/>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mph" presetSubtype="0" grpId="0" nodeType="clickEffect">
                                  <p:stCondLst>
                                    <p:cond delay="0"/>
                                  </p:stCondLst>
                                  <p:childTnLst>
                                    <p:set>
                                      <p:cBhvr>
                                        <p:cTn id="16" dur="indefinite"/>
                                        <p:tgtEl>
                                          <p:spTgt spid="9"/>
                                        </p:tgtEl>
                                        <p:attrNameLst>
                                          <p:attrName>style.opacity</p:attrName>
                                        </p:attrNameLst>
                                      </p:cBhvr>
                                      <p:to>
                                        <p:strVal val="0.5"/>
                                      </p:to>
                                    </p:set>
                                    <p:animEffect filter="image" prLst="opacity: 0.5">
                                      <p:cBhvr rctx="IE">
                                        <p:cTn id="17" dur="indefinite"/>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2609518-939E-95F9-0E48-01F4DAF61C25}"/>
              </a:ext>
            </a:extLst>
          </p:cNvPr>
          <p:cNvPicPr>
            <a:picLocks noChangeAspect="1"/>
          </p:cNvPicPr>
          <p:nvPr/>
        </p:nvPicPr>
        <p:blipFill>
          <a:blip r:embed="rId2"/>
          <a:stretch>
            <a:fillRect/>
          </a:stretch>
        </p:blipFill>
        <p:spPr>
          <a:xfrm>
            <a:off x="970065" y="1604708"/>
            <a:ext cx="7630590" cy="3648584"/>
          </a:xfrm>
          <a:prstGeom prst="rect">
            <a:avLst/>
          </a:prstGeom>
        </p:spPr>
      </p:pic>
      <p:pic>
        <p:nvPicPr>
          <p:cNvPr id="4" name="图片 3">
            <a:extLst>
              <a:ext uri="{FF2B5EF4-FFF2-40B4-BE49-F238E27FC236}">
                <a16:creationId xmlns:a16="http://schemas.microsoft.com/office/drawing/2014/main" id="{70266B33-2CBC-1974-8255-9F4D2CD421F1}"/>
              </a:ext>
            </a:extLst>
          </p:cNvPr>
          <p:cNvPicPr>
            <a:picLocks noChangeAspect="1"/>
          </p:cNvPicPr>
          <p:nvPr/>
        </p:nvPicPr>
        <p:blipFill>
          <a:blip r:embed="rId3"/>
          <a:stretch>
            <a:fillRect/>
          </a:stretch>
        </p:blipFill>
        <p:spPr>
          <a:xfrm>
            <a:off x="9556292" y="1001405"/>
            <a:ext cx="2010056" cy="4582164"/>
          </a:xfrm>
          <a:prstGeom prst="rect">
            <a:avLst/>
          </a:prstGeom>
        </p:spPr>
      </p:pic>
      <p:sp>
        <p:nvSpPr>
          <p:cNvPr id="5" name="矩形 4">
            <a:extLst>
              <a:ext uri="{FF2B5EF4-FFF2-40B4-BE49-F238E27FC236}">
                <a16:creationId xmlns:a16="http://schemas.microsoft.com/office/drawing/2014/main" id="{A92A6404-6E49-64EB-ACE7-0200C62F7F4E}"/>
              </a:ext>
            </a:extLst>
          </p:cNvPr>
          <p:cNvSpPr/>
          <p:nvPr/>
        </p:nvSpPr>
        <p:spPr>
          <a:xfrm>
            <a:off x="3339302" y="2156460"/>
            <a:ext cx="4996980" cy="8381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3A9EF39F-1320-888F-D203-C7A0B3D6B7BE}"/>
              </a:ext>
            </a:extLst>
          </p:cNvPr>
          <p:cNvPicPr>
            <a:picLocks noChangeAspect="1"/>
          </p:cNvPicPr>
          <p:nvPr/>
        </p:nvPicPr>
        <p:blipFill>
          <a:blip r:embed="rId3"/>
          <a:stretch>
            <a:fillRect/>
          </a:stretch>
        </p:blipFill>
        <p:spPr>
          <a:xfrm>
            <a:off x="9556292" y="1001405"/>
            <a:ext cx="2010056" cy="4582164"/>
          </a:xfrm>
          <a:prstGeom prst="rect">
            <a:avLst/>
          </a:prstGeom>
        </p:spPr>
      </p:pic>
      <p:sp>
        <p:nvSpPr>
          <p:cNvPr id="7" name="矩形 6">
            <a:extLst>
              <a:ext uri="{FF2B5EF4-FFF2-40B4-BE49-F238E27FC236}">
                <a16:creationId xmlns:a16="http://schemas.microsoft.com/office/drawing/2014/main" id="{C011ADB0-DD11-4B05-D88F-FC0424144972}"/>
              </a:ext>
            </a:extLst>
          </p:cNvPr>
          <p:cNvSpPr/>
          <p:nvPr/>
        </p:nvSpPr>
        <p:spPr>
          <a:xfrm>
            <a:off x="3339302" y="4335780"/>
            <a:ext cx="4996980" cy="3124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7654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5"/>
                                        </p:tgtEl>
                                        <p:attrNameLst>
                                          <p:attrName>style.opacity</p:attrName>
                                        </p:attrNameLst>
                                      </p:cBhvr>
                                      <p:to>
                                        <p:strVal val="0.5"/>
                                      </p:to>
                                    </p:set>
                                    <p:animEffect filter="image" prLst="opacity: 0.5">
                                      <p:cBhvr rctx="IE">
                                        <p:cTn id="7" dur="indefinite"/>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mph" presetSubtype="0" grpId="0" nodeType="clickEffect">
                                  <p:stCondLst>
                                    <p:cond delay="0"/>
                                  </p:stCondLst>
                                  <p:childTnLst>
                                    <p:set>
                                      <p:cBhvr>
                                        <p:cTn id="11" dur="indefinite"/>
                                        <p:tgtEl>
                                          <p:spTgt spid="7"/>
                                        </p:tgtEl>
                                        <p:attrNameLst>
                                          <p:attrName>style.opacity</p:attrName>
                                        </p:attrNameLst>
                                      </p:cBhvr>
                                      <p:to>
                                        <p:strVal val="0.5"/>
                                      </p:to>
                                    </p:set>
                                    <p:animEffect filter="image" prLst="opacity: 0.5">
                                      <p:cBhvr rctx="IE">
                                        <p:cTn id="12" dur="indefinite"/>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1666</TotalTime>
  <Words>1016</Words>
  <Application>Microsoft Office PowerPoint</Application>
  <PresentationFormat>宽屏</PresentationFormat>
  <Paragraphs>85</Paragraphs>
  <Slides>28</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28</vt:i4>
      </vt:variant>
    </vt:vector>
  </HeadingPairs>
  <TitlesOfParts>
    <vt:vector size="33" baseType="lpstr">
      <vt:lpstr>等线</vt:lpstr>
      <vt:lpstr>Arial</vt:lpstr>
      <vt:lpstr>Calibri</vt:lpstr>
      <vt:lpstr>Calibri Light</vt:lpstr>
      <vt:lpstr>Office 主题​​</vt:lpstr>
      <vt:lpstr>ICS seminar 0x4</vt:lpstr>
      <vt:lpstr>X86-Y86的翻译</vt:lpstr>
      <vt:lpstr>Y86不支持的功能</vt:lpstr>
      <vt:lpstr>circuit</vt:lpstr>
      <vt:lpstr>PowerPoint 演示文稿</vt:lpstr>
      <vt:lpstr>PowerPoint 演示文稿</vt:lpstr>
      <vt:lpstr>PowerPoint 演示文稿</vt:lpstr>
      <vt:lpstr>PowerPoint 演示文稿</vt:lpstr>
      <vt:lpstr>PowerPoint 演示文稿</vt:lpstr>
      <vt:lpstr>PowerPoint 演示文稿</vt:lpstr>
      <vt:lpstr>RISC &amp; CISC</vt:lpstr>
      <vt:lpstr>PowerPoint 演示文稿</vt:lpstr>
      <vt:lpstr>Extended topic:</vt:lpstr>
      <vt:lpstr>PowerPoint 演示文稿</vt:lpstr>
      <vt:lpstr>PowerPoint 演示文稿</vt:lpstr>
      <vt:lpstr>PowerPoint 演示文稿</vt:lpstr>
      <vt:lpstr>ISA &amp; ABI</vt:lpstr>
      <vt:lpstr>ISA（二进制如何作用在硬件上）</vt:lpstr>
      <vt:lpstr>ABI（应用如何作用在二进制上）</vt:lpstr>
      <vt:lpstr>为什么有的时候会混淆？</vt:lpstr>
      <vt:lpstr>核心内容：SEQ</vt:lpstr>
      <vt:lpstr>杂项</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ziyuan he</dc:creator>
  <cp:lastModifiedBy>ziyuan he</cp:lastModifiedBy>
  <cp:revision>1</cp:revision>
  <dcterms:created xsi:type="dcterms:W3CDTF">2025-10-21T08:51:56Z</dcterms:created>
  <dcterms:modified xsi:type="dcterms:W3CDTF">2025-10-22T12:38:26Z</dcterms:modified>
</cp:coreProperties>
</file>