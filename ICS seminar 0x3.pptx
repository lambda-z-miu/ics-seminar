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sldIdLst>
    <p:sldId id="256" r:id="rId2"/>
    <p:sldId id="290" r:id="rId3"/>
    <p:sldId id="291" r:id="rId4"/>
    <p:sldId id="293" r:id="rId5"/>
    <p:sldId id="292" r:id="rId6"/>
    <p:sldId id="294" r:id="rId7"/>
    <p:sldId id="296" r:id="rId8"/>
    <p:sldId id="315" r:id="rId9"/>
    <p:sldId id="316" r:id="rId10"/>
    <p:sldId id="317" r:id="rId11"/>
    <p:sldId id="318" r:id="rId12"/>
    <p:sldId id="320" r:id="rId13"/>
    <p:sldId id="304" r:id="rId14"/>
    <p:sldId id="305" r:id="rId15"/>
    <p:sldId id="300" r:id="rId16"/>
    <p:sldId id="313" r:id="rId17"/>
    <p:sldId id="306" r:id="rId18"/>
    <p:sldId id="308" r:id="rId19"/>
    <p:sldId id="310" r:id="rId20"/>
    <p:sldId id="309" r:id="rId21"/>
    <p:sldId id="260" r:id="rId22"/>
    <p:sldId id="297" r:id="rId23"/>
    <p:sldId id="311" r:id="rId24"/>
    <p:sldId id="298" r:id="rId25"/>
    <p:sldId id="312" r:id="rId26"/>
    <p:sldId id="302" r:id="rId27"/>
    <p:sldId id="301" r:id="rId28"/>
    <p:sldId id="314" r:id="rId29"/>
    <p:sldId id="321"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4C1A75-E251-4158-879D-34F7D6E21755}" v="158" dt="2025-09-24T09:24:11.141"/>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14" autoAdjust="0"/>
    <p:restoredTop sz="94660"/>
  </p:normalViewPr>
  <p:slideViewPr>
    <p:cSldViewPr snapToGrid="0">
      <p:cViewPr varScale="1">
        <p:scale>
          <a:sx n="106" d="100"/>
          <a:sy n="106" d="100"/>
        </p:scale>
        <p:origin x="76" y="1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3T16:06:36.840"/>
    </inkml:context>
    <inkml:brush xml:id="br0">
      <inkml:brushProperty name="width" value="0.035" units="cm"/>
      <inkml:brushProperty name="height" value="0.035" units="cm"/>
      <inkml:brushProperty name="color" value="#E71224"/>
    </inkml:brush>
  </inkml:definitions>
  <inkml:trace contextRef="#ctx0" brushRef="#br0">1151 575 24492,'0'23'0,"-1"-1"0,-2 1 0,0-1 0,-1 1 0,-1-1 0,0-1 0,-2 1 0,0-1 0,-1 0 0,-2 0 0,1-1 0,-2 0 0,0 0 0,-2-1 0,0-1 0,0 0 0,-2 0 0,0-1 0,0-1 0,-1 0 0,-1-1 0,-1-1 0,0 0 0,0-2 0,-1 1 0,-1-2 0,0 0 0,0-1 0,-1-1 0,0-1 0,0-1 0,-1 0 0,0-2 0,0 0 0,0-1 0,0-1 0,-1 0 0,1-2 0,-1-1 0,0 0 0,1-1 0,-1-2 0,1 0 0,0-1 0,0-1 0,0 0 0,0-2 0,1 0 0,0-1 0,0-1 0,1-1 0,0-1 0,0 0 0,1-2 0,1 1 0,0-2 0,0 0 0,1-1 0,1-1 0,1 0 0,0-1 0,0-1 0,2 0 0,0 0 0,0-1 0,2-1 0,0 0 0,2 0 0,-1-1 0,2 0 0,1 0 0,0-1 0,2 1 0,0-1 0,1-1 0,1 1 0,0-1 0,2 1 0,1-1 0,0 1 0,1-1 0,2 1 0,0-1 0,1 1 0,1 0 0,0 0 0,2 1 0,0-1 0,1 1 0,2 1 0,-1-1 0,2 1 0,0 1 0,2 0 0,0 0 0,0 1 0,2 1 0,0 0 0,0 1 0,1 0 0,1 1 0,1 1 0,0 0 0,0 1 0,1 1 0,1 1 0,0 0 0,0 1 0,1 1 0,0 1 0,0 0 0,1 2 0,0 0 0,0 1 0,0 1 0,0 1 0,1 1 0,-1 1 0,1 0 0,0 2 0,-1 0 0,1 1 0,-1 1 0,0 1 0,0 1 0,0 1 0,0 0 0,-1 2 0,0 0 0,0 1 0,-1 1 0,0 1 0,0 0 0,-1 1 0,-1 1 0,0 1 0,0 0 0,-1 1 0,-1 1 0,-1 0 0,0 1 0,0 0 0,-2 1 0,0 1 0,0 0 0,-2 0 0,0 1 0,-2 1 0,1-1 0,-2 1 0,-1 1 0,0-1 0,-2 1 0,0 0 0,-1 0 0,-1 1 0,0-1 0,-2 1 0,-1-1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5T05:40:41.073"/>
    </inkml:context>
    <inkml:brush xml:id="br0">
      <inkml:brushProperty name="width" value="0.035" units="cm"/>
      <inkml:brushProperty name="height" value="0.035" units="cm"/>
      <inkml:brushProperty name="color" value="#E71224"/>
    </inkml:brush>
  </inkml:definitions>
  <inkml:trace contextRef="#ctx0" brushRef="#br0">4 1 24575,'-2'44'0,"1"-29"0,0 1 0,1-1 0,1 1 0,0-1 0,1 0 0,8 31 0,-9-45 0,0 1 0,-1-1 0,1 1 0,0-1 0,0 0 0,0 1 0,0-1 0,0 0 0,0 1 0,0-1 0,0 0 0,0 0 0,1 0 0,-1 0 0,1 0 0,-1 0 0,0-1 0,1 1 0,-1 0 0,1-1 0,0 1 0,-1-1 0,1 0 0,-1 1 0,1-1 0,0 0 0,-1 0 0,1 0 0,0 0 0,-1 0 0,1 0 0,2-1 0,-1 0 0,0 0 0,-1 1 0,1-1 0,0 0 0,-1-1 0,1 1 0,-1 0 0,1-1 0,-1 1 0,0-1 0,0 0 0,0 0 0,0 0 0,0 0 0,0 0 0,0 0 0,-1-1 0,3-3 0,5-13 0,16-26 0,-22 46 0,-2 7 0,0 10 0,-1 16-1365,-1-18-5461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5T05:40:43.333"/>
    </inkml:context>
    <inkml:brush xml:id="br0">
      <inkml:brushProperty name="width" value="0.035" units="cm"/>
      <inkml:brushProperty name="height" value="0.035" units="cm"/>
      <inkml:brushProperty name="color" value="#E71224"/>
    </inkml:brush>
  </inkml:definitions>
  <inkml:trace contextRef="#ctx0" brushRef="#br0">1 0 24575,'6'1'0,"0"1"0,0-1 0,0 1 0,0 0 0,0 0 0,0 0 0,0 1 0,-1 0 0,6 4 0,14 6 0,-16-9 0,0 1 0,0-1 0,-1 1 0,1 1 0,-1 0 0,7 6 0,-13-10 0,0 0 0,0 0 0,-1 0 0,1 0 0,0 1 0,-1-1 0,1 0 0,-1 1 0,0-1 0,0 1 0,0-1 0,0 1 0,-1-1 0,1 1 0,-1 0 0,1-1 0,-1 1 0,0 0 0,0-1 0,0 1 0,0 0 0,-1 0 0,1-1 0,-1 1 0,1 0 0,-1-1 0,-1 3 0,1-3 0,1-1 0,-1 0 0,0 1 0,0-1 0,0 0 0,0 0 0,0 1 0,0-1 0,0 0 0,0 0 0,0 0 0,0 0 0,-1-1 0,1 1 0,0 0 0,-1 0 0,1-1 0,-1 1 0,-2 0 0,-31 3 0,18-4 0,17 0 0,0 0 0,0 0 0,-1 0 0,1 0 0,0 0 0,0 0 0,-1 0 0,1 0 0,0 1 0,0-1 0,-1 0 0,1 0 0,0 0 0,0 0 0,-1 0 0,1 0 0,0 0 0,0 0 0,0 1 0,0-1 0,-1 0 0,1 0 0,0 0 0,0 0 0,0 1 0,0-1 0,-1 0 0,1 0 0,0 1 0,0-1 0,0 0 0,0 0 0,0 0 0,0 1 0,0-1 0,0 0 0,0 0 0,0 1 0,0-1 0,6 11 0,18 13 0,-20-21 0,27 20 0,-25-19 0,1 1 0,-1-1 0,0 1 0,-1 0 0,10 11 0,-13-14 0,-1 0 0,0 0 0,0 0 0,0 0 0,0 0 0,0 1 0,-1-1 0,1 0 0,-1 0 0,1 1 0,-1-1 0,0 1 0,0-1 0,0 0 0,0 1 0,0-1 0,0 0 0,-1 1 0,1-1 0,-1 0 0,0 1 0,0-1 0,-1 3 0,1-3 0,-1 0 0,1 0 0,-1 0 0,1 0 0,-1 0 0,1-1 0,-1 1 0,0-1 0,0 1 0,0-1 0,0 1 0,0-1 0,0 0 0,0 0 0,-1 0 0,1 0 0,0-1 0,-1 1 0,1-1 0,0 1 0,-5-1 0,-8 1 0,1 0 0,-23-3 0,16 1 0,11 0-107,-29-3-1151,28 1-5568</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5T05:40:45.870"/>
    </inkml:context>
    <inkml:brush xml:id="br0">
      <inkml:brushProperty name="width" value="0.035" units="cm"/>
      <inkml:brushProperty name="height" value="0.035" units="cm"/>
      <inkml:brushProperty name="color" value="#E71224"/>
    </inkml:brush>
  </inkml:definitions>
  <inkml:trace contextRef="#ctx0" brushRef="#br0">0 90 24575,'1'-4'0,"-1"1"0,1 0 0,0-1 0,0 1 0,0 0 0,0 0 0,1 0 0,-1 0 0,1 0 0,0 0 0,-1 0 0,1 0 0,1 0 0,-1 1 0,0-1 0,1 1 0,-1 0 0,1 0 0,0 0 0,0 0 0,-1 0 0,1 0 0,1 1 0,3-2 0,2-1 0,0 0 0,1 1 0,0 0 0,0 1 0,-1 0 0,21-1 0,-29 3 0,11-1 0,0 1 0,0 0 0,0 1 0,0 0 0,16 4 0,-26-4 0,1 0 0,0 0 0,0 1 0,0-1 0,-1 0 0,1 1 0,-1 0 0,1 0 0,-1-1 0,0 1 0,1 1 0,-1-1 0,0 0 0,0 0 0,-1 1 0,1-1 0,0 1 0,-1 0 0,0-1 0,0 1 0,1 0 0,-1 0 0,-1 0 0,1 0 0,0 0 0,-1 4 0,1 2 0,-1 0 0,-1 1 0,0-1 0,0 0 0,-1 0 0,0 0 0,-1 0 0,0-1 0,0 1 0,-1-1 0,0 0 0,0 1 0,-1-2 0,0 1 0,-1-1 0,1 1 0,-12 9 0,13-14 0,0-1 0,0 0 0,0 0 0,0-1 0,0 1 0,0-1 0,0 0 0,-1 0 0,1 0 0,0-1 0,-1 1 0,1-1 0,-9-1 0,144-1-1365,-115 2-5461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5T05:40:48.414"/>
    </inkml:context>
    <inkml:brush xml:id="br0">
      <inkml:brushProperty name="width" value="0.035" units="cm"/>
      <inkml:brushProperty name="height" value="0.035" units="cm"/>
      <inkml:brushProperty name="color" value="#E71224"/>
    </inkml:brush>
  </inkml:definitions>
  <inkml:trace contextRef="#ctx0" brushRef="#br0">0 1 24575,'0'3'0,"0"4"0,0 3 0,0 4 0,0 2 0,0 1 0,0 1 0,0 0 0,0 0 0,0 0 0,0 0 0,0 0 0,0-4-8191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979173-1B42-4AAD-9E95-E688D71FDFB5}" type="datetimeFigureOut">
              <a:rPr lang="zh-CN" altLang="en-US" smtClean="0"/>
              <a:t>2025/10/16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281164-52D5-4DBE-BB54-CD5ABCCA9669}" type="slidenum">
              <a:rPr lang="zh-CN" altLang="en-US" smtClean="0"/>
              <a:t>‹#›</a:t>
            </a:fld>
            <a:endParaRPr lang="zh-CN" altLang="en-US"/>
          </a:p>
        </p:txBody>
      </p:sp>
    </p:spTree>
    <p:extLst>
      <p:ext uri="{BB962C8B-B14F-4D97-AF65-F5344CB8AC3E}">
        <p14:creationId xmlns:p14="http://schemas.microsoft.com/office/powerpoint/2010/main" val="413310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429419EF-CAE4-41BB-B7A4-163D29AA21F8}" type="datetimeFigureOut">
              <a:rPr lang="zh-CN" altLang="en-US" smtClean="0"/>
              <a:t>2025/10/16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CA7A24B-0DDF-437D-A470-CEEAA1896608}" type="slidenum">
              <a:rPr lang="zh-CN" altLang="en-US" smtClean="0"/>
              <a:t>‹#›</a:t>
            </a:fld>
            <a:endParaRPr lang="zh-CN" altLang="en-US"/>
          </a:p>
        </p:txBody>
      </p:sp>
    </p:spTree>
    <p:extLst>
      <p:ext uri="{BB962C8B-B14F-4D97-AF65-F5344CB8AC3E}">
        <p14:creationId xmlns:p14="http://schemas.microsoft.com/office/powerpoint/2010/main" val="896293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429419EF-CAE4-41BB-B7A4-163D29AA21F8}" type="datetimeFigureOut">
              <a:rPr lang="zh-CN" altLang="en-US" smtClean="0"/>
              <a:t>2025/10/16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CA7A24B-0DDF-437D-A470-CEEAA1896608}" type="slidenum">
              <a:rPr lang="zh-CN" altLang="en-US" smtClean="0"/>
              <a:t>‹#›</a:t>
            </a:fld>
            <a:endParaRPr lang="zh-CN" altLang="en-US"/>
          </a:p>
        </p:txBody>
      </p:sp>
    </p:spTree>
    <p:extLst>
      <p:ext uri="{BB962C8B-B14F-4D97-AF65-F5344CB8AC3E}">
        <p14:creationId xmlns:p14="http://schemas.microsoft.com/office/powerpoint/2010/main" val="2040491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429419EF-CAE4-41BB-B7A4-163D29AA21F8}" type="datetimeFigureOut">
              <a:rPr lang="zh-CN" altLang="en-US" smtClean="0"/>
              <a:t>2025/10/16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CA7A24B-0DDF-437D-A470-CEEAA1896608}" type="slidenum">
              <a:rPr lang="zh-CN" altLang="en-US" smtClean="0"/>
              <a:t>‹#›</a:t>
            </a:fld>
            <a:endParaRPr lang="zh-CN" altLang="en-US"/>
          </a:p>
        </p:txBody>
      </p:sp>
    </p:spTree>
    <p:extLst>
      <p:ext uri="{BB962C8B-B14F-4D97-AF65-F5344CB8AC3E}">
        <p14:creationId xmlns:p14="http://schemas.microsoft.com/office/powerpoint/2010/main" val="33448877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429419EF-CAE4-41BB-B7A4-163D29AA21F8}" type="datetimeFigureOut">
              <a:rPr lang="zh-CN" altLang="en-US" smtClean="0"/>
              <a:t>2025/10/16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CA7A24B-0DDF-437D-A470-CEEAA1896608}" type="slidenum">
              <a:rPr lang="zh-CN" altLang="en-US" smtClean="0"/>
              <a:t>‹#›</a:t>
            </a:fld>
            <a:endParaRPr lang="zh-CN" altLang="en-US"/>
          </a:p>
        </p:txBody>
      </p:sp>
    </p:spTree>
    <p:extLst>
      <p:ext uri="{BB962C8B-B14F-4D97-AF65-F5344CB8AC3E}">
        <p14:creationId xmlns:p14="http://schemas.microsoft.com/office/powerpoint/2010/main" val="12167164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429419EF-CAE4-41BB-B7A4-163D29AA21F8}" type="datetimeFigureOut">
              <a:rPr lang="zh-CN" altLang="en-US" smtClean="0"/>
              <a:t>2025/10/16</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6CA7A24B-0DDF-437D-A470-CEEAA1896608}" type="slidenum">
              <a:rPr lang="zh-CN" altLang="en-US" smtClean="0"/>
              <a:t>‹#›</a:t>
            </a:fld>
            <a:endParaRPr lang="zh-CN" altLang="en-US"/>
          </a:p>
        </p:txBody>
      </p:sp>
    </p:spTree>
    <p:extLst>
      <p:ext uri="{BB962C8B-B14F-4D97-AF65-F5344CB8AC3E}">
        <p14:creationId xmlns:p14="http://schemas.microsoft.com/office/powerpoint/2010/main" val="1026891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29419EF-CAE4-41BB-B7A4-163D29AA21F8}" type="datetimeFigureOut">
              <a:rPr lang="zh-CN" altLang="en-US" smtClean="0"/>
              <a:t>2025/10/16</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6CA7A24B-0DDF-437D-A470-CEEAA1896608}" type="slidenum">
              <a:rPr lang="zh-CN" altLang="en-US" smtClean="0"/>
              <a:t>‹#›</a:t>
            </a:fld>
            <a:endParaRPr lang="zh-CN" altLang="en-US"/>
          </a:p>
        </p:txBody>
      </p:sp>
    </p:spTree>
    <p:extLst>
      <p:ext uri="{BB962C8B-B14F-4D97-AF65-F5344CB8AC3E}">
        <p14:creationId xmlns:p14="http://schemas.microsoft.com/office/powerpoint/2010/main" val="2369638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9419EF-CAE4-41BB-B7A4-163D29AA21F8}" type="datetimeFigureOut">
              <a:rPr lang="zh-CN" altLang="en-US" smtClean="0"/>
              <a:t>2025/10/16</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6CA7A24B-0DDF-437D-A470-CEEAA1896608}" type="slidenum">
              <a:rPr lang="zh-CN" altLang="en-US" smtClean="0"/>
              <a:t>‹#›</a:t>
            </a:fld>
            <a:endParaRPr lang="zh-CN" altLang="en-US"/>
          </a:p>
        </p:txBody>
      </p:sp>
    </p:spTree>
    <p:extLst>
      <p:ext uri="{BB962C8B-B14F-4D97-AF65-F5344CB8AC3E}">
        <p14:creationId xmlns:p14="http://schemas.microsoft.com/office/powerpoint/2010/main" val="2515912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429419EF-CAE4-41BB-B7A4-163D29AA21F8}" type="datetimeFigureOut">
              <a:rPr lang="zh-CN" altLang="en-US" smtClean="0"/>
              <a:t>2025/10/16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CA7A24B-0DDF-437D-A470-CEEAA1896608}" type="slidenum">
              <a:rPr lang="zh-CN" altLang="en-US" smtClean="0"/>
              <a:t>‹#›</a:t>
            </a:fld>
            <a:endParaRPr lang="zh-CN" altLang="en-US"/>
          </a:p>
        </p:txBody>
      </p:sp>
    </p:spTree>
    <p:extLst>
      <p:ext uri="{BB962C8B-B14F-4D97-AF65-F5344CB8AC3E}">
        <p14:creationId xmlns:p14="http://schemas.microsoft.com/office/powerpoint/2010/main" val="30068961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429419EF-CAE4-41BB-B7A4-163D29AA21F8}" type="datetimeFigureOut">
              <a:rPr lang="zh-CN" altLang="en-US" smtClean="0"/>
              <a:t>2025/10/16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6CA7A24B-0DDF-437D-A470-CEEAA1896608}" type="slidenum">
              <a:rPr lang="zh-CN" altLang="en-US" smtClean="0"/>
              <a:t>‹#›</a:t>
            </a:fld>
            <a:endParaRPr lang="zh-CN" altLang="en-US"/>
          </a:p>
        </p:txBody>
      </p:sp>
    </p:spTree>
    <p:extLst>
      <p:ext uri="{BB962C8B-B14F-4D97-AF65-F5344CB8AC3E}">
        <p14:creationId xmlns:p14="http://schemas.microsoft.com/office/powerpoint/2010/main" val="3995796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429419EF-CAE4-41BB-B7A4-163D29AA21F8}" type="datetimeFigureOut">
              <a:rPr lang="zh-CN" altLang="en-US" smtClean="0"/>
              <a:t>2025/10/16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CA7A24B-0DDF-437D-A470-CEEAA1896608}" type="slidenum">
              <a:rPr lang="zh-CN" altLang="en-US" smtClean="0"/>
              <a:t>‹#›</a:t>
            </a:fld>
            <a:endParaRPr lang="zh-CN" altLang="en-US"/>
          </a:p>
        </p:txBody>
      </p:sp>
    </p:spTree>
    <p:extLst>
      <p:ext uri="{BB962C8B-B14F-4D97-AF65-F5344CB8AC3E}">
        <p14:creationId xmlns:p14="http://schemas.microsoft.com/office/powerpoint/2010/main" val="1367211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429419EF-CAE4-41BB-B7A4-163D29AA21F8}" type="datetimeFigureOut">
              <a:rPr lang="zh-CN" altLang="en-US" smtClean="0"/>
              <a:t>2025/10/16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CA7A24B-0DDF-437D-A470-CEEAA1896608}" type="slidenum">
              <a:rPr lang="zh-CN" altLang="en-US" smtClean="0"/>
              <a:t>‹#›</a:t>
            </a:fld>
            <a:endParaRPr lang="zh-CN" altLang="en-US"/>
          </a:p>
        </p:txBody>
      </p:sp>
    </p:spTree>
    <p:extLst>
      <p:ext uri="{BB962C8B-B14F-4D97-AF65-F5344CB8AC3E}">
        <p14:creationId xmlns:p14="http://schemas.microsoft.com/office/powerpoint/2010/main" val="2280373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9419EF-CAE4-41BB-B7A4-163D29AA21F8}" type="datetimeFigureOut">
              <a:rPr lang="zh-CN" altLang="en-US" smtClean="0"/>
              <a:t>2025/10/16</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A7A24B-0DDF-437D-A470-CEEAA1896608}" type="slidenum">
              <a:rPr lang="zh-CN" altLang="en-US" smtClean="0"/>
              <a:t>‹#›</a:t>
            </a:fld>
            <a:endParaRPr lang="zh-CN" altLang="en-US"/>
          </a:p>
        </p:txBody>
      </p:sp>
    </p:spTree>
    <p:extLst>
      <p:ext uri="{BB962C8B-B14F-4D97-AF65-F5344CB8AC3E}">
        <p14:creationId xmlns:p14="http://schemas.microsoft.com/office/powerpoint/2010/main" val="394425500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19.png"/><Relationship Id="rId7" Type="http://schemas.openxmlformats.org/officeDocument/2006/relationships/image" Target="../media/image21.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23.png"/><Relationship Id="rId5" Type="http://schemas.openxmlformats.org/officeDocument/2006/relationships/image" Target="../media/image20.png"/><Relationship Id="rId10" Type="http://schemas.openxmlformats.org/officeDocument/2006/relationships/customXml" Target="../ink/ink5.xml"/><Relationship Id="rId4" Type="http://schemas.openxmlformats.org/officeDocument/2006/relationships/customXml" Target="../ink/ink2.xml"/><Relationship Id="rId9"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BCD4E6-9D58-479E-8566-547B3704B944}"/>
              </a:ext>
            </a:extLst>
          </p:cNvPr>
          <p:cNvSpPr>
            <a:spLocks noGrp="1"/>
          </p:cNvSpPr>
          <p:nvPr>
            <p:ph type="ctrTitle"/>
          </p:nvPr>
        </p:nvSpPr>
        <p:spPr/>
        <p:txBody>
          <a:bodyPr/>
          <a:lstStyle/>
          <a:p>
            <a:r>
              <a:rPr lang="en-US" altLang="zh-CN" dirty="0"/>
              <a:t>ICS seminar 0x3</a:t>
            </a:r>
            <a:endParaRPr lang="zh-CN" altLang="en-US" dirty="0"/>
          </a:p>
        </p:txBody>
      </p:sp>
      <p:sp>
        <p:nvSpPr>
          <p:cNvPr id="3" name="副标题 2">
            <a:extLst>
              <a:ext uri="{FF2B5EF4-FFF2-40B4-BE49-F238E27FC236}">
                <a16:creationId xmlns:a16="http://schemas.microsoft.com/office/drawing/2014/main" id="{A122DD7D-3556-145D-D550-8CC6BD472A8B}"/>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39314356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4A5CC8-FA8F-7BB0-5A30-9A310A51CEB0}"/>
              </a:ext>
            </a:extLst>
          </p:cNvPr>
          <p:cNvSpPr>
            <a:spLocks noGrp="1"/>
          </p:cNvSpPr>
          <p:nvPr>
            <p:ph type="title"/>
          </p:nvPr>
        </p:nvSpPr>
        <p:spPr/>
        <p:txBody>
          <a:bodyPr/>
          <a:lstStyle/>
          <a:p>
            <a:r>
              <a:rPr lang="zh-CN" altLang="en-US" dirty="0"/>
              <a:t>考试题</a:t>
            </a:r>
          </a:p>
        </p:txBody>
      </p:sp>
      <p:sp>
        <p:nvSpPr>
          <p:cNvPr id="3" name="文本占位符 2">
            <a:extLst>
              <a:ext uri="{FF2B5EF4-FFF2-40B4-BE49-F238E27FC236}">
                <a16:creationId xmlns:a16="http://schemas.microsoft.com/office/drawing/2014/main" id="{968395F1-C00A-C18A-7F11-236FC6E67263}"/>
              </a:ext>
            </a:extLst>
          </p:cNvPr>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1243674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575D4D-A143-17EF-9ABC-33361EE3672E}"/>
              </a:ext>
            </a:extLst>
          </p:cNvPr>
          <p:cNvSpPr>
            <a:spLocks noGrp="1"/>
          </p:cNvSpPr>
          <p:nvPr>
            <p:ph type="title"/>
          </p:nvPr>
        </p:nvSpPr>
        <p:spPr/>
        <p:txBody>
          <a:bodyPr/>
          <a:lstStyle/>
          <a:p>
            <a:r>
              <a:rPr lang="zh-CN" altLang="en-US" dirty="0"/>
              <a:t>杂项</a:t>
            </a:r>
          </a:p>
        </p:txBody>
      </p:sp>
      <p:sp>
        <p:nvSpPr>
          <p:cNvPr id="3" name="内容占位符 2">
            <a:extLst>
              <a:ext uri="{FF2B5EF4-FFF2-40B4-BE49-F238E27FC236}">
                <a16:creationId xmlns:a16="http://schemas.microsoft.com/office/drawing/2014/main" id="{1B5548F5-B445-2CBF-1534-933B3FFD0C54}"/>
              </a:ext>
            </a:extLst>
          </p:cNvPr>
          <p:cNvSpPr>
            <a:spLocks noGrp="1"/>
          </p:cNvSpPr>
          <p:nvPr>
            <p:ph idx="1"/>
          </p:nvPr>
        </p:nvSpPr>
        <p:spPr>
          <a:xfrm>
            <a:off x="838200" y="1825625"/>
            <a:ext cx="10515600" cy="4794380"/>
          </a:xfrm>
        </p:spPr>
        <p:txBody>
          <a:bodyPr>
            <a:normAutofit/>
          </a:bodyPr>
          <a:lstStyle/>
          <a:p>
            <a:pPr>
              <a:lnSpc>
                <a:spcPct val="150000"/>
              </a:lnSpc>
            </a:pPr>
            <a:r>
              <a:rPr lang="zh-CN" altLang="en-US" sz="2400" dirty="0"/>
              <a:t>注意规范，</a:t>
            </a:r>
            <a:r>
              <a:rPr lang="zh-CN" altLang="en-US" sz="2400" strike="sngStrike" dirty="0"/>
              <a:t>虽然不扣分</a:t>
            </a:r>
            <a:endParaRPr lang="en-US" altLang="zh-CN" sz="2400" strike="sngStrike" dirty="0"/>
          </a:p>
          <a:p>
            <a:pPr lvl="1">
              <a:lnSpc>
                <a:spcPct val="150000"/>
              </a:lnSpc>
            </a:pPr>
            <a:r>
              <a:rPr lang="zh-CN" altLang="en-US" sz="2000" dirty="0"/>
              <a:t>十六进制数字要加</a:t>
            </a:r>
            <a:r>
              <a:rPr lang="en-US" altLang="zh-CN" sz="2000" dirty="0"/>
              <a:t>0x</a:t>
            </a:r>
            <a:r>
              <a:rPr lang="zh-CN" altLang="en-US" sz="2000" dirty="0"/>
              <a:t>，二进制要加</a:t>
            </a:r>
            <a:r>
              <a:rPr lang="en-US" altLang="zh-CN" sz="2000" dirty="0"/>
              <a:t>0b</a:t>
            </a:r>
          </a:p>
          <a:p>
            <a:pPr lvl="1">
              <a:lnSpc>
                <a:spcPct val="150000"/>
              </a:lnSpc>
            </a:pPr>
            <a:r>
              <a:rPr lang="zh-CN" altLang="en-US" sz="2000" dirty="0"/>
              <a:t>寄存器要写</a:t>
            </a:r>
            <a:r>
              <a:rPr lang="en-US" altLang="zh-CN" sz="2000" dirty="0"/>
              <a:t>%(GDB</a:t>
            </a:r>
            <a:r>
              <a:rPr lang="zh-CN" altLang="en-US" sz="2000" dirty="0"/>
              <a:t>里是</a:t>
            </a:r>
            <a:r>
              <a:rPr lang="en-US" altLang="zh-CN" sz="2000" dirty="0"/>
              <a:t>$</a:t>
            </a:r>
            <a:r>
              <a:rPr lang="zh-CN" altLang="en-US" sz="2000" dirty="0"/>
              <a:t>符号</a:t>
            </a:r>
            <a:r>
              <a:rPr lang="en-US" altLang="zh-CN" sz="2000" dirty="0"/>
              <a:t>)</a:t>
            </a:r>
          </a:p>
          <a:p>
            <a:pPr lvl="1">
              <a:lnSpc>
                <a:spcPct val="150000"/>
              </a:lnSpc>
            </a:pPr>
            <a:r>
              <a:rPr lang="zh-CN" altLang="en-US" sz="2000" dirty="0"/>
              <a:t>照抄</a:t>
            </a:r>
            <a:r>
              <a:rPr lang="en-US" altLang="zh-CN" sz="2000" dirty="0"/>
              <a:t>Label</a:t>
            </a:r>
            <a:r>
              <a:rPr lang="zh-CN" altLang="en-US" sz="2000" dirty="0"/>
              <a:t>通常是</a:t>
            </a:r>
            <a:r>
              <a:rPr lang="en-US" altLang="zh-CN" sz="2000" dirty="0"/>
              <a:t>.L1</a:t>
            </a:r>
            <a:r>
              <a:rPr lang="zh-CN" altLang="en-US" sz="2000" dirty="0"/>
              <a:t>这样的（这是有含义的代表这是为链接</a:t>
            </a:r>
            <a:r>
              <a:rPr lang="en-US" altLang="zh-CN" sz="2000" dirty="0"/>
              <a:t>/</a:t>
            </a:r>
            <a:r>
              <a:rPr lang="zh-CN" altLang="en-US" sz="2000" dirty="0"/>
              <a:t>装载提供定位的伪代码，不会在</a:t>
            </a:r>
            <a:r>
              <a:rPr lang="en-US" altLang="zh-CN" sz="2000" dirty="0"/>
              <a:t>binary</a:t>
            </a:r>
            <a:r>
              <a:rPr lang="zh-CN" altLang="en-US" sz="2000" dirty="0"/>
              <a:t>中出现）</a:t>
            </a:r>
            <a:endParaRPr lang="en-US" altLang="zh-CN" sz="2000" dirty="0"/>
          </a:p>
          <a:p>
            <a:pPr lvl="1">
              <a:lnSpc>
                <a:spcPct val="150000"/>
              </a:lnSpc>
            </a:pPr>
            <a:r>
              <a:rPr lang="zh-CN" altLang="en-US" sz="2000" dirty="0"/>
              <a:t>指令末尾的长度标识符</a:t>
            </a:r>
            <a:endParaRPr lang="en-US" altLang="zh-CN" sz="2000" dirty="0"/>
          </a:p>
          <a:p>
            <a:pPr>
              <a:lnSpc>
                <a:spcPct val="150000"/>
              </a:lnSpc>
            </a:pPr>
            <a:r>
              <a:rPr lang="zh-CN" altLang="en-US" sz="2400" dirty="0"/>
              <a:t>熟练进行十六进制数切分、转化 </a:t>
            </a:r>
            <a:r>
              <a:rPr lang="en-US" altLang="zh-CN" sz="2400" dirty="0"/>
              <a:t>0x11 Or 0xFF.</a:t>
            </a:r>
          </a:p>
          <a:p>
            <a:pPr>
              <a:lnSpc>
                <a:spcPct val="150000"/>
              </a:lnSpc>
            </a:pPr>
            <a:r>
              <a:rPr lang="zh-CN" altLang="en-US" sz="2400" dirty="0"/>
              <a:t>注意返回</a:t>
            </a:r>
            <a:r>
              <a:rPr lang="en-US" altLang="zh-CN" sz="2400" dirty="0"/>
              <a:t>int -&gt; %</a:t>
            </a:r>
            <a:r>
              <a:rPr lang="en-US" altLang="zh-CN" sz="2400" dirty="0" err="1"/>
              <a:t>eax</a:t>
            </a:r>
            <a:r>
              <a:rPr lang="zh-CN" altLang="en-US" sz="2400" dirty="0"/>
              <a:t>大小对应</a:t>
            </a:r>
            <a:endParaRPr lang="en-US" altLang="zh-CN" sz="2400" dirty="0"/>
          </a:p>
          <a:p>
            <a:pPr lvl="1">
              <a:lnSpc>
                <a:spcPct val="150000"/>
              </a:lnSpc>
            </a:pPr>
            <a:endParaRPr lang="zh-CN" altLang="en-US" sz="2000" dirty="0"/>
          </a:p>
        </p:txBody>
      </p:sp>
    </p:spTree>
    <p:extLst>
      <p:ext uri="{BB962C8B-B14F-4D97-AF65-F5344CB8AC3E}">
        <p14:creationId xmlns:p14="http://schemas.microsoft.com/office/powerpoint/2010/main" val="3022813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0F1BFC0-F628-CB8C-294F-105F55AB29E8}"/>
              </a:ext>
            </a:extLst>
          </p:cNvPr>
          <p:cNvSpPr txBox="1"/>
          <p:nvPr/>
        </p:nvSpPr>
        <p:spPr>
          <a:xfrm>
            <a:off x="3046434" y="3318156"/>
            <a:ext cx="6097044" cy="461665"/>
          </a:xfrm>
          <a:prstGeom prst="rect">
            <a:avLst/>
          </a:prstGeom>
          <a:noFill/>
        </p:spPr>
        <p:txBody>
          <a:bodyPr wrap="square">
            <a:spAutoFit/>
          </a:bodyPr>
          <a:lstStyle/>
          <a:p>
            <a:r>
              <a:rPr lang="zh-CN" altLang="en-US" sz="2400" dirty="0"/>
              <a:t>1 010 0001 0001 0000 0000 0000 0000 0000</a:t>
            </a:r>
          </a:p>
        </p:txBody>
      </p:sp>
      <p:pic>
        <p:nvPicPr>
          <p:cNvPr id="5" name="图片 4">
            <a:extLst>
              <a:ext uri="{FF2B5EF4-FFF2-40B4-BE49-F238E27FC236}">
                <a16:creationId xmlns:a16="http://schemas.microsoft.com/office/drawing/2014/main" id="{35A3130C-2B28-A420-FEC9-AE30273A8885}"/>
              </a:ext>
            </a:extLst>
          </p:cNvPr>
          <p:cNvPicPr>
            <a:picLocks noChangeAspect="1"/>
          </p:cNvPicPr>
          <p:nvPr/>
        </p:nvPicPr>
        <p:blipFill>
          <a:blip r:embed="rId2"/>
          <a:stretch>
            <a:fillRect/>
          </a:stretch>
        </p:blipFill>
        <p:spPr>
          <a:xfrm>
            <a:off x="819411" y="656386"/>
            <a:ext cx="10551090" cy="2421794"/>
          </a:xfrm>
          <a:prstGeom prst="rect">
            <a:avLst/>
          </a:prstGeom>
        </p:spPr>
      </p:pic>
      <p:sp>
        <p:nvSpPr>
          <p:cNvPr id="6" name="文本框 5">
            <a:extLst>
              <a:ext uri="{FF2B5EF4-FFF2-40B4-BE49-F238E27FC236}">
                <a16:creationId xmlns:a16="http://schemas.microsoft.com/office/drawing/2014/main" id="{F13EB266-2330-F04D-551C-93A70217532A}"/>
              </a:ext>
            </a:extLst>
          </p:cNvPr>
          <p:cNvSpPr txBox="1"/>
          <p:nvPr/>
        </p:nvSpPr>
        <p:spPr>
          <a:xfrm>
            <a:off x="3046434" y="3779821"/>
            <a:ext cx="6097044" cy="461665"/>
          </a:xfrm>
          <a:prstGeom prst="rect">
            <a:avLst/>
          </a:prstGeom>
          <a:noFill/>
        </p:spPr>
        <p:txBody>
          <a:bodyPr wrap="square">
            <a:spAutoFit/>
          </a:bodyPr>
          <a:lstStyle/>
          <a:p>
            <a:r>
              <a:rPr lang="zh-CN" altLang="en-US" sz="2400" dirty="0"/>
              <a:t>1    01000010    00100000000000000000000</a:t>
            </a:r>
          </a:p>
        </p:txBody>
      </p:sp>
    </p:spTree>
    <p:extLst>
      <p:ext uri="{BB962C8B-B14F-4D97-AF65-F5344CB8AC3E}">
        <p14:creationId xmlns:p14="http://schemas.microsoft.com/office/powerpoint/2010/main" val="258846529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A40A6B00-F886-685D-995E-468DE7B60085}"/>
              </a:ext>
            </a:extLst>
          </p:cNvPr>
          <p:cNvPicPr>
            <a:picLocks noGrp="1" noChangeAspect="1"/>
          </p:cNvPicPr>
          <p:nvPr>
            <p:ph idx="1"/>
          </p:nvPr>
        </p:nvPicPr>
        <p:blipFill>
          <a:blip r:embed="rId2"/>
          <a:stretch>
            <a:fillRect/>
          </a:stretch>
        </p:blipFill>
        <p:spPr>
          <a:xfrm>
            <a:off x="2152099" y="2126249"/>
            <a:ext cx="7887801" cy="4289219"/>
          </a:xfrm>
          <a:prstGeom prst="rect">
            <a:avLst/>
          </a:prstGeom>
        </p:spPr>
      </p:pic>
      <p:pic>
        <p:nvPicPr>
          <p:cNvPr id="7" name="图片 6">
            <a:extLst>
              <a:ext uri="{FF2B5EF4-FFF2-40B4-BE49-F238E27FC236}">
                <a16:creationId xmlns:a16="http://schemas.microsoft.com/office/drawing/2014/main" id="{97CB9E4F-D976-F6F3-A830-BC35A52955C3}"/>
              </a:ext>
            </a:extLst>
          </p:cNvPr>
          <p:cNvPicPr>
            <a:picLocks noChangeAspect="1"/>
          </p:cNvPicPr>
          <p:nvPr/>
        </p:nvPicPr>
        <p:blipFill>
          <a:blip r:embed="rId3"/>
          <a:stretch>
            <a:fillRect/>
          </a:stretch>
        </p:blipFill>
        <p:spPr>
          <a:xfrm>
            <a:off x="2152099" y="373405"/>
            <a:ext cx="7887801" cy="1752845"/>
          </a:xfrm>
          <a:prstGeom prst="rect">
            <a:avLst/>
          </a:prstGeom>
        </p:spPr>
      </p:pic>
      <p:sp>
        <p:nvSpPr>
          <p:cNvPr id="8" name="椭圆 7">
            <a:extLst>
              <a:ext uri="{FF2B5EF4-FFF2-40B4-BE49-F238E27FC236}">
                <a16:creationId xmlns:a16="http://schemas.microsoft.com/office/drawing/2014/main" id="{6B1F4154-3E5A-4558-E4C5-AB3DE21053AA}"/>
              </a:ext>
            </a:extLst>
          </p:cNvPr>
          <p:cNvSpPr/>
          <p:nvPr/>
        </p:nvSpPr>
        <p:spPr>
          <a:xfrm>
            <a:off x="3795386" y="1233814"/>
            <a:ext cx="463463" cy="237994"/>
          </a:xfrm>
          <a:prstGeom prst="ellipse">
            <a:avLst/>
          </a:prstGeom>
          <a:noFill/>
          <a:ln>
            <a:solidFill>
              <a:srgbClr val="FF0000"/>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0B40B5BE-E9EF-3E61-1BF4-674DDD0630EC}"/>
              </a:ext>
            </a:extLst>
          </p:cNvPr>
          <p:cNvSpPr txBox="1"/>
          <p:nvPr/>
        </p:nvSpPr>
        <p:spPr>
          <a:xfrm>
            <a:off x="4728576" y="6064739"/>
            <a:ext cx="1107996" cy="369332"/>
          </a:xfrm>
          <a:prstGeom prst="rect">
            <a:avLst/>
          </a:prstGeom>
          <a:noFill/>
        </p:spPr>
        <p:txBody>
          <a:bodyPr wrap="none" rtlCol="0">
            <a:spAutoFit/>
          </a:bodyPr>
          <a:lstStyle/>
          <a:p>
            <a:r>
              <a:rPr lang="zh-CN" altLang="en-US" dirty="0">
                <a:solidFill>
                  <a:schemeClr val="bg1"/>
                </a:solidFill>
              </a:rPr>
              <a:t>高级语言</a:t>
            </a:r>
          </a:p>
        </p:txBody>
      </p:sp>
      <p:sp>
        <p:nvSpPr>
          <p:cNvPr id="10" name="文本框 9">
            <a:extLst>
              <a:ext uri="{FF2B5EF4-FFF2-40B4-BE49-F238E27FC236}">
                <a16:creationId xmlns:a16="http://schemas.microsoft.com/office/drawing/2014/main" id="{A910DBA0-324A-68DE-F022-73C7EC431159}"/>
              </a:ext>
            </a:extLst>
          </p:cNvPr>
          <p:cNvSpPr txBox="1"/>
          <p:nvPr/>
        </p:nvSpPr>
        <p:spPr>
          <a:xfrm>
            <a:off x="6521886" y="6064739"/>
            <a:ext cx="1107996" cy="369332"/>
          </a:xfrm>
          <a:prstGeom prst="rect">
            <a:avLst/>
          </a:prstGeom>
          <a:noFill/>
        </p:spPr>
        <p:txBody>
          <a:bodyPr wrap="none" rtlCol="0">
            <a:spAutoFit/>
          </a:bodyPr>
          <a:lstStyle/>
          <a:p>
            <a:r>
              <a:rPr lang="zh-CN" altLang="en-US" dirty="0">
                <a:solidFill>
                  <a:schemeClr val="bg1"/>
                </a:solidFill>
              </a:rPr>
              <a:t>汇编语言</a:t>
            </a:r>
          </a:p>
        </p:txBody>
      </p:sp>
      <p:sp>
        <p:nvSpPr>
          <p:cNvPr id="11" name="文本框 10">
            <a:extLst>
              <a:ext uri="{FF2B5EF4-FFF2-40B4-BE49-F238E27FC236}">
                <a16:creationId xmlns:a16="http://schemas.microsoft.com/office/drawing/2014/main" id="{DAEF5CA7-AB8F-6157-529C-CE415094DF30}"/>
              </a:ext>
            </a:extLst>
          </p:cNvPr>
          <p:cNvSpPr txBox="1"/>
          <p:nvPr/>
        </p:nvSpPr>
        <p:spPr>
          <a:xfrm>
            <a:off x="8280893" y="6055438"/>
            <a:ext cx="646331" cy="369332"/>
          </a:xfrm>
          <a:prstGeom prst="rect">
            <a:avLst/>
          </a:prstGeom>
          <a:noFill/>
        </p:spPr>
        <p:txBody>
          <a:bodyPr wrap="none" rtlCol="0">
            <a:spAutoFit/>
          </a:bodyPr>
          <a:lstStyle/>
          <a:p>
            <a:r>
              <a:rPr lang="zh-CN" altLang="en-US" dirty="0">
                <a:solidFill>
                  <a:schemeClr val="bg1"/>
                </a:solidFill>
              </a:rPr>
              <a:t>硬件</a:t>
            </a:r>
          </a:p>
        </p:txBody>
      </p:sp>
    </p:spTree>
    <p:extLst>
      <p:ext uri="{BB962C8B-B14F-4D97-AF65-F5344CB8AC3E}">
        <p14:creationId xmlns:p14="http://schemas.microsoft.com/office/powerpoint/2010/main" val="27495060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B066F047-4A8A-546A-68C1-3023C62B9B50}"/>
              </a:ext>
            </a:extLst>
          </p:cNvPr>
          <p:cNvPicPr>
            <a:picLocks noChangeAspect="1"/>
          </p:cNvPicPr>
          <p:nvPr/>
        </p:nvPicPr>
        <p:blipFill>
          <a:blip r:embed="rId2"/>
          <a:stretch>
            <a:fillRect/>
          </a:stretch>
        </p:blipFill>
        <p:spPr>
          <a:xfrm>
            <a:off x="1666257" y="1145490"/>
            <a:ext cx="8859486" cy="771633"/>
          </a:xfrm>
          <a:prstGeom prst="rect">
            <a:avLst/>
          </a:prstGeom>
        </p:spPr>
      </p:pic>
      <p:pic>
        <p:nvPicPr>
          <p:cNvPr id="5" name="图片 4">
            <a:extLst>
              <a:ext uri="{FF2B5EF4-FFF2-40B4-BE49-F238E27FC236}">
                <a16:creationId xmlns:a16="http://schemas.microsoft.com/office/drawing/2014/main" id="{3BDB6A40-DF81-5452-F83C-CEDDB0FEA4DA}"/>
              </a:ext>
            </a:extLst>
          </p:cNvPr>
          <p:cNvPicPr>
            <a:picLocks noChangeAspect="1"/>
          </p:cNvPicPr>
          <p:nvPr/>
        </p:nvPicPr>
        <p:blipFill>
          <a:blip r:embed="rId3"/>
          <a:stretch>
            <a:fillRect/>
          </a:stretch>
        </p:blipFill>
        <p:spPr>
          <a:xfrm>
            <a:off x="3163530" y="2169788"/>
            <a:ext cx="5864940" cy="237879"/>
          </a:xfrm>
          <a:prstGeom prst="rect">
            <a:avLst/>
          </a:prstGeom>
        </p:spPr>
      </p:pic>
      <p:sp>
        <p:nvSpPr>
          <p:cNvPr id="6" name="文本框 5">
            <a:extLst>
              <a:ext uri="{FF2B5EF4-FFF2-40B4-BE49-F238E27FC236}">
                <a16:creationId xmlns:a16="http://schemas.microsoft.com/office/drawing/2014/main" id="{39A42398-BD60-6E6C-C87E-A7C2F53B13C3}"/>
              </a:ext>
            </a:extLst>
          </p:cNvPr>
          <p:cNvSpPr txBox="1"/>
          <p:nvPr/>
        </p:nvSpPr>
        <p:spPr>
          <a:xfrm>
            <a:off x="1478071" y="3150296"/>
            <a:ext cx="9235858" cy="369332"/>
          </a:xfrm>
          <a:prstGeom prst="rect">
            <a:avLst/>
          </a:prstGeom>
          <a:noFill/>
        </p:spPr>
        <p:txBody>
          <a:bodyPr wrap="square" rtlCol="0">
            <a:spAutoFit/>
          </a:bodyPr>
          <a:lstStyle/>
          <a:p>
            <a:pPr algn="ctr"/>
            <a:r>
              <a:rPr lang="zh-CN" altLang="en-US" dirty="0"/>
              <a:t>乘法指令：对于双寄存器指令只有</a:t>
            </a:r>
            <a:r>
              <a:rPr lang="en-US" altLang="zh-CN" dirty="0" err="1"/>
              <a:t>imulq</a:t>
            </a:r>
            <a:endParaRPr lang="zh-CN" altLang="en-US" dirty="0"/>
          </a:p>
        </p:txBody>
      </p:sp>
      <p:pic>
        <p:nvPicPr>
          <p:cNvPr id="8" name="图片 7">
            <a:extLst>
              <a:ext uri="{FF2B5EF4-FFF2-40B4-BE49-F238E27FC236}">
                <a16:creationId xmlns:a16="http://schemas.microsoft.com/office/drawing/2014/main" id="{DB6BDEA8-EB65-D66C-926B-BF18FDDB7897}"/>
              </a:ext>
            </a:extLst>
          </p:cNvPr>
          <p:cNvPicPr>
            <a:picLocks noChangeAspect="1"/>
          </p:cNvPicPr>
          <p:nvPr/>
        </p:nvPicPr>
        <p:blipFill>
          <a:blip r:embed="rId4"/>
          <a:stretch>
            <a:fillRect/>
          </a:stretch>
        </p:blipFill>
        <p:spPr>
          <a:xfrm>
            <a:off x="538619" y="3754830"/>
            <a:ext cx="11114762" cy="2342329"/>
          </a:xfrm>
          <a:prstGeom prst="rect">
            <a:avLst/>
          </a:prstGeom>
        </p:spPr>
      </p:pic>
    </p:spTree>
    <p:extLst>
      <p:ext uri="{BB962C8B-B14F-4D97-AF65-F5344CB8AC3E}">
        <p14:creationId xmlns:p14="http://schemas.microsoft.com/office/powerpoint/2010/main" val="10624562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85819BAA-88F5-0C76-FE24-78EDE45B2687}"/>
              </a:ext>
            </a:extLst>
          </p:cNvPr>
          <p:cNvPicPr>
            <a:picLocks noChangeAspect="1"/>
          </p:cNvPicPr>
          <p:nvPr/>
        </p:nvPicPr>
        <p:blipFill>
          <a:blip r:embed="rId2"/>
          <a:stretch>
            <a:fillRect/>
          </a:stretch>
        </p:blipFill>
        <p:spPr>
          <a:xfrm>
            <a:off x="1261388" y="1234018"/>
            <a:ext cx="9669224" cy="2686425"/>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墨迹 4">
                <a:extLst>
                  <a:ext uri="{FF2B5EF4-FFF2-40B4-BE49-F238E27FC236}">
                    <a16:creationId xmlns:a16="http://schemas.microsoft.com/office/drawing/2014/main" id="{A2072D46-F61F-FE74-63DA-AFC2DB781B6A}"/>
                  </a:ext>
                </a:extLst>
              </p14:cNvPr>
              <p14:cNvContentPartPr/>
              <p14:nvPr/>
            </p14:nvContentPartPr>
            <p14:xfrm>
              <a:off x="8023197" y="1356880"/>
              <a:ext cx="414720" cy="414360"/>
            </p14:xfrm>
          </p:contentPart>
        </mc:Choice>
        <mc:Fallback xmlns="">
          <p:pic>
            <p:nvPicPr>
              <p:cNvPr id="5" name="墨迹 4">
                <a:extLst>
                  <a:ext uri="{FF2B5EF4-FFF2-40B4-BE49-F238E27FC236}">
                    <a16:creationId xmlns:a16="http://schemas.microsoft.com/office/drawing/2014/main" id="{A2072D46-F61F-FE74-63DA-AFC2DB781B6A}"/>
                  </a:ext>
                </a:extLst>
              </p:cNvPr>
              <p:cNvPicPr/>
              <p:nvPr/>
            </p:nvPicPr>
            <p:blipFill>
              <a:blip r:embed="rId4"/>
              <a:stretch>
                <a:fillRect/>
              </a:stretch>
            </p:blipFill>
            <p:spPr>
              <a:xfrm>
                <a:off x="8017077" y="1350760"/>
                <a:ext cx="426960" cy="426600"/>
              </a:xfrm>
              <a:prstGeom prst="rect">
                <a:avLst/>
              </a:prstGeom>
            </p:spPr>
          </p:pic>
        </mc:Fallback>
      </mc:AlternateContent>
      <p:sp>
        <p:nvSpPr>
          <p:cNvPr id="6" name="文本框 5">
            <a:extLst>
              <a:ext uri="{FF2B5EF4-FFF2-40B4-BE49-F238E27FC236}">
                <a16:creationId xmlns:a16="http://schemas.microsoft.com/office/drawing/2014/main" id="{9B951AD9-62B6-E9CD-9DAE-BA14B0A8133B}"/>
              </a:ext>
            </a:extLst>
          </p:cNvPr>
          <p:cNvSpPr txBox="1"/>
          <p:nvPr/>
        </p:nvSpPr>
        <p:spPr>
          <a:xfrm>
            <a:off x="3513550" y="4114800"/>
            <a:ext cx="5787995" cy="369332"/>
          </a:xfrm>
          <a:prstGeom prst="rect">
            <a:avLst/>
          </a:prstGeom>
          <a:noFill/>
        </p:spPr>
        <p:txBody>
          <a:bodyPr wrap="none" rtlCol="0">
            <a:spAutoFit/>
          </a:bodyPr>
          <a:lstStyle/>
          <a:p>
            <a:r>
              <a:rPr lang="zh-CN" altLang="en-US" dirty="0"/>
              <a:t>如果你认为</a:t>
            </a:r>
            <a:r>
              <a:rPr lang="en-US" altLang="zh-CN" dirty="0"/>
              <a:t>(%</a:t>
            </a:r>
            <a:r>
              <a:rPr lang="en-US" altLang="zh-CN" dirty="0" err="1"/>
              <a:t>rsi</a:t>
            </a:r>
            <a:r>
              <a:rPr lang="en-US" altLang="zh-CN" dirty="0"/>
              <a:t>)</a:t>
            </a:r>
            <a:r>
              <a:rPr lang="zh-CN" altLang="en-US" dirty="0"/>
              <a:t>没访问通用寄存器，那取指也没访问（</a:t>
            </a:r>
          </a:p>
        </p:txBody>
      </p:sp>
    </p:spTree>
    <p:extLst>
      <p:ext uri="{BB962C8B-B14F-4D97-AF65-F5344CB8AC3E}">
        <p14:creationId xmlns:p14="http://schemas.microsoft.com/office/powerpoint/2010/main" val="39281779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B77FFC-0483-7DF5-7CB7-AA99AD58F3CC}"/>
              </a:ext>
            </a:extLst>
          </p:cNvPr>
          <p:cNvSpPr>
            <a:spLocks noGrp="1"/>
          </p:cNvSpPr>
          <p:nvPr>
            <p:ph type="title"/>
          </p:nvPr>
        </p:nvSpPr>
        <p:spPr/>
        <p:txBody>
          <a:bodyPr/>
          <a:lstStyle/>
          <a:p>
            <a:r>
              <a:rPr lang="zh-CN" altLang="en-US" dirty="0"/>
              <a:t>栈传参</a:t>
            </a:r>
          </a:p>
        </p:txBody>
      </p:sp>
      <p:sp>
        <p:nvSpPr>
          <p:cNvPr id="3" name="文本占位符 2">
            <a:extLst>
              <a:ext uri="{FF2B5EF4-FFF2-40B4-BE49-F238E27FC236}">
                <a16:creationId xmlns:a16="http://schemas.microsoft.com/office/drawing/2014/main" id="{A573CC37-D5FD-408E-5BE2-9632534A369B}"/>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0246611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B6D7999D-BAED-8970-9AC1-7294B1D93E29}"/>
              </a:ext>
            </a:extLst>
          </p:cNvPr>
          <p:cNvPicPr>
            <a:picLocks noChangeAspect="1"/>
          </p:cNvPicPr>
          <p:nvPr/>
        </p:nvPicPr>
        <p:blipFill>
          <a:blip r:embed="rId2"/>
          <a:stretch>
            <a:fillRect/>
          </a:stretch>
        </p:blipFill>
        <p:spPr>
          <a:xfrm>
            <a:off x="0" y="0"/>
            <a:ext cx="7826115" cy="6858000"/>
          </a:xfrm>
          <a:prstGeom prst="rect">
            <a:avLst/>
          </a:prstGeom>
        </p:spPr>
      </p:pic>
      <p:pic>
        <p:nvPicPr>
          <p:cNvPr id="7" name="图片 6">
            <a:extLst>
              <a:ext uri="{FF2B5EF4-FFF2-40B4-BE49-F238E27FC236}">
                <a16:creationId xmlns:a16="http://schemas.microsoft.com/office/drawing/2014/main" id="{1C96D9C3-F451-7FCC-7FE9-90596BDFCAE3}"/>
              </a:ext>
            </a:extLst>
          </p:cNvPr>
          <p:cNvPicPr>
            <a:picLocks noChangeAspect="1"/>
          </p:cNvPicPr>
          <p:nvPr/>
        </p:nvPicPr>
        <p:blipFill>
          <a:blip r:embed="rId3"/>
          <a:srcRect r="5209" b="21005"/>
          <a:stretch>
            <a:fillRect/>
          </a:stretch>
        </p:blipFill>
        <p:spPr>
          <a:xfrm>
            <a:off x="4893602" y="801666"/>
            <a:ext cx="6874600" cy="5417507"/>
          </a:xfrm>
          <a:prstGeom prst="rect">
            <a:avLst/>
          </a:prstGeom>
        </p:spPr>
      </p:pic>
    </p:spTree>
    <p:extLst>
      <p:ext uri="{BB962C8B-B14F-4D97-AF65-F5344CB8AC3E}">
        <p14:creationId xmlns:p14="http://schemas.microsoft.com/office/powerpoint/2010/main" val="14311700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572697-3C2F-5C35-8FE0-C1AA40A1CFD8}"/>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6764ECF7-5F93-FBBA-7E6C-AE910D235599}"/>
              </a:ext>
            </a:extLst>
          </p:cNvPr>
          <p:cNvSpPr>
            <a:spLocks noGrp="1"/>
          </p:cNvSpPr>
          <p:nvPr>
            <p:ph idx="1"/>
          </p:nvPr>
        </p:nvSpPr>
        <p:spPr/>
        <p:txBody>
          <a:bodyPr>
            <a:normAutofit/>
          </a:bodyPr>
          <a:lstStyle/>
          <a:p>
            <a:pPr>
              <a:lnSpc>
                <a:spcPct val="150000"/>
              </a:lnSpc>
            </a:pPr>
            <a:r>
              <a:rPr lang="zh-CN" altLang="en-US" sz="2400" dirty="0"/>
              <a:t>程设中我们经常考虑的一个问题是传递值还是指针（或是</a:t>
            </a:r>
            <a:r>
              <a:rPr lang="en-US" altLang="zh-CN" sz="2400" dirty="0"/>
              <a:t>C++</a:t>
            </a:r>
            <a:r>
              <a:rPr lang="zh-CN" altLang="en-US" sz="2400" dirty="0"/>
              <a:t>中还有引用），但其实对于结构体传值只是一个编译器为我们提供的一个抽象，出于性能考虑，不能随时随地进行复制，如果被调用函数不更改原值就不用复制。（感觉上像是传递里</a:t>
            </a:r>
            <a:r>
              <a:rPr lang="en-US" altLang="zh-CN" sz="2400" dirty="0"/>
              <a:t>const*</a:t>
            </a:r>
            <a:r>
              <a:rPr lang="zh-CN" altLang="en-US" sz="2400" dirty="0"/>
              <a:t>）</a:t>
            </a:r>
            <a:endParaRPr lang="en-US" altLang="zh-CN" sz="2400" dirty="0"/>
          </a:p>
        </p:txBody>
      </p:sp>
    </p:spTree>
    <p:extLst>
      <p:ext uri="{BB962C8B-B14F-4D97-AF65-F5344CB8AC3E}">
        <p14:creationId xmlns:p14="http://schemas.microsoft.com/office/powerpoint/2010/main" val="9969579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397039-024F-B16C-FF34-5DDCD924177A}"/>
              </a:ext>
            </a:extLst>
          </p:cNvPr>
          <p:cNvSpPr>
            <a:spLocks noGrp="1"/>
          </p:cNvSpPr>
          <p:nvPr>
            <p:ph type="title"/>
          </p:nvPr>
        </p:nvSpPr>
        <p:spPr/>
        <p:txBody>
          <a:bodyPr/>
          <a:lstStyle/>
          <a:p>
            <a:r>
              <a:rPr lang="zh-CN" altLang="en-US" dirty="0"/>
              <a:t>栈空间是透明的</a:t>
            </a:r>
          </a:p>
        </p:txBody>
      </p:sp>
      <p:sp>
        <p:nvSpPr>
          <p:cNvPr id="3" name="内容占位符 2">
            <a:extLst>
              <a:ext uri="{FF2B5EF4-FFF2-40B4-BE49-F238E27FC236}">
                <a16:creationId xmlns:a16="http://schemas.microsoft.com/office/drawing/2014/main" id="{477E8E43-B760-F65F-B1CB-379D57C0F0D3}"/>
              </a:ext>
            </a:extLst>
          </p:cNvPr>
          <p:cNvSpPr>
            <a:spLocks noGrp="1"/>
          </p:cNvSpPr>
          <p:nvPr>
            <p:ph idx="1"/>
          </p:nvPr>
        </p:nvSpPr>
        <p:spPr/>
        <p:txBody>
          <a:bodyPr>
            <a:normAutofit/>
          </a:bodyPr>
          <a:lstStyle/>
          <a:p>
            <a:r>
              <a:rPr lang="zh-CN" altLang="en-US" sz="2400" dirty="0"/>
              <a:t>不同栈帧之间没有强制手段进行隔离，主要靠自觉。</a:t>
            </a:r>
          </a:p>
        </p:txBody>
      </p:sp>
      <p:pic>
        <p:nvPicPr>
          <p:cNvPr id="5" name="图片 4">
            <a:extLst>
              <a:ext uri="{FF2B5EF4-FFF2-40B4-BE49-F238E27FC236}">
                <a16:creationId xmlns:a16="http://schemas.microsoft.com/office/drawing/2014/main" id="{82D486FE-A57F-0A42-0E84-8CCD47137F45}"/>
              </a:ext>
            </a:extLst>
          </p:cNvPr>
          <p:cNvPicPr>
            <a:picLocks noChangeAspect="1"/>
          </p:cNvPicPr>
          <p:nvPr/>
        </p:nvPicPr>
        <p:blipFill>
          <a:blip r:embed="rId2"/>
          <a:stretch>
            <a:fillRect/>
          </a:stretch>
        </p:blipFill>
        <p:spPr>
          <a:xfrm>
            <a:off x="3636986" y="2585896"/>
            <a:ext cx="4918027" cy="3906979"/>
          </a:xfrm>
          <a:prstGeom prst="rect">
            <a:avLst/>
          </a:prstGeom>
        </p:spPr>
      </p:pic>
    </p:spTree>
    <p:extLst>
      <p:ext uri="{BB962C8B-B14F-4D97-AF65-F5344CB8AC3E}">
        <p14:creationId xmlns:p14="http://schemas.microsoft.com/office/powerpoint/2010/main" val="12244900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0E13DF-83A6-B34B-A475-C6526AD5B553}"/>
              </a:ext>
            </a:extLst>
          </p:cNvPr>
          <p:cNvSpPr>
            <a:spLocks noGrp="1"/>
          </p:cNvSpPr>
          <p:nvPr>
            <p:ph type="title"/>
          </p:nvPr>
        </p:nvSpPr>
        <p:spPr/>
        <p:txBody>
          <a:bodyPr/>
          <a:lstStyle/>
          <a:p>
            <a:r>
              <a:rPr lang="zh-CN" altLang="en-US" dirty="0"/>
              <a:t>变参函数及其实现</a:t>
            </a:r>
          </a:p>
        </p:txBody>
      </p:sp>
      <p:sp>
        <p:nvSpPr>
          <p:cNvPr id="3" name="内容占位符 2">
            <a:extLst>
              <a:ext uri="{FF2B5EF4-FFF2-40B4-BE49-F238E27FC236}">
                <a16:creationId xmlns:a16="http://schemas.microsoft.com/office/drawing/2014/main" id="{A3BE9E78-B047-9EF9-7F37-A79B8D48D8B6}"/>
              </a:ext>
            </a:extLst>
          </p:cNvPr>
          <p:cNvSpPr>
            <a:spLocks noGrp="1"/>
          </p:cNvSpPr>
          <p:nvPr>
            <p:ph idx="1"/>
          </p:nvPr>
        </p:nvSpPr>
        <p:spPr/>
        <p:txBody>
          <a:bodyPr>
            <a:normAutofit/>
          </a:bodyPr>
          <a:lstStyle/>
          <a:p>
            <a:pPr>
              <a:lnSpc>
                <a:spcPct val="150000"/>
              </a:lnSpc>
            </a:pPr>
            <a:r>
              <a:rPr lang="zh-CN" altLang="en-US" sz="2400" dirty="0"/>
              <a:t>当有多个参数需要通过栈传递时，我们将其从</a:t>
            </a:r>
            <a:r>
              <a:rPr lang="zh-CN" altLang="en-US" sz="2400" b="1" dirty="0"/>
              <a:t>右向左压栈</a:t>
            </a:r>
            <a:r>
              <a:rPr lang="zh-CN" altLang="en-US" sz="2400" dirty="0"/>
              <a:t>。</a:t>
            </a:r>
            <a:endParaRPr lang="en-US" altLang="zh-CN" sz="2400" dirty="0"/>
          </a:p>
          <a:p>
            <a:pPr lvl="1">
              <a:lnSpc>
                <a:spcPct val="150000"/>
              </a:lnSpc>
            </a:pPr>
            <a:r>
              <a:rPr lang="zh-CN" altLang="en-US" sz="2000" dirty="0"/>
              <a:t>我们希望最先拿到最左侧的变参模板。另外，应用序求值顺序与之一致。</a:t>
            </a:r>
            <a:endParaRPr lang="en-US" altLang="zh-CN" sz="2000" dirty="0"/>
          </a:p>
          <a:p>
            <a:pPr lvl="1">
              <a:lnSpc>
                <a:spcPct val="150000"/>
              </a:lnSpc>
            </a:pPr>
            <a:r>
              <a:rPr lang="zh-CN" altLang="en-US" sz="2400" dirty="0"/>
              <a:t>整型提升</a:t>
            </a:r>
            <a:endParaRPr lang="zh-CN" altLang="en-US" sz="2400" b="1" dirty="0"/>
          </a:p>
          <a:p>
            <a:pPr>
              <a:lnSpc>
                <a:spcPct val="150000"/>
              </a:lnSpc>
            </a:pPr>
            <a:endParaRPr lang="zh-CN" altLang="en-US" sz="2400" dirty="0"/>
          </a:p>
        </p:txBody>
      </p:sp>
      <p:pic>
        <p:nvPicPr>
          <p:cNvPr id="7" name="图片 6">
            <a:extLst>
              <a:ext uri="{FF2B5EF4-FFF2-40B4-BE49-F238E27FC236}">
                <a16:creationId xmlns:a16="http://schemas.microsoft.com/office/drawing/2014/main" id="{471201A9-85DA-DA74-C917-3D2E64019012}"/>
              </a:ext>
            </a:extLst>
          </p:cNvPr>
          <p:cNvPicPr>
            <a:picLocks noChangeAspect="1"/>
          </p:cNvPicPr>
          <p:nvPr/>
        </p:nvPicPr>
        <p:blipFill>
          <a:blip r:embed="rId2"/>
          <a:stretch>
            <a:fillRect/>
          </a:stretch>
        </p:blipFill>
        <p:spPr>
          <a:xfrm>
            <a:off x="1484334" y="3979777"/>
            <a:ext cx="9223332" cy="2332123"/>
          </a:xfrm>
          <a:prstGeom prst="rect">
            <a:avLst/>
          </a:prstGeom>
        </p:spPr>
      </p:pic>
    </p:spTree>
    <p:extLst>
      <p:ext uri="{BB962C8B-B14F-4D97-AF65-F5344CB8AC3E}">
        <p14:creationId xmlns:p14="http://schemas.microsoft.com/office/powerpoint/2010/main" val="3210189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D90062-1B27-DFAB-F285-947AC6A3F9D8}"/>
              </a:ext>
            </a:extLst>
          </p:cNvPr>
          <p:cNvSpPr>
            <a:spLocks noGrp="1"/>
          </p:cNvSpPr>
          <p:nvPr>
            <p:ph type="title"/>
          </p:nvPr>
        </p:nvSpPr>
        <p:spPr/>
        <p:txBody>
          <a:bodyPr/>
          <a:lstStyle/>
          <a:p>
            <a:r>
              <a:rPr lang="zh-CN" altLang="en-US" dirty="0"/>
              <a:t>利用偏移量访问结构体成员</a:t>
            </a:r>
          </a:p>
        </p:txBody>
      </p:sp>
      <p:sp>
        <p:nvSpPr>
          <p:cNvPr id="3" name="文本占位符 2">
            <a:extLst>
              <a:ext uri="{FF2B5EF4-FFF2-40B4-BE49-F238E27FC236}">
                <a16:creationId xmlns:a16="http://schemas.microsoft.com/office/drawing/2014/main" id="{19118CFA-ED4E-9532-FF85-A27AE8F481AD}"/>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389558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86B406-6E4C-F6CA-793C-63150230E2EE}"/>
              </a:ext>
            </a:extLst>
          </p:cNvPr>
          <p:cNvSpPr>
            <a:spLocks noGrp="1"/>
          </p:cNvSpPr>
          <p:nvPr>
            <p:ph type="title"/>
          </p:nvPr>
        </p:nvSpPr>
        <p:spPr/>
        <p:txBody>
          <a:bodyPr/>
          <a:lstStyle/>
          <a:p>
            <a:r>
              <a:rPr lang="zh-CN" altLang="en-US" dirty="0"/>
              <a:t>有限的保证：</a:t>
            </a:r>
          </a:p>
        </p:txBody>
      </p:sp>
      <p:pic>
        <p:nvPicPr>
          <p:cNvPr id="7" name="内容占位符 6">
            <a:extLst>
              <a:ext uri="{FF2B5EF4-FFF2-40B4-BE49-F238E27FC236}">
                <a16:creationId xmlns:a16="http://schemas.microsoft.com/office/drawing/2014/main" id="{8152A66C-D4F6-61A2-4DED-8FFDC9534092}"/>
              </a:ext>
            </a:extLst>
          </p:cNvPr>
          <p:cNvPicPr>
            <a:picLocks noGrp="1" noChangeAspect="1"/>
          </p:cNvPicPr>
          <p:nvPr>
            <p:ph idx="1"/>
          </p:nvPr>
        </p:nvPicPr>
        <p:blipFill>
          <a:blip r:embed="rId2"/>
          <a:stretch>
            <a:fillRect/>
          </a:stretch>
        </p:blipFill>
        <p:spPr>
          <a:xfrm>
            <a:off x="838200" y="2274182"/>
            <a:ext cx="10515600" cy="1337325"/>
          </a:xfrm>
          <a:prstGeom prst="rect">
            <a:avLst/>
          </a:prstGeom>
        </p:spPr>
      </p:pic>
    </p:spTree>
    <p:extLst>
      <p:ext uri="{BB962C8B-B14F-4D97-AF65-F5344CB8AC3E}">
        <p14:creationId xmlns:p14="http://schemas.microsoft.com/office/powerpoint/2010/main" val="40767859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B4E7C6-86C6-8388-EE48-26423893E5DF}"/>
              </a:ext>
            </a:extLst>
          </p:cNvPr>
          <p:cNvSpPr>
            <a:spLocks noGrp="1"/>
          </p:cNvSpPr>
          <p:nvPr>
            <p:ph type="title"/>
          </p:nvPr>
        </p:nvSpPr>
        <p:spPr/>
        <p:txBody>
          <a:bodyPr/>
          <a:lstStyle/>
          <a:p>
            <a:r>
              <a:rPr lang="zh-CN" altLang="en-US" dirty="0"/>
              <a:t>可能的问题</a:t>
            </a:r>
            <a:r>
              <a:rPr lang="en-US" altLang="zh-CN" dirty="0"/>
              <a:t>1- __attribute__((packed))</a:t>
            </a:r>
            <a:endParaRPr lang="zh-CN" altLang="en-US" dirty="0"/>
          </a:p>
        </p:txBody>
      </p:sp>
      <p:pic>
        <p:nvPicPr>
          <p:cNvPr id="18" name="内容占位符 17">
            <a:extLst>
              <a:ext uri="{FF2B5EF4-FFF2-40B4-BE49-F238E27FC236}">
                <a16:creationId xmlns:a16="http://schemas.microsoft.com/office/drawing/2014/main" id="{1FCEF173-D19C-5E7C-445B-E9853C5D9C38}"/>
              </a:ext>
            </a:extLst>
          </p:cNvPr>
          <p:cNvPicPr>
            <a:picLocks noGrp="1" noChangeAspect="1"/>
          </p:cNvPicPr>
          <p:nvPr>
            <p:ph idx="1"/>
          </p:nvPr>
        </p:nvPicPr>
        <p:blipFill>
          <a:blip r:embed="rId2"/>
          <a:stretch>
            <a:fillRect/>
          </a:stretch>
        </p:blipFill>
        <p:spPr>
          <a:xfrm>
            <a:off x="838200" y="1841947"/>
            <a:ext cx="10515600" cy="2590101"/>
          </a:xfrm>
          <a:prstGeom prst="rect">
            <a:avLst/>
          </a:prstGeom>
        </p:spPr>
      </p:pic>
    </p:spTree>
    <p:extLst>
      <p:ext uri="{BB962C8B-B14F-4D97-AF65-F5344CB8AC3E}">
        <p14:creationId xmlns:p14="http://schemas.microsoft.com/office/powerpoint/2010/main" val="39191198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5D12D7B-8DAC-545C-7CAA-8F92FA7D46AC}"/>
              </a:ext>
            </a:extLst>
          </p:cNvPr>
          <p:cNvSpPr txBox="1"/>
          <p:nvPr/>
        </p:nvSpPr>
        <p:spPr>
          <a:xfrm>
            <a:off x="3562089" y="2229483"/>
            <a:ext cx="6097044" cy="2799869"/>
          </a:xfrm>
          <a:prstGeom prst="rect">
            <a:avLst/>
          </a:prstGeom>
          <a:noFill/>
        </p:spPr>
        <p:txBody>
          <a:bodyPr wrap="square">
            <a:spAutoFit/>
          </a:bodyPr>
          <a:lstStyle/>
          <a:p>
            <a:pPr>
              <a:lnSpc>
                <a:spcPts val="1425"/>
              </a:lnSpc>
              <a:buNone/>
            </a:pPr>
            <a:r>
              <a:rPr lang="en-US" altLang="zh-CN" b="0" dirty="0">
                <a:effectLst/>
                <a:latin typeface="Consolas" panose="020B0609020204030204" pitchFamily="49" charset="0"/>
              </a:rPr>
              <a:t>struct </a:t>
            </a:r>
            <a:r>
              <a:rPr lang="en-US" altLang="zh-CN" b="0" dirty="0" err="1">
                <a:effectLst/>
                <a:latin typeface="Consolas" panose="020B0609020204030204" pitchFamily="49" charset="0"/>
              </a:rPr>
              <a:t>PackClass</a:t>
            </a:r>
            <a:r>
              <a:rPr lang="en-US" altLang="zh-CN" b="0" dirty="0">
                <a:effectLst/>
                <a:latin typeface="Consolas" panose="020B0609020204030204" pitchFamily="49" charset="0"/>
              </a:rPr>
              <a:t>{</a:t>
            </a:r>
          </a:p>
          <a:p>
            <a:pPr>
              <a:lnSpc>
                <a:spcPts val="1425"/>
              </a:lnSpc>
              <a:buNone/>
            </a:pPr>
            <a:r>
              <a:rPr lang="en-US" altLang="zh-CN" b="0" dirty="0">
                <a:effectLst/>
                <a:latin typeface="Consolas" panose="020B0609020204030204" pitchFamily="49" charset="0"/>
              </a:rPr>
              <a:t>    char a;</a:t>
            </a:r>
          </a:p>
          <a:p>
            <a:pPr>
              <a:lnSpc>
                <a:spcPts val="1425"/>
              </a:lnSpc>
              <a:buNone/>
            </a:pPr>
            <a:r>
              <a:rPr lang="en-US" altLang="zh-CN" b="0" dirty="0">
                <a:effectLst/>
                <a:latin typeface="Consolas" panose="020B0609020204030204" pitchFamily="49" charset="0"/>
              </a:rPr>
              <a:t>    int b[2] __attribute__((packed));</a:t>
            </a:r>
          </a:p>
          <a:p>
            <a:pPr>
              <a:lnSpc>
                <a:spcPts val="1425"/>
              </a:lnSpc>
              <a:buNone/>
            </a:pPr>
            <a:r>
              <a:rPr lang="en-US" altLang="zh-CN" b="0" dirty="0">
                <a:effectLst/>
                <a:latin typeface="Consolas" panose="020B0609020204030204" pitchFamily="49" charset="0"/>
              </a:rPr>
              <a:t>    char c;</a:t>
            </a:r>
          </a:p>
          <a:p>
            <a:pPr>
              <a:lnSpc>
                <a:spcPts val="1425"/>
              </a:lnSpc>
              <a:buNone/>
            </a:pPr>
            <a:r>
              <a:rPr lang="en-US" altLang="zh-CN" b="0" dirty="0">
                <a:effectLst/>
                <a:latin typeface="Consolas" panose="020B0609020204030204" pitchFamily="49" charset="0"/>
              </a:rPr>
              <a:t>};</a:t>
            </a:r>
          </a:p>
          <a:p>
            <a:pPr>
              <a:lnSpc>
                <a:spcPts val="1425"/>
              </a:lnSpc>
              <a:buNone/>
            </a:pPr>
            <a:br>
              <a:rPr lang="en-US" altLang="zh-CN" b="0" dirty="0">
                <a:effectLst/>
                <a:latin typeface="Consolas" panose="020B0609020204030204" pitchFamily="49" charset="0"/>
              </a:rPr>
            </a:br>
            <a:endParaRPr lang="en-US" altLang="zh-CN" b="0" dirty="0">
              <a:effectLst/>
              <a:latin typeface="Consolas" panose="020B0609020204030204" pitchFamily="49" charset="0"/>
            </a:endParaRPr>
          </a:p>
          <a:p>
            <a:pPr>
              <a:lnSpc>
                <a:spcPts val="1425"/>
              </a:lnSpc>
              <a:buNone/>
            </a:pPr>
            <a:r>
              <a:rPr lang="en-US" altLang="zh-CN" b="0" dirty="0">
                <a:effectLst/>
                <a:latin typeface="Consolas" panose="020B0609020204030204" pitchFamily="49" charset="0"/>
              </a:rPr>
              <a:t>int main(){</a:t>
            </a:r>
          </a:p>
          <a:p>
            <a:pPr>
              <a:lnSpc>
                <a:spcPts val="1425"/>
              </a:lnSpc>
              <a:buNone/>
            </a:pPr>
            <a:r>
              <a:rPr lang="en-US" altLang="zh-CN" b="0" dirty="0">
                <a:effectLst/>
                <a:latin typeface="Consolas" panose="020B0609020204030204" pitchFamily="49" charset="0"/>
              </a:rPr>
              <a:t>    struct </a:t>
            </a:r>
            <a:r>
              <a:rPr lang="en-US" altLang="zh-CN" b="0" dirty="0" err="1">
                <a:effectLst/>
                <a:latin typeface="Consolas" panose="020B0609020204030204" pitchFamily="49" charset="0"/>
              </a:rPr>
              <a:t>PackClass</a:t>
            </a:r>
            <a:r>
              <a:rPr lang="en-US" altLang="zh-CN" b="0" dirty="0">
                <a:effectLst/>
                <a:latin typeface="Consolas" panose="020B0609020204030204" pitchFamily="49" charset="0"/>
              </a:rPr>
              <a:t> a;</a:t>
            </a:r>
          </a:p>
          <a:p>
            <a:pPr>
              <a:lnSpc>
                <a:spcPts val="1425"/>
              </a:lnSpc>
              <a:buNone/>
            </a:pPr>
            <a:r>
              <a:rPr lang="en-US" altLang="zh-CN" b="0" dirty="0">
                <a:effectLst/>
                <a:latin typeface="Consolas" panose="020B0609020204030204" pitchFamily="49" charset="0"/>
              </a:rPr>
              <a:t>    </a:t>
            </a:r>
            <a:r>
              <a:rPr lang="en-US" altLang="zh-CN" b="0" dirty="0" err="1">
                <a:effectLst/>
                <a:latin typeface="Consolas" panose="020B0609020204030204" pitchFamily="49" charset="0"/>
              </a:rPr>
              <a:t>a.a</a:t>
            </a:r>
            <a:r>
              <a:rPr lang="en-US" altLang="zh-CN" b="0" dirty="0">
                <a:effectLst/>
                <a:latin typeface="Consolas" panose="020B0609020204030204" pitchFamily="49" charset="0"/>
              </a:rPr>
              <a:t> = 19;</a:t>
            </a:r>
          </a:p>
          <a:p>
            <a:pPr>
              <a:lnSpc>
                <a:spcPts val="1425"/>
              </a:lnSpc>
              <a:buNone/>
            </a:pPr>
            <a:r>
              <a:rPr lang="en-US" altLang="zh-CN" b="0" dirty="0">
                <a:effectLst/>
                <a:latin typeface="Consolas" panose="020B0609020204030204" pitchFamily="49" charset="0"/>
              </a:rPr>
              <a:t>    </a:t>
            </a:r>
            <a:r>
              <a:rPr lang="en-US" altLang="zh-CN" b="0" dirty="0" err="1">
                <a:effectLst/>
                <a:latin typeface="Consolas" panose="020B0609020204030204" pitchFamily="49" charset="0"/>
              </a:rPr>
              <a:t>a.b</a:t>
            </a:r>
            <a:r>
              <a:rPr lang="en-US" altLang="zh-CN" b="0" dirty="0">
                <a:effectLst/>
                <a:latin typeface="Consolas" panose="020B0609020204030204" pitchFamily="49" charset="0"/>
              </a:rPr>
              <a:t>[0] = 13;</a:t>
            </a:r>
          </a:p>
          <a:p>
            <a:pPr>
              <a:lnSpc>
                <a:spcPts val="1425"/>
              </a:lnSpc>
              <a:buNone/>
            </a:pPr>
            <a:r>
              <a:rPr lang="en-US" altLang="zh-CN" b="0" dirty="0">
                <a:effectLst/>
                <a:latin typeface="Consolas" panose="020B0609020204030204" pitchFamily="49" charset="0"/>
              </a:rPr>
              <a:t>    </a:t>
            </a:r>
            <a:r>
              <a:rPr lang="en-US" altLang="zh-CN" b="0" dirty="0" err="1">
                <a:effectLst/>
                <a:latin typeface="Consolas" panose="020B0609020204030204" pitchFamily="49" charset="0"/>
              </a:rPr>
              <a:t>a.b</a:t>
            </a:r>
            <a:r>
              <a:rPr lang="en-US" altLang="zh-CN" b="0" dirty="0">
                <a:effectLst/>
                <a:latin typeface="Consolas" panose="020B0609020204030204" pitchFamily="49" charset="0"/>
              </a:rPr>
              <a:t>[1]=17;</a:t>
            </a:r>
          </a:p>
          <a:p>
            <a:pPr>
              <a:lnSpc>
                <a:spcPts val="1425"/>
              </a:lnSpc>
              <a:buNone/>
            </a:pPr>
            <a:r>
              <a:rPr lang="en-US" altLang="zh-CN" b="0" dirty="0">
                <a:effectLst/>
                <a:latin typeface="Consolas" panose="020B0609020204030204" pitchFamily="49" charset="0"/>
              </a:rPr>
              <a:t>}</a:t>
            </a:r>
          </a:p>
          <a:p>
            <a:pPr>
              <a:lnSpc>
                <a:spcPts val="1425"/>
              </a:lnSpc>
              <a:buNone/>
            </a:pPr>
            <a:br>
              <a:rPr lang="en-US" altLang="zh-CN" b="0" dirty="0">
                <a:effectLst/>
                <a:latin typeface="Consolas" panose="020B0609020204030204" pitchFamily="49" charset="0"/>
              </a:rPr>
            </a:br>
            <a:endParaRPr lang="en-US" altLang="zh-CN" b="0" dirty="0">
              <a:effectLst/>
              <a:latin typeface="Consolas" panose="020B0609020204030204" pitchFamily="49" charset="0"/>
            </a:endParaRPr>
          </a:p>
        </p:txBody>
      </p:sp>
    </p:spTree>
    <p:extLst>
      <p:ext uri="{BB962C8B-B14F-4D97-AF65-F5344CB8AC3E}">
        <p14:creationId xmlns:p14="http://schemas.microsoft.com/office/powerpoint/2010/main" val="5406000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A03B21-F44E-E544-66DE-87DF954FE82C}"/>
              </a:ext>
            </a:extLst>
          </p:cNvPr>
          <p:cNvSpPr>
            <a:spLocks noGrp="1"/>
          </p:cNvSpPr>
          <p:nvPr>
            <p:ph type="title"/>
          </p:nvPr>
        </p:nvSpPr>
        <p:spPr/>
        <p:txBody>
          <a:bodyPr/>
          <a:lstStyle/>
          <a:p>
            <a:r>
              <a:rPr lang="zh-CN" altLang="en-US" dirty="0"/>
              <a:t>可能的问题</a:t>
            </a:r>
            <a:r>
              <a:rPr lang="en-US" altLang="zh-CN" dirty="0"/>
              <a:t>2-</a:t>
            </a:r>
            <a:r>
              <a:rPr lang="zh-CN" altLang="en-US" dirty="0"/>
              <a:t>其他语言的类</a:t>
            </a:r>
          </a:p>
        </p:txBody>
      </p:sp>
      <p:pic>
        <p:nvPicPr>
          <p:cNvPr id="5" name="内容占位符 4">
            <a:extLst>
              <a:ext uri="{FF2B5EF4-FFF2-40B4-BE49-F238E27FC236}">
                <a16:creationId xmlns:a16="http://schemas.microsoft.com/office/drawing/2014/main" id="{7AB89044-0378-170A-96BA-E7C8BC1548C8}"/>
              </a:ext>
            </a:extLst>
          </p:cNvPr>
          <p:cNvPicPr>
            <a:picLocks noGrp="1" noChangeAspect="1"/>
          </p:cNvPicPr>
          <p:nvPr>
            <p:ph idx="1"/>
          </p:nvPr>
        </p:nvPicPr>
        <p:blipFill>
          <a:blip r:embed="rId2"/>
          <a:srcRect r="16339"/>
          <a:stretch>
            <a:fillRect/>
          </a:stretch>
        </p:blipFill>
        <p:spPr>
          <a:xfrm>
            <a:off x="1934228" y="1477524"/>
            <a:ext cx="7710814" cy="1294132"/>
          </a:xfrm>
          <a:prstGeom prst="rect">
            <a:avLst/>
          </a:prstGeom>
        </p:spPr>
      </p:pic>
      <p:pic>
        <p:nvPicPr>
          <p:cNvPr id="7" name="图片 6">
            <a:extLst>
              <a:ext uri="{FF2B5EF4-FFF2-40B4-BE49-F238E27FC236}">
                <a16:creationId xmlns:a16="http://schemas.microsoft.com/office/drawing/2014/main" id="{D77EDA5D-D6FE-D043-8D27-3322F7026D13}"/>
              </a:ext>
            </a:extLst>
          </p:cNvPr>
          <p:cNvPicPr>
            <a:picLocks noChangeAspect="1"/>
          </p:cNvPicPr>
          <p:nvPr/>
        </p:nvPicPr>
        <p:blipFill>
          <a:blip r:embed="rId3"/>
          <a:stretch>
            <a:fillRect/>
          </a:stretch>
        </p:blipFill>
        <p:spPr>
          <a:xfrm>
            <a:off x="1934228" y="2771656"/>
            <a:ext cx="7710814" cy="3489488"/>
          </a:xfrm>
          <a:prstGeom prst="rect">
            <a:avLst/>
          </a:prstGeom>
        </p:spPr>
      </p:pic>
    </p:spTree>
    <p:extLst>
      <p:ext uri="{BB962C8B-B14F-4D97-AF65-F5344CB8AC3E}">
        <p14:creationId xmlns:p14="http://schemas.microsoft.com/office/powerpoint/2010/main" val="23541715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DB2EB4-217B-5302-F3EB-C6D052C8E706}"/>
              </a:ext>
            </a:extLst>
          </p:cNvPr>
          <p:cNvSpPr>
            <a:spLocks noGrp="1"/>
          </p:cNvSpPr>
          <p:nvPr>
            <p:ph type="title"/>
          </p:nvPr>
        </p:nvSpPr>
        <p:spPr/>
        <p:txBody>
          <a:bodyPr/>
          <a:lstStyle/>
          <a:p>
            <a:r>
              <a:rPr lang="zh-CN" altLang="en-US" dirty="0"/>
              <a:t>包含虚函数的</a:t>
            </a:r>
            <a:r>
              <a:rPr lang="en-US" altLang="zh-CN" dirty="0"/>
              <a:t>C++</a:t>
            </a:r>
            <a:r>
              <a:rPr lang="zh-CN" altLang="en-US" dirty="0"/>
              <a:t>类</a:t>
            </a:r>
          </a:p>
        </p:txBody>
      </p:sp>
      <p:pic>
        <p:nvPicPr>
          <p:cNvPr id="5" name="内容占位符 4">
            <a:extLst>
              <a:ext uri="{FF2B5EF4-FFF2-40B4-BE49-F238E27FC236}">
                <a16:creationId xmlns:a16="http://schemas.microsoft.com/office/drawing/2014/main" id="{FED6B7DA-7977-D02E-9EDE-466F037EE9D1}"/>
              </a:ext>
            </a:extLst>
          </p:cNvPr>
          <p:cNvPicPr>
            <a:picLocks noGrp="1" noChangeAspect="1"/>
          </p:cNvPicPr>
          <p:nvPr>
            <p:ph idx="1"/>
          </p:nvPr>
        </p:nvPicPr>
        <p:blipFill>
          <a:blip r:embed="rId2"/>
          <a:stretch>
            <a:fillRect/>
          </a:stretch>
        </p:blipFill>
        <p:spPr>
          <a:xfrm>
            <a:off x="1023229" y="2246385"/>
            <a:ext cx="10145541" cy="2219635"/>
          </a:xfrm>
          <a:prstGeom prst="rect">
            <a:avLst/>
          </a:prstGeom>
        </p:spPr>
      </p:pic>
    </p:spTree>
    <p:extLst>
      <p:ext uri="{BB962C8B-B14F-4D97-AF65-F5344CB8AC3E}">
        <p14:creationId xmlns:p14="http://schemas.microsoft.com/office/powerpoint/2010/main" val="26847450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699A9F0-6462-1A2B-FB9E-83CEDD9094CF}"/>
              </a:ext>
            </a:extLst>
          </p:cNvPr>
          <p:cNvSpPr>
            <a:spLocks noGrp="1"/>
          </p:cNvSpPr>
          <p:nvPr>
            <p:ph idx="1"/>
          </p:nvPr>
        </p:nvSpPr>
        <p:spPr>
          <a:xfrm>
            <a:off x="838200" y="879910"/>
            <a:ext cx="10515600" cy="4351338"/>
          </a:xfrm>
        </p:spPr>
        <p:txBody>
          <a:bodyPr>
            <a:normAutofit fontScale="25000" lnSpcReduction="20000"/>
          </a:bodyPr>
          <a:lstStyle/>
          <a:p>
            <a:r>
              <a:rPr lang="en-US" altLang="zh-CN" dirty="0"/>
              <a:t>#include &lt;</a:t>
            </a:r>
            <a:r>
              <a:rPr lang="en-US" altLang="zh-CN" dirty="0" err="1"/>
              <a:t>cstdlib</a:t>
            </a:r>
            <a:r>
              <a:rPr lang="en-US" altLang="zh-CN" dirty="0"/>
              <a:t>&gt;</a:t>
            </a:r>
          </a:p>
          <a:p>
            <a:r>
              <a:rPr lang="en-US" altLang="zh-CN" dirty="0"/>
              <a:t>struct </a:t>
            </a:r>
            <a:r>
              <a:rPr lang="en-US" altLang="zh-CN" dirty="0" err="1"/>
              <a:t>FTP_header</a:t>
            </a:r>
            <a:r>
              <a:rPr lang="en-US" altLang="zh-CN" dirty="0"/>
              <a:t>;</a:t>
            </a:r>
          </a:p>
          <a:p>
            <a:r>
              <a:rPr lang="en-US" altLang="zh-CN" dirty="0"/>
              <a:t>struct </a:t>
            </a:r>
            <a:r>
              <a:rPr lang="en-US" altLang="zh-CN" dirty="0" err="1"/>
              <a:t>FTP_Reply</a:t>
            </a:r>
            <a:r>
              <a:rPr lang="en-US" altLang="zh-CN" dirty="0"/>
              <a:t>;</a:t>
            </a:r>
          </a:p>
          <a:p>
            <a:br>
              <a:rPr lang="en-US" altLang="zh-CN" dirty="0"/>
            </a:br>
            <a:endParaRPr lang="en-US" altLang="zh-CN" dirty="0"/>
          </a:p>
          <a:p>
            <a:r>
              <a:rPr lang="en-US" altLang="zh-CN" dirty="0"/>
              <a:t>struct </a:t>
            </a:r>
            <a:r>
              <a:rPr lang="en-US" altLang="zh-CN" dirty="0" err="1"/>
              <a:t>FTP_Request</a:t>
            </a:r>
            <a:r>
              <a:rPr lang="en-US" altLang="zh-CN" dirty="0"/>
              <a:t>{</a:t>
            </a:r>
          </a:p>
          <a:p>
            <a:r>
              <a:rPr lang="en-US" altLang="zh-CN" dirty="0"/>
              <a:t>    </a:t>
            </a:r>
            <a:r>
              <a:rPr lang="en-US" altLang="zh-CN" dirty="0" err="1"/>
              <a:t>FTP_header</a:t>
            </a:r>
            <a:r>
              <a:rPr lang="en-US" altLang="zh-CN" dirty="0"/>
              <a:t>* </a:t>
            </a:r>
            <a:r>
              <a:rPr lang="en-US" altLang="zh-CN" dirty="0" err="1"/>
              <a:t>m_header</a:t>
            </a:r>
            <a:r>
              <a:rPr lang="en-US" altLang="zh-CN" dirty="0"/>
              <a:t>;</a:t>
            </a:r>
          </a:p>
          <a:p>
            <a:r>
              <a:rPr lang="en-US" altLang="zh-CN" dirty="0"/>
              <a:t>    void* </a:t>
            </a:r>
            <a:r>
              <a:rPr lang="en-US" altLang="zh-CN" dirty="0" err="1"/>
              <a:t>m_payload</a:t>
            </a:r>
            <a:r>
              <a:rPr lang="en-US" altLang="zh-CN" dirty="0"/>
              <a:t>;</a:t>
            </a:r>
          </a:p>
          <a:p>
            <a:r>
              <a:rPr lang="en-US" altLang="zh-CN" dirty="0"/>
              <a:t>    </a:t>
            </a:r>
            <a:r>
              <a:rPr lang="en-US" altLang="zh-CN" dirty="0" err="1"/>
              <a:t>FTP_Request</a:t>
            </a:r>
            <a:r>
              <a:rPr lang="en-US" altLang="zh-CN" dirty="0"/>
              <a:t>(</a:t>
            </a:r>
            <a:r>
              <a:rPr lang="en-US" altLang="zh-CN" dirty="0" err="1"/>
              <a:t>FTP_header</a:t>
            </a:r>
            <a:r>
              <a:rPr lang="en-US" altLang="zh-CN" dirty="0"/>
              <a:t>* </a:t>
            </a:r>
            <a:r>
              <a:rPr lang="en-US" altLang="zh-CN" dirty="0" err="1"/>
              <a:t>header,void</a:t>
            </a:r>
            <a:r>
              <a:rPr lang="en-US" altLang="zh-CN" dirty="0"/>
              <a:t>* payload): </a:t>
            </a:r>
            <a:r>
              <a:rPr lang="en-US" altLang="zh-CN" dirty="0" err="1"/>
              <a:t>m_header</a:t>
            </a:r>
            <a:r>
              <a:rPr lang="en-US" altLang="zh-CN" dirty="0"/>
              <a:t>(header), </a:t>
            </a:r>
            <a:r>
              <a:rPr lang="en-US" altLang="zh-CN" dirty="0" err="1"/>
              <a:t>m_payload</a:t>
            </a:r>
            <a:r>
              <a:rPr lang="en-US" altLang="zh-CN" dirty="0"/>
              <a:t>(payload) {};</a:t>
            </a:r>
          </a:p>
          <a:p>
            <a:r>
              <a:rPr lang="en-US" altLang="zh-CN" dirty="0"/>
              <a:t>    ~</a:t>
            </a:r>
            <a:r>
              <a:rPr lang="en-US" altLang="zh-CN" dirty="0" err="1"/>
              <a:t>FTP_Request</a:t>
            </a:r>
            <a:r>
              <a:rPr lang="en-US" altLang="zh-CN" dirty="0"/>
              <a:t>(){free(</a:t>
            </a:r>
            <a:r>
              <a:rPr lang="en-US" altLang="zh-CN" dirty="0" err="1"/>
              <a:t>m_payload</a:t>
            </a:r>
            <a:r>
              <a:rPr lang="en-US" altLang="zh-CN" dirty="0"/>
              <a:t>);}</a:t>
            </a:r>
          </a:p>
          <a:p>
            <a:r>
              <a:rPr lang="en-US" altLang="zh-CN" dirty="0"/>
              <a:t>    virtual </a:t>
            </a:r>
            <a:r>
              <a:rPr lang="en-US" altLang="zh-CN" dirty="0" err="1"/>
              <a:t>FTP_Reply</a:t>
            </a:r>
            <a:r>
              <a:rPr lang="en-US" altLang="zh-CN" dirty="0"/>
              <a:t>* </a:t>
            </a:r>
            <a:r>
              <a:rPr lang="en-US" altLang="zh-CN" dirty="0" err="1"/>
              <a:t>request_handler</a:t>
            </a:r>
            <a:r>
              <a:rPr lang="en-US" altLang="zh-CN" dirty="0"/>
              <a:t>() = 0;</a:t>
            </a:r>
          </a:p>
          <a:p>
            <a:r>
              <a:rPr lang="en-US" altLang="zh-CN" dirty="0"/>
              <a:t>} __attribute__ ((packed));</a:t>
            </a:r>
          </a:p>
          <a:p>
            <a:br>
              <a:rPr lang="en-US" altLang="zh-CN" dirty="0"/>
            </a:br>
            <a:endParaRPr lang="en-US" altLang="zh-CN" dirty="0"/>
          </a:p>
          <a:p>
            <a:r>
              <a:rPr lang="en-US" altLang="zh-CN" dirty="0"/>
              <a:t>struct </a:t>
            </a:r>
            <a:r>
              <a:rPr lang="en-US" altLang="zh-CN" dirty="0" err="1"/>
              <a:t>Open_Req</a:t>
            </a:r>
            <a:r>
              <a:rPr lang="en-US" altLang="zh-CN" dirty="0"/>
              <a:t> : public </a:t>
            </a:r>
            <a:r>
              <a:rPr lang="en-US" altLang="zh-CN" dirty="0" err="1"/>
              <a:t>FTP_Request</a:t>
            </a:r>
            <a:r>
              <a:rPr lang="en-US" altLang="zh-CN" dirty="0"/>
              <a:t>{</a:t>
            </a:r>
          </a:p>
          <a:p>
            <a:r>
              <a:rPr lang="en-US" altLang="zh-CN" dirty="0"/>
              <a:t>    </a:t>
            </a:r>
            <a:r>
              <a:rPr lang="en-US" altLang="zh-CN" dirty="0" err="1"/>
              <a:t>Open_Req</a:t>
            </a:r>
            <a:r>
              <a:rPr lang="en-US" altLang="zh-CN" dirty="0"/>
              <a:t>(): </a:t>
            </a:r>
            <a:r>
              <a:rPr lang="en-US" altLang="zh-CN" dirty="0" err="1"/>
              <a:t>FTP_Request</a:t>
            </a:r>
            <a:r>
              <a:rPr lang="en-US" altLang="zh-CN" dirty="0"/>
              <a:t>(NULL,NULL){}</a:t>
            </a:r>
          </a:p>
          <a:p>
            <a:r>
              <a:rPr lang="en-US" altLang="zh-CN" dirty="0"/>
              <a:t>    </a:t>
            </a:r>
            <a:r>
              <a:rPr lang="en-US" altLang="zh-CN" dirty="0" err="1"/>
              <a:t>FTP_Reply</a:t>
            </a:r>
            <a:r>
              <a:rPr lang="en-US" altLang="zh-CN" dirty="0"/>
              <a:t>* </a:t>
            </a:r>
            <a:r>
              <a:rPr lang="en-US" altLang="zh-CN" dirty="0" err="1"/>
              <a:t>request_handler</a:t>
            </a:r>
            <a:r>
              <a:rPr lang="en-US" altLang="zh-CN" dirty="0"/>
              <a:t>() override{</a:t>
            </a:r>
          </a:p>
          <a:p>
            <a:r>
              <a:rPr lang="en-US" altLang="zh-CN" dirty="0"/>
              <a:t>        return NULL;</a:t>
            </a:r>
          </a:p>
          <a:p>
            <a:r>
              <a:rPr lang="en-US" altLang="zh-CN" dirty="0"/>
              <a:t>    }</a:t>
            </a:r>
          </a:p>
          <a:p>
            <a:r>
              <a:rPr lang="en-US" altLang="zh-CN" dirty="0"/>
              <a:t>};</a:t>
            </a:r>
          </a:p>
          <a:p>
            <a:br>
              <a:rPr lang="en-US" altLang="zh-CN" dirty="0"/>
            </a:br>
            <a:endParaRPr lang="en-US" altLang="zh-CN" dirty="0"/>
          </a:p>
          <a:p>
            <a:r>
              <a:rPr lang="en-US" altLang="zh-CN" dirty="0"/>
              <a:t>int main(){</a:t>
            </a:r>
          </a:p>
          <a:p>
            <a:r>
              <a:rPr lang="en-US" altLang="zh-CN" dirty="0"/>
              <a:t>    </a:t>
            </a:r>
            <a:r>
              <a:rPr lang="en-US" altLang="zh-CN" dirty="0" err="1"/>
              <a:t>Open_Req</a:t>
            </a:r>
            <a:r>
              <a:rPr lang="en-US" altLang="zh-CN" dirty="0"/>
              <a:t> </a:t>
            </a:r>
            <a:r>
              <a:rPr lang="en-US" altLang="zh-CN" dirty="0" err="1"/>
              <a:t>ftp_req</a:t>
            </a:r>
            <a:r>
              <a:rPr lang="en-US" altLang="zh-CN" dirty="0"/>
              <a:t>;</a:t>
            </a:r>
          </a:p>
          <a:p>
            <a:r>
              <a:rPr lang="en-US" altLang="zh-CN" dirty="0"/>
              <a:t>    int a = 1;</a:t>
            </a:r>
          </a:p>
          <a:p>
            <a:r>
              <a:rPr lang="en-US" altLang="zh-CN" dirty="0"/>
              <a:t>    </a:t>
            </a:r>
            <a:r>
              <a:rPr lang="en-US" altLang="zh-CN" dirty="0" err="1"/>
              <a:t>ftp_req.m_payload</a:t>
            </a:r>
            <a:r>
              <a:rPr lang="en-US" altLang="zh-CN" dirty="0"/>
              <a:t> = &amp;a;</a:t>
            </a:r>
          </a:p>
          <a:p>
            <a:r>
              <a:rPr lang="en-US" altLang="zh-CN" dirty="0"/>
              <a:t>}</a:t>
            </a:r>
          </a:p>
          <a:p>
            <a:endParaRPr lang="zh-CN" altLang="en-US" dirty="0"/>
          </a:p>
        </p:txBody>
      </p:sp>
    </p:spTree>
    <p:extLst>
      <p:ext uri="{BB962C8B-B14F-4D97-AF65-F5344CB8AC3E}">
        <p14:creationId xmlns:p14="http://schemas.microsoft.com/office/powerpoint/2010/main" val="23391759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E18A8D-C02F-606A-CFEB-7399ACD1BD76}"/>
              </a:ext>
            </a:extLst>
          </p:cNvPr>
          <p:cNvSpPr>
            <a:spLocks noGrp="1"/>
          </p:cNvSpPr>
          <p:nvPr>
            <p:ph type="title"/>
          </p:nvPr>
        </p:nvSpPr>
        <p:spPr/>
        <p:txBody>
          <a:bodyPr/>
          <a:lstStyle/>
          <a:p>
            <a:r>
              <a:rPr lang="en-US" altLang="zh-CN" dirty="0"/>
              <a:t>Rust</a:t>
            </a:r>
            <a:endParaRPr lang="zh-CN" altLang="en-US" dirty="0"/>
          </a:p>
        </p:txBody>
      </p:sp>
      <p:pic>
        <p:nvPicPr>
          <p:cNvPr id="16" name="内容占位符 15">
            <a:extLst>
              <a:ext uri="{FF2B5EF4-FFF2-40B4-BE49-F238E27FC236}">
                <a16:creationId xmlns:a16="http://schemas.microsoft.com/office/drawing/2014/main" id="{87AEB0F0-1BC7-2557-FDAE-10139FA392ED}"/>
              </a:ext>
            </a:extLst>
          </p:cNvPr>
          <p:cNvPicPr>
            <a:picLocks noGrp="1" noChangeAspect="1"/>
          </p:cNvPicPr>
          <p:nvPr>
            <p:ph idx="1"/>
          </p:nvPr>
        </p:nvPicPr>
        <p:blipFill>
          <a:blip r:embed="rId2"/>
          <a:stretch>
            <a:fillRect/>
          </a:stretch>
        </p:blipFill>
        <p:spPr>
          <a:xfrm>
            <a:off x="1333712" y="2905614"/>
            <a:ext cx="4296540" cy="2148270"/>
          </a:xfrm>
          <a:prstGeom prst="rect">
            <a:avLst/>
          </a:prstGeom>
        </p:spPr>
      </p:pic>
      <p:pic>
        <p:nvPicPr>
          <p:cNvPr id="5" name="图片 4">
            <a:extLst>
              <a:ext uri="{FF2B5EF4-FFF2-40B4-BE49-F238E27FC236}">
                <a16:creationId xmlns:a16="http://schemas.microsoft.com/office/drawing/2014/main" id="{687BF316-5E3C-9197-E50B-4E7C7242A6F9}"/>
              </a:ext>
            </a:extLst>
          </p:cNvPr>
          <p:cNvPicPr>
            <a:picLocks noChangeAspect="1"/>
          </p:cNvPicPr>
          <p:nvPr/>
        </p:nvPicPr>
        <p:blipFill>
          <a:blip r:embed="rId3"/>
          <a:stretch>
            <a:fillRect/>
          </a:stretch>
        </p:blipFill>
        <p:spPr>
          <a:xfrm>
            <a:off x="7097725" y="2905614"/>
            <a:ext cx="3379822" cy="2148270"/>
          </a:xfrm>
          <a:prstGeom prst="rect">
            <a:avLst/>
          </a:prstGeom>
        </p:spPr>
      </p:pic>
      <p:grpSp>
        <p:nvGrpSpPr>
          <p:cNvPr id="11" name="组合 10">
            <a:extLst>
              <a:ext uri="{FF2B5EF4-FFF2-40B4-BE49-F238E27FC236}">
                <a16:creationId xmlns:a16="http://schemas.microsoft.com/office/drawing/2014/main" id="{A47262E7-A066-504B-2C33-0CC8F884E3D4}"/>
              </a:ext>
            </a:extLst>
          </p:cNvPr>
          <p:cNvGrpSpPr/>
          <p:nvPr/>
        </p:nvGrpSpPr>
        <p:grpSpPr>
          <a:xfrm>
            <a:off x="3368259" y="3419527"/>
            <a:ext cx="451440" cy="133200"/>
            <a:chOff x="3368259" y="3419527"/>
            <a:chExt cx="451440" cy="133200"/>
          </a:xfrm>
        </p:grpSpPr>
        <mc:AlternateContent xmlns:mc="http://schemas.openxmlformats.org/markup-compatibility/2006" xmlns:p14="http://schemas.microsoft.com/office/powerpoint/2010/main">
          <mc:Choice Requires="p14">
            <p:contentPart p14:bwMode="auto" r:id="rId4">
              <p14:nvContentPartPr>
                <p14:cNvPr id="6" name="墨迹 5">
                  <a:extLst>
                    <a:ext uri="{FF2B5EF4-FFF2-40B4-BE49-F238E27FC236}">
                      <a16:creationId xmlns:a16="http://schemas.microsoft.com/office/drawing/2014/main" id="{D9A15DFF-EBD5-A38C-5751-E4E984AA1769}"/>
                    </a:ext>
                  </a:extLst>
                </p14:cNvPr>
                <p14:cNvContentPartPr/>
                <p14:nvPr/>
              </p14:nvContentPartPr>
              <p14:xfrm>
                <a:off x="3368259" y="3463087"/>
                <a:ext cx="52200" cy="74880"/>
              </p14:xfrm>
            </p:contentPart>
          </mc:Choice>
          <mc:Fallback xmlns="">
            <p:pic>
              <p:nvPicPr>
                <p:cNvPr id="6" name="墨迹 5">
                  <a:extLst>
                    <a:ext uri="{FF2B5EF4-FFF2-40B4-BE49-F238E27FC236}">
                      <a16:creationId xmlns:a16="http://schemas.microsoft.com/office/drawing/2014/main" id="{D9A15DFF-EBD5-A38C-5751-E4E984AA1769}"/>
                    </a:ext>
                  </a:extLst>
                </p:cNvPr>
                <p:cNvPicPr/>
                <p:nvPr/>
              </p:nvPicPr>
              <p:blipFill>
                <a:blip r:embed="rId5"/>
                <a:stretch>
                  <a:fillRect/>
                </a:stretch>
              </p:blipFill>
              <p:spPr>
                <a:xfrm>
                  <a:off x="3362139" y="3456967"/>
                  <a:ext cx="6444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墨迹 6">
                  <a:extLst>
                    <a:ext uri="{FF2B5EF4-FFF2-40B4-BE49-F238E27FC236}">
                      <a16:creationId xmlns:a16="http://schemas.microsoft.com/office/drawing/2014/main" id="{93B5E915-706A-F5FA-25DC-DF770A51CF64}"/>
                    </a:ext>
                  </a:extLst>
                </p14:cNvPr>
                <p14:cNvContentPartPr/>
                <p14:nvPr/>
              </p14:nvContentPartPr>
              <p14:xfrm>
                <a:off x="3544659" y="3419527"/>
                <a:ext cx="75600" cy="133200"/>
              </p14:xfrm>
            </p:contentPart>
          </mc:Choice>
          <mc:Fallback xmlns="">
            <p:pic>
              <p:nvPicPr>
                <p:cNvPr id="7" name="墨迹 6">
                  <a:extLst>
                    <a:ext uri="{FF2B5EF4-FFF2-40B4-BE49-F238E27FC236}">
                      <a16:creationId xmlns:a16="http://schemas.microsoft.com/office/drawing/2014/main" id="{93B5E915-706A-F5FA-25DC-DF770A51CF64}"/>
                    </a:ext>
                  </a:extLst>
                </p:cNvPr>
                <p:cNvPicPr/>
                <p:nvPr/>
              </p:nvPicPr>
              <p:blipFill>
                <a:blip r:embed="rId7"/>
                <a:stretch>
                  <a:fillRect/>
                </a:stretch>
              </p:blipFill>
              <p:spPr>
                <a:xfrm>
                  <a:off x="3538539" y="3413407"/>
                  <a:ext cx="8784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墨迹 7">
                  <a:extLst>
                    <a:ext uri="{FF2B5EF4-FFF2-40B4-BE49-F238E27FC236}">
                      <a16:creationId xmlns:a16="http://schemas.microsoft.com/office/drawing/2014/main" id="{CC914549-9A37-EA8A-A0E0-B1118EA7EFD6}"/>
                    </a:ext>
                  </a:extLst>
                </p14:cNvPr>
                <p14:cNvContentPartPr/>
                <p14:nvPr/>
              </p14:nvContentPartPr>
              <p14:xfrm>
                <a:off x="3713859" y="3431047"/>
                <a:ext cx="105840" cy="90000"/>
              </p14:xfrm>
            </p:contentPart>
          </mc:Choice>
          <mc:Fallback xmlns="">
            <p:pic>
              <p:nvPicPr>
                <p:cNvPr id="8" name="墨迹 7">
                  <a:extLst>
                    <a:ext uri="{FF2B5EF4-FFF2-40B4-BE49-F238E27FC236}">
                      <a16:creationId xmlns:a16="http://schemas.microsoft.com/office/drawing/2014/main" id="{CC914549-9A37-EA8A-A0E0-B1118EA7EFD6}"/>
                    </a:ext>
                  </a:extLst>
                </p:cNvPr>
                <p:cNvPicPr/>
                <p:nvPr/>
              </p:nvPicPr>
              <p:blipFill>
                <a:blip r:embed="rId9"/>
                <a:stretch>
                  <a:fillRect/>
                </a:stretch>
              </p:blipFill>
              <p:spPr>
                <a:xfrm>
                  <a:off x="3707739" y="3424927"/>
                  <a:ext cx="11808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墨迹 9">
                  <a:extLst>
                    <a:ext uri="{FF2B5EF4-FFF2-40B4-BE49-F238E27FC236}">
                      <a16:creationId xmlns:a16="http://schemas.microsoft.com/office/drawing/2014/main" id="{92836B14-C424-0F70-0797-8A5E51C0EDB3}"/>
                    </a:ext>
                  </a:extLst>
                </p14:cNvPr>
                <p14:cNvContentPartPr/>
                <p14:nvPr/>
              </p14:nvContentPartPr>
              <p14:xfrm>
                <a:off x="3413259" y="3444367"/>
                <a:ext cx="360" cy="68760"/>
              </p14:xfrm>
            </p:contentPart>
          </mc:Choice>
          <mc:Fallback xmlns="">
            <p:pic>
              <p:nvPicPr>
                <p:cNvPr id="10" name="墨迹 9">
                  <a:extLst>
                    <a:ext uri="{FF2B5EF4-FFF2-40B4-BE49-F238E27FC236}">
                      <a16:creationId xmlns:a16="http://schemas.microsoft.com/office/drawing/2014/main" id="{92836B14-C424-0F70-0797-8A5E51C0EDB3}"/>
                    </a:ext>
                  </a:extLst>
                </p:cNvPr>
                <p:cNvPicPr/>
                <p:nvPr/>
              </p:nvPicPr>
              <p:blipFill>
                <a:blip r:embed="rId11"/>
                <a:stretch>
                  <a:fillRect/>
                </a:stretch>
              </p:blipFill>
              <p:spPr>
                <a:xfrm>
                  <a:off x="3407139" y="3438247"/>
                  <a:ext cx="12600" cy="81000"/>
                </a:xfrm>
                <a:prstGeom prst="rect">
                  <a:avLst/>
                </a:prstGeom>
              </p:spPr>
            </p:pic>
          </mc:Fallback>
        </mc:AlternateContent>
      </p:grpSp>
    </p:spTree>
    <p:extLst>
      <p:ext uri="{BB962C8B-B14F-4D97-AF65-F5344CB8AC3E}">
        <p14:creationId xmlns:p14="http://schemas.microsoft.com/office/powerpoint/2010/main" val="30644903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6A5251-35CC-63EA-4E84-BD4C7AB76FAC}"/>
              </a:ext>
            </a:extLst>
          </p:cNvPr>
          <p:cNvSpPr>
            <a:spLocks noGrp="1"/>
          </p:cNvSpPr>
          <p:nvPr>
            <p:ph type="title"/>
          </p:nvPr>
        </p:nvSpPr>
        <p:spPr/>
        <p:txBody>
          <a:bodyPr/>
          <a:lstStyle/>
          <a:p>
            <a:r>
              <a:rPr lang="zh-CN" altLang="en-US" dirty="0"/>
              <a:t>如何应对</a:t>
            </a:r>
            <a:r>
              <a:rPr lang="en-US" altLang="zh-CN" dirty="0"/>
              <a:t>ROP</a:t>
            </a:r>
            <a:endParaRPr lang="zh-CN" altLang="en-US" dirty="0"/>
          </a:p>
        </p:txBody>
      </p:sp>
      <p:sp>
        <p:nvSpPr>
          <p:cNvPr id="3" name="文本占位符 2">
            <a:extLst>
              <a:ext uri="{FF2B5EF4-FFF2-40B4-BE49-F238E27FC236}">
                <a16:creationId xmlns:a16="http://schemas.microsoft.com/office/drawing/2014/main" id="{37FC3E64-84C1-2E60-F832-94915C86ACC2}"/>
              </a:ext>
            </a:extLst>
          </p:cNvPr>
          <p:cNvSpPr>
            <a:spLocks noGrp="1"/>
          </p:cNvSpPr>
          <p:nvPr>
            <p:ph type="body" idx="1"/>
          </p:nvPr>
        </p:nvSpPr>
        <p:spPr/>
        <p:txBody>
          <a:bodyPr/>
          <a:lstStyle/>
          <a:p>
            <a:r>
              <a:rPr lang="en-US" altLang="zh-CN"/>
              <a:t>CONTROL-FLOW ENFORCEMENT TECHNOLOGY (CET)</a:t>
            </a:r>
            <a:endParaRPr lang="zh-CN" altLang="en-US"/>
          </a:p>
        </p:txBody>
      </p:sp>
    </p:spTree>
    <p:extLst>
      <p:ext uri="{BB962C8B-B14F-4D97-AF65-F5344CB8AC3E}">
        <p14:creationId xmlns:p14="http://schemas.microsoft.com/office/powerpoint/2010/main" val="5963933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ABC7FC-01BE-395C-69F5-82379DB30171}"/>
              </a:ext>
            </a:extLst>
          </p:cNvPr>
          <p:cNvSpPr>
            <a:spLocks noGrp="1"/>
          </p:cNvSpPr>
          <p:nvPr>
            <p:ph type="title"/>
          </p:nvPr>
        </p:nvSpPr>
        <p:spPr/>
        <p:txBody>
          <a:bodyPr/>
          <a:lstStyle/>
          <a:p>
            <a:r>
              <a:rPr lang="en-US" altLang="zh-CN" dirty="0"/>
              <a:t>Shadow stack</a:t>
            </a:r>
            <a:endParaRPr lang="zh-CN" altLang="en-US" dirty="0"/>
          </a:p>
        </p:txBody>
      </p:sp>
      <p:sp>
        <p:nvSpPr>
          <p:cNvPr id="3" name="内容占位符 2">
            <a:extLst>
              <a:ext uri="{FF2B5EF4-FFF2-40B4-BE49-F238E27FC236}">
                <a16:creationId xmlns:a16="http://schemas.microsoft.com/office/drawing/2014/main" id="{661D0DC7-4457-2F9E-6D29-B7DE9224DFED}"/>
              </a:ext>
            </a:extLst>
          </p:cNvPr>
          <p:cNvSpPr>
            <a:spLocks noGrp="1"/>
          </p:cNvSpPr>
          <p:nvPr>
            <p:ph sz="half" idx="1"/>
          </p:nvPr>
        </p:nvSpPr>
        <p:spPr>
          <a:xfrm>
            <a:off x="838199" y="1825625"/>
            <a:ext cx="6383055" cy="4351338"/>
          </a:xfrm>
        </p:spPr>
        <p:txBody>
          <a:bodyPr>
            <a:noAutofit/>
          </a:bodyPr>
          <a:lstStyle/>
          <a:p>
            <a:pPr>
              <a:lnSpc>
                <a:spcPct val="150000"/>
              </a:lnSpc>
            </a:pPr>
            <a:r>
              <a:rPr lang="en-US" altLang="zh-CN" sz="1600" dirty="0"/>
              <a:t>A shadow stack is a second stack for the program that is used exclusively for control transfer operations. This stack is separate from the data stack and can be enabled for operation individually in user mode or supervisor mode. When shadow stacks are enabled, the CALL instruction pushes the return address on both the data and shadow stack. The RET instruction pops the return address from both stacks and compares them. If the return addresses from the two stacks do not match, the processor signals a control protection exception (#CP). Note that the shadow stack only holds the return addresses and not parameters passed to the call instruction.</a:t>
            </a:r>
            <a:endParaRPr lang="zh-CN" altLang="en-US" sz="1600" dirty="0"/>
          </a:p>
        </p:txBody>
      </p:sp>
      <p:sp>
        <p:nvSpPr>
          <p:cNvPr id="4" name="内容占位符 3">
            <a:extLst>
              <a:ext uri="{FF2B5EF4-FFF2-40B4-BE49-F238E27FC236}">
                <a16:creationId xmlns:a16="http://schemas.microsoft.com/office/drawing/2014/main" id="{B5B1B629-AFF9-582A-DFEE-6876E18B34DB}"/>
              </a:ext>
            </a:extLst>
          </p:cNvPr>
          <p:cNvSpPr>
            <a:spLocks noGrp="1"/>
          </p:cNvSpPr>
          <p:nvPr>
            <p:ph sz="half" idx="2"/>
          </p:nvPr>
        </p:nvSpPr>
        <p:spPr>
          <a:xfrm>
            <a:off x="7415408" y="1825625"/>
            <a:ext cx="3938392" cy="3923822"/>
          </a:xfrm>
        </p:spPr>
        <p:txBody>
          <a:bodyPr>
            <a:normAutofit/>
          </a:bodyPr>
          <a:lstStyle/>
          <a:p>
            <a:pPr>
              <a:lnSpc>
                <a:spcPct val="150000"/>
              </a:lnSpc>
            </a:pPr>
            <a:r>
              <a:rPr lang="zh-CN" altLang="en-US" sz="2000" dirty="0"/>
              <a:t>注意到通常情况下，</a:t>
            </a:r>
            <a:r>
              <a:rPr lang="en-US" altLang="zh-CN" sz="2000" dirty="0"/>
              <a:t>call-ret</a:t>
            </a:r>
            <a:r>
              <a:rPr lang="zh-CN" altLang="en-US" sz="2000" dirty="0"/>
              <a:t>是匹配的，于是我们维护一个与数据堆栈并存的影子堆栈，影子堆栈只保存返回值，当一个</a:t>
            </a:r>
            <a:r>
              <a:rPr lang="en-US" altLang="zh-CN" sz="2000" dirty="0"/>
              <a:t>ret</a:t>
            </a:r>
            <a:r>
              <a:rPr lang="zh-CN" altLang="en-US" sz="2000" dirty="0"/>
              <a:t>转移指令的返回值和影子堆栈不匹配的时候触发一个</a:t>
            </a:r>
            <a:r>
              <a:rPr lang="en-US" altLang="zh-CN" sz="2000" dirty="0"/>
              <a:t>#CP</a:t>
            </a:r>
            <a:r>
              <a:rPr lang="zh-CN" altLang="en-US" sz="2000" dirty="0"/>
              <a:t>异常。</a:t>
            </a:r>
          </a:p>
        </p:txBody>
      </p:sp>
    </p:spTree>
    <p:extLst>
      <p:ext uri="{BB962C8B-B14F-4D97-AF65-F5344CB8AC3E}">
        <p14:creationId xmlns:p14="http://schemas.microsoft.com/office/powerpoint/2010/main" val="685127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326152-C048-D8E8-A7AE-DFC879718035}"/>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7B96A3E9-13A4-2F84-12CF-27D601AF4689}"/>
              </a:ext>
            </a:extLst>
          </p:cNvPr>
          <p:cNvSpPr>
            <a:spLocks noGrp="1"/>
          </p:cNvSpPr>
          <p:nvPr>
            <p:ph idx="1"/>
          </p:nvPr>
        </p:nvSpPr>
        <p:spPr/>
        <p:txBody>
          <a:bodyPr>
            <a:normAutofit/>
          </a:bodyPr>
          <a:lstStyle/>
          <a:p>
            <a:pPr>
              <a:lnSpc>
                <a:spcPct val="150000"/>
              </a:lnSpc>
            </a:pPr>
            <a:r>
              <a:rPr lang="en-US" altLang="zh-CN" sz="2400" dirty="0"/>
              <a:t>Shadow stack</a:t>
            </a:r>
            <a:r>
              <a:rPr lang="zh-CN" altLang="en-US" sz="2400" dirty="0"/>
              <a:t>机制强制保证了所有返回的地址都是之前我们在</a:t>
            </a:r>
            <a:r>
              <a:rPr lang="en-US" altLang="zh-CN" sz="2400" dirty="0"/>
              <a:t>call</a:t>
            </a:r>
            <a:r>
              <a:rPr lang="zh-CN" altLang="en-US" sz="2400" dirty="0"/>
              <a:t>指令执行时压入的地址，而栈上的地址不可以作为返回地址。</a:t>
            </a:r>
            <a:endParaRPr lang="en-US" altLang="zh-CN" sz="2400" dirty="0"/>
          </a:p>
          <a:p>
            <a:pPr>
              <a:lnSpc>
                <a:spcPct val="150000"/>
              </a:lnSpc>
            </a:pPr>
            <a:r>
              <a:rPr lang="zh-CN" altLang="en-US" sz="2400" dirty="0"/>
              <a:t>更多问题：既然我们已经有了影子栈，为什么还在数据栈上保存返回地址呢？</a:t>
            </a:r>
            <a:endParaRPr lang="en-US" altLang="zh-CN" sz="2400" dirty="0"/>
          </a:p>
          <a:p>
            <a:pPr lvl="1">
              <a:lnSpc>
                <a:spcPct val="150000"/>
              </a:lnSpc>
            </a:pPr>
            <a:r>
              <a:rPr lang="zh-CN" altLang="en-US" sz="2000" dirty="0"/>
              <a:t>兼容性考虑</a:t>
            </a:r>
            <a:endParaRPr lang="en-US" altLang="zh-CN" sz="2000" dirty="0"/>
          </a:p>
          <a:p>
            <a:pPr lvl="1">
              <a:lnSpc>
                <a:spcPct val="150000"/>
              </a:lnSpc>
            </a:pPr>
            <a:endParaRPr lang="en-US" altLang="zh-CN" sz="2000" dirty="0"/>
          </a:p>
          <a:p>
            <a:pPr lvl="1">
              <a:lnSpc>
                <a:spcPct val="150000"/>
              </a:lnSpc>
            </a:pPr>
            <a:endParaRPr lang="zh-CN" altLang="en-US" sz="2000" dirty="0"/>
          </a:p>
        </p:txBody>
      </p:sp>
    </p:spTree>
    <p:extLst>
      <p:ext uri="{BB962C8B-B14F-4D97-AF65-F5344CB8AC3E}">
        <p14:creationId xmlns:p14="http://schemas.microsoft.com/office/powerpoint/2010/main" val="369903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E1A100-DC0B-271A-A7A4-7F95DF34612C}"/>
              </a:ext>
            </a:extLst>
          </p:cNvPr>
          <p:cNvSpPr>
            <a:spLocks noGrp="1"/>
          </p:cNvSpPr>
          <p:nvPr>
            <p:ph type="title"/>
          </p:nvPr>
        </p:nvSpPr>
        <p:spPr/>
        <p:txBody>
          <a:bodyPr/>
          <a:lstStyle/>
          <a:p>
            <a:r>
              <a:rPr lang="en-US" altLang="zh-CN" dirty="0"/>
              <a:t>Indirect Branch Tracking</a:t>
            </a:r>
            <a:endParaRPr lang="zh-CN" altLang="en-US" dirty="0"/>
          </a:p>
        </p:txBody>
      </p:sp>
      <p:sp>
        <p:nvSpPr>
          <p:cNvPr id="3" name="内容占位符 2">
            <a:extLst>
              <a:ext uri="{FF2B5EF4-FFF2-40B4-BE49-F238E27FC236}">
                <a16:creationId xmlns:a16="http://schemas.microsoft.com/office/drawing/2014/main" id="{944CAACC-7FE8-F501-3974-41FA49E3F172}"/>
              </a:ext>
            </a:extLst>
          </p:cNvPr>
          <p:cNvSpPr>
            <a:spLocks noGrp="1"/>
          </p:cNvSpPr>
          <p:nvPr>
            <p:ph sz="half" idx="1"/>
          </p:nvPr>
        </p:nvSpPr>
        <p:spPr>
          <a:xfrm>
            <a:off x="838200" y="1825625"/>
            <a:ext cx="6940463" cy="4667250"/>
          </a:xfrm>
        </p:spPr>
        <p:txBody>
          <a:bodyPr>
            <a:normAutofit lnSpcReduction="10000"/>
          </a:bodyPr>
          <a:lstStyle/>
          <a:p>
            <a:pPr>
              <a:lnSpc>
                <a:spcPct val="150000"/>
              </a:lnSpc>
            </a:pPr>
            <a:r>
              <a:rPr lang="en-US" altLang="zh-CN" sz="1600" dirty="0"/>
              <a:t>The ENDBRANCH instruction is a new instruction that is used to mark valid jump target addresses of indirect calls and jumps in the program. This instruction opcode is selected to be one that is a NOP on legacy machines such that programs compiled with ENDBRANCH new instruction continue to function on old machines without the CET enforcement. On processors that support CET the ENDBRANCH is still a NOP and is primarily used as a marker instruction by the processor pipeline to detect control flow violations. The CPU implements a state machine that tracks indirect JMP and CALL instructions. When one of these instructions is executed, the state machine moves from IDLE to WAIT_FOR_ENDBRANCH state. In WAIT_FOR_ENDBRANCH state the next instruction in the program stream must be an ENDBRANCH. If the next instruction is not an ENDBRANCH, the processor causes a control protection exception (#CP); otherwise, the state machine moves back to IDLE state.</a:t>
            </a:r>
            <a:endParaRPr lang="zh-CN" altLang="en-US" sz="1600" dirty="0"/>
          </a:p>
        </p:txBody>
      </p:sp>
      <p:sp>
        <p:nvSpPr>
          <p:cNvPr id="4" name="内容占位符 3">
            <a:extLst>
              <a:ext uri="{FF2B5EF4-FFF2-40B4-BE49-F238E27FC236}">
                <a16:creationId xmlns:a16="http://schemas.microsoft.com/office/drawing/2014/main" id="{139581AC-36E0-F1B2-4100-596DA0EAF329}"/>
              </a:ext>
            </a:extLst>
          </p:cNvPr>
          <p:cNvSpPr>
            <a:spLocks noGrp="1"/>
          </p:cNvSpPr>
          <p:nvPr>
            <p:ph sz="half" idx="2"/>
          </p:nvPr>
        </p:nvSpPr>
        <p:spPr>
          <a:xfrm>
            <a:off x="7778662" y="1825625"/>
            <a:ext cx="3575137" cy="4543860"/>
          </a:xfrm>
        </p:spPr>
        <p:txBody>
          <a:bodyPr>
            <a:normAutofit lnSpcReduction="10000"/>
          </a:bodyPr>
          <a:lstStyle/>
          <a:p>
            <a:pPr>
              <a:lnSpc>
                <a:spcPct val="160000"/>
              </a:lnSpc>
            </a:pPr>
            <a:r>
              <a:rPr lang="en-US" altLang="zh-CN" sz="2000" dirty="0" err="1"/>
              <a:t>endbranch</a:t>
            </a:r>
            <a:r>
              <a:rPr lang="zh-CN" altLang="en-US" sz="2000" dirty="0"/>
              <a:t>是分支结束指令，在不支持</a:t>
            </a:r>
            <a:r>
              <a:rPr lang="en-US" altLang="zh-CN" sz="2000" dirty="0"/>
              <a:t>IBT</a:t>
            </a:r>
            <a:r>
              <a:rPr lang="zh-CN" altLang="en-US" sz="2000" dirty="0"/>
              <a:t>的</a:t>
            </a:r>
            <a:r>
              <a:rPr lang="en-US" altLang="zh-CN" sz="2000" dirty="0"/>
              <a:t>CPU</a:t>
            </a:r>
            <a:r>
              <a:rPr lang="zh-CN" altLang="en-US" sz="2000" dirty="0"/>
              <a:t>上被解读为</a:t>
            </a:r>
            <a:r>
              <a:rPr lang="en-US" altLang="zh-CN" sz="2000" dirty="0"/>
              <a:t>NOP</a:t>
            </a:r>
            <a:r>
              <a:rPr lang="zh-CN" altLang="en-US" sz="2000" dirty="0"/>
              <a:t>，而在支持的</a:t>
            </a:r>
            <a:r>
              <a:rPr lang="en-US" altLang="zh-CN" sz="2000" dirty="0"/>
              <a:t>CPU</a:t>
            </a:r>
            <a:r>
              <a:rPr lang="zh-CN" altLang="en-US" sz="2000" dirty="0"/>
              <a:t>上被处理。</a:t>
            </a:r>
            <a:r>
              <a:rPr lang="en-US" altLang="zh-CN" sz="2000" dirty="0"/>
              <a:t>CPU</a:t>
            </a:r>
            <a:r>
              <a:rPr lang="zh-CN" altLang="en-US" sz="2000" dirty="0"/>
              <a:t>维护一个状态机，遇到间接转移指令则进入等待</a:t>
            </a:r>
            <a:r>
              <a:rPr lang="en-US" altLang="zh-CN" sz="2000" dirty="0"/>
              <a:t>ENDBRANCH</a:t>
            </a:r>
            <a:r>
              <a:rPr lang="zh-CN" altLang="en-US" sz="2000" dirty="0"/>
              <a:t>状态，若等到的指令不是</a:t>
            </a:r>
            <a:r>
              <a:rPr lang="en-US" altLang="zh-CN" sz="2000" dirty="0"/>
              <a:t>ENDBRANC</a:t>
            </a:r>
            <a:r>
              <a:rPr lang="zh-CN" altLang="en-US" sz="2000" dirty="0"/>
              <a:t>，就</a:t>
            </a:r>
            <a:r>
              <a:rPr lang="en-US" altLang="zh-CN" sz="2000" dirty="0"/>
              <a:t>#CP</a:t>
            </a:r>
            <a:r>
              <a:rPr lang="zh-CN" altLang="en-US" sz="2000" dirty="0"/>
              <a:t>，否则回到正常状态。</a:t>
            </a:r>
          </a:p>
        </p:txBody>
      </p:sp>
    </p:spTree>
    <p:extLst>
      <p:ext uri="{BB962C8B-B14F-4D97-AF65-F5344CB8AC3E}">
        <p14:creationId xmlns:p14="http://schemas.microsoft.com/office/powerpoint/2010/main" val="1140459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11F47F-6382-3B68-9323-9464E4CEC1D7}"/>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AFB3A874-8C4A-34D0-A067-A48274264B3B}"/>
              </a:ext>
            </a:extLst>
          </p:cNvPr>
          <p:cNvSpPr>
            <a:spLocks noGrp="1"/>
          </p:cNvSpPr>
          <p:nvPr>
            <p:ph idx="1"/>
          </p:nvPr>
        </p:nvSpPr>
        <p:spPr/>
        <p:txBody>
          <a:bodyPr>
            <a:normAutofit/>
          </a:bodyPr>
          <a:lstStyle/>
          <a:p>
            <a:pPr>
              <a:lnSpc>
                <a:spcPct val="150000"/>
              </a:lnSpc>
            </a:pPr>
            <a:r>
              <a:rPr lang="en-US" altLang="zh-CN" sz="2400" dirty="0" err="1"/>
              <a:t>Endbr</a:t>
            </a:r>
            <a:r>
              <a:rPr lang="zh-CN" altLang="en-US" sz="2400" dirty="0"/>
              <a:t>检查保证了所有间接跳转指令的目的是合法的地址，且是在编译期就确定的，继而保证了所有函数只能从头开始执行而非从任意点（比如接近尾部）处开始执行</a:t>
            </a:r>
          </a:p>
        </p:txBody>
      </p:sp>
    </p:spTree>
    <p:extLst>
      <p:ext uri="{BB962C8B-B14F-4D97-AF65-F5344CB8AC3E}">
        <p14:creationId xmlns:p14="http://schemas.microsoft.com/office/powerpoint/2010/main" val="8109357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E60513-1F4F-D402-0458-10CC0A233FE7}"/>
              </a:ext>
            </a:extLst>
          </p:cNvPr>
          <p:cNvSpPr>
            <a:spLocks noGrp="1"/>
          </p:cNvSpPr>
          <p:nvPr>
            <p:ph type="title"/>
          </p:nvPr>
        </p:nvSpPr>
        <p:spPr/>
        <p:txBody>
          <a:bodyPr/>
          <a:lstStyle/>
          <a:p>
            <a:r>
              <a:rPr lang="zh-CN" altLang="en-US" dirty="0"/>
              <a:t>异常的栈帧</a:t>
            </a:r>
          </a:p>
        </p:txBody>
      </p:sp>
      <p:sp>
        <p:nvSpPr>
          <p:cNvPr id="3" name="文本占位符 2">
            <a:extLst>
              <a:ext uri="{FF2B5EF4-FFF2-40B4-BE49-F238E27FC236}">
                <a16:creationId xmlns:a16="http://schemas.microsoft.com/office/drawing/2014/main" id="{EE86AC2D-29F8-926C-79AC-7F6DD08CCC8B}"/>
              </a:ext>
            </a:extLst>
          </p:cNvPr>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7348009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43A7D9-1A99-5324-B627-B509155498B4}"/>
              </a:ext>
            </a:extLst>
          </p:cNvPr>
          <p:cNvSpPr>
            <a:spLocks noGrp="1"/>
          </p:cNvSpPr>
          <p:nvPr>
            <p:ph type="title"/>
          </p:nvPr>
        </p:nvSpPr>
        <p:spPr/>
        <p:txBody>
          <a:bodyPr/>
          <a:lstStyle/>
          <a:p>
            <a:r>
              <a:rPr lang="zh-CN" altLang="en-US" dirty="0"/>
              <a:t>可能带来的问题？</a:t>
            </a:r>
          </a:p>
        </p:txBody>
      </p:sp>
      <p:sp>
        <p:nvSpPr>
          <p:cNvPr id="3" name="内容占位符 2">
            <a:extLst>
              <a:ext uri="{FF2B5EF4-FFF2-40B4-BE49-F238E27FC236}">
                <a16:creationId xmlns:a16="http://schemas.microsoft.com/office/drawing/2014/main" id="{C7A9F976-F798-9D78-EA66-2B365D935960}"/>
              </a:ext>
            </a:extLst>
          </p:cNvPr>
          <p:cNvSpPr>
            <a:spLocks noGrp="1"/>
          </p:cNvSpPr>
          <p:nvPr>
            <p:ph idx="1"/>
          </p:nvPr>
        </p:nvSpPr>
        <p:spPr/>
        <p:txBody>
          <a:bodyPr>
            <a:normAutofit/>
          </a:bodyPr>
          <a:lstStyle/>
          <a:p>
            <a:pPr>
              <a:lnSpc>
                <a:spcPct val="150000"/>
              </a:lnSpc>
            </a:pPr>
            <a:r>
              <a:rPr lang="zh-CN" altLang="en-US" sz="2400" dirty="0"/>
              <a:t>如果发生或需要函数间的跳转怎么办？比如我们发现我们进入了一个完全错误的状态希望“回溯”到出错之前。</a:t>
            </a:r>
            <a:endParaRPr lang="en-US" altLang="zh-CN" sz="2400" dirty="0"/>
          </a:p>
          <a:p>
            <a:pPr>
              <a:lnSpc>
                <a:spcPct val="150000"/>
              </a:lnSpc>
            </a:pPr>
            <a:r>
              <a:rPr lang="en-US" altLang="zh-CN" sz="2400" dirty="0"/>
              <a:t>C</a:t>
            </a:r>
            <a:r>
              <a:rPr lang="zh-CN" altLang="en-US" sz="2400" dirty="0"/>
              <a:t>提供了</a:t>
            </a:r>
            <a:r>
              <a:rPr lang="en-US" altLang="zh-CN" sz="2400" dirty="0" err="1"/>
              <a:t>setjmp</a:t>
            </a:r>
            <a:r>
              <a:rPr lang="en-US" altLang="zh-CN" sz="2400" dirty="0"/>
              <a:t>/</a:t>
            </a:r>
            <a:r>
              <a:rPr lang="en-US" altLang="zh-CN" sz="2400" dirty="0" err="1"/>
              <a:t>longjmp</a:t>
            </a:r>
            <a:r>
              <a:rPr lang="zh-CN" altLang="en-US" sz="2400" dirty="0"/>
              <a:t>，</a:t>
            </a:r>
            <a:r>
              <a:rPr lang="en-US" altLang="zh-CN" sz="2400" dirty="0"/>
              <a:t>C++</a:t>
            </a:r>
            <a:r>
              <a:rPr lang="zh-CN" altLang="en-US" sz="2400" dirty="0"/>
              <a:t>提供了</a:t>
            </a:r>
            <a:r>
              <a:rPr lang="en-US" altLang="zh-CN" sz="2400" dirty="0"/>
              <a:t>try…catch…</a:t>
            </a:r>
            <a:r>
              <a:rPr lang="zh-CN" altLang="en-US" sz="2400" dirty="0"/>
              <a:t>机制，这会使得</a:t>
            </a:r>
            <a:r>
              <a:rPr lang="en-US" altLang="zh-CN" sz="2400" dirty="0"/>
              <a:t>call</a:t>
            </a:r>
            <a:r>
              <a:rPr lang="zh-CN" altLang="en-US" sz="2400" dirty="0"/>
              <a:t>和</a:t>
            </a:r>
            <a:r>
              <a:rPr lang="en-US" altLang="zh-CN" sz="2400" dirty="0"/>
              <a:t>ret</a:t>
            </a:r>
            <a:r>
              <a:rPr lang="zh-CN" altLang="en-US" sz="2400" dirty="0"/>
              <a:t>不见得匹配</a:t>
            </a:r>
            <a:endParaRPr lang="en-US" altLang="zh-CN" sz="2400" dirty="0"/>
          </a:p>
        </p:txBody>
      </p:sp>
    </p:spTree>
    <p:extLst>
      <p:ext uri="{BB962C8B-B14F-4D97-AF65-F5344CB8AC3E}">
        <p14:creationId xmlns:p14="http://schemas.microsoft.com/office/powerpoint/2010/main" val="3030716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784B95-5FB5-FA49-27C5-F52A68D0A4E7}"/>
              </a:ext>
            </a:extLst>
          </p:cNvPr>
          <p:cNvSpPr>
            <a:spLocks noGrp="1"/>
          </p:cNvSpPr>
          <p:nvPr>
            <p:ph type="title"/>
          </p:nvPr>
        </p:nvSpPr>
        <p:spPr/>
        <p:txBody>
          <a:bodyPr/>
          <a:lstStyle/>
          <a:p>
            <a:r>
              <a:rPr lang="en-US" altLang="zh-CN" dirty="0"/>
              <a:t>C</a:t>
            </a:r>
            <a:r>
              <a:rPr lang="zh-CN" altLang="en-US" dirty="0"/>
              <a:t>风格的错误处理与恢复</a:t>
            </a:r>
          </a:p>
        </p:txBody>
      </p:sp>
      <p:sp>
        <p:nvSpPr>
          <p:cNvPr id="3" name="内容占位符 2">
            <a:extLst>
              <a:ext uri="{FF2B5EF4-FFF2-40B4-BE49-F238E27FC236}">
                <a16:creationId xmlns:a16="http://schemas.microsoft.com/office/drawing/2014/main" id="{BC0E5DDE-AAEF-496C-CC63-645BBEE9B2E0}"/>
              </a:ext>
            </a:extLst>
          </p:cNvPr>
          <p:cNvSpPr>
            <a:spLocks noGrp="1"/>
          </p:cNvSpPr>
          <p:nvPr>
            <p:ph idx="1"/>
          </p:nvPr>
        </p:nvSpPr>
        <p:spPr/>
        <p:txBody>
          <a:bodyPr>
            <a:normAutofit/>
          </a:bodyPr>
          <a:lstStyle/>
          <a:p>
            <a:r>
              <a:rPr lang="zh-CN" altLang="en-US" sz="2400" dirty="0"/>
              <a:t>返回值置为</a:t>
            </a:r>
            <a:r>
              <a:rPr lang="en-US" altLang="zh-CN" sz="2400" dirty="0"/>
              <a:t>-1</a:t>
            </a:r>
            <a:r>
              <a:rPr lang="zh-CN" altLang="en-US" sz="2400" dirty="0"/>
              <a:t>，并修改全局</a:t>
            </a:r>
            <a:r>
              <a:rPr lang="en-US" altLang="zh-CN" sz="2400" dirty="0" err="1"/>
              <a:t>errno</a:t>
            </a:r>
            <a:r>
              <a:rPr lang="zh-CN" altLang="en-US" sz="2400" dirty="0"/>
              <a:t>变量。</a:t>
            </a:r>
            <a:endParaRPr lang="en-US" altLang="zh-CN" sz="2400" dirty="0"/>
          </a:p>
          <a:p>
            <a:pPr>
              <a:lnSpc>
                <a:spcPct val="150000"/>
              </a:lnSpc>
            </a:pPr>
            <a:r>
              <a:rPr lang="zh-CN" altLang="en-US" sz="2400" dirty="0"/>
              <a:t>在恢复时注意到栈帧既是内存中存在的实体，又记录了程序调用的轨迹，所以如果我们希望恢复一个状态，我们只需将寄存器，包括</a:t>
            </a:r>
            <a:r>
              <a:rPr lang="en-US" altLang="zh-CN" sz="2400" dirty="0" err="1"/>
              <a:t>rsp</a:t>
            </a:r>
            <a:r>
              <a:rPr lang="zh-CN" altLang="en-US" sz="2400" dirty="0"/>
              <a:t>回滚到记录点就可以了</a:t>
            </a:r>
            <a:endParaRPr lang="en-US" altLang="zh-CN" sz="2400" dirty="0"/>
          </a:p>
          <a:p>
            <a:pPr>
              <a:lnSpc>
                <a:spcPct val="150000"/>
              </a:lnSpc>
            </a:pPr>
            <a:r>
              <a:rPr lang="zh-CN" altLang="en-US" sz="2400" dirty="0"/>
              <a:t>有什么问题？</a:t>
            </a:r>
          </a:p>
        </p:txBody>
      </p:sp>
    </p:spTree>
    <p:extLst>
      <p:ext uri="{BB962C8B-B14F-4D97-AF65-F5344CB8AC3E}">
        <p14:creationId xmlns:p14="http://schemas.microsoft.com/office/powerpoint/2010/main" val="25597243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805418-4369-3C6F-8A69-9EB73A44B6F9}"/>
              </a:ext>
            </a:extLst>
          </p:cNvPr>
          <p:cNvSpPr>
            <a:spLocks noGrp="1"/>
          </p:cNvSpPr>
          <p:nvPr>
            <p:ph type="title"/>
          </p:nvPr>
        </p:nvSpPr>
        <p:spPr/>
        <p:txBody>
          <a:bodyPr/>
          <a:lstStyle/>
          <a:p>
            <a:r>
              <a:rPr lang="en-US" altLang="zh-CN" dirty="0"/>
              <a:t>C++</a:t>
            </a:r>
            <a:r>
              <a:rPr lang="zh-CN" altLang="en-US" dirty="0"/>
              <a:t>的堆栈回溯</a:t>
            </a:r>
          </a:p>
        </p:txBody>
      </p:sp>
      <p:sp>
        <p:nvSpPr>
          <p:cNvPr id="3" name="内容占位符 2">
            <a:extLst>
              <a:ext uri="{FF2B5EF4-FFF2-40B4-BE49-F238E27FC236}">
                <a16:creationId xmlns:a16="http://schemas.microsoft.com/office/drawing/2014/main" id="{0296AE90-EE25-A924-8E7B-237970CA320B}"/>
              </a:ext>
            </a:extLst>
          </p:cNvPr>
          <p:cNvSpPr>
            <a:spLocks noGrp="1"/>
          </p:cNvSpPr>
          <p:nvPr>
            <p:ph idx="1"/>
          </p:nvPr>
        </p:nvSpPr>
        <p:spPr/>
        <p:txBody>
          <a:bodyPr/>
          <a:lstStyle/>
          <a:p>
            <a:r>
              <a:rPr lang="zh-CN" altLang="en-US" b="1" dirty="0"/>
              <a:t>详见：</a:t>
            </a:r>
            <a:r>
              <a:rPr lang="en-US" altLang="zh-CN" b="1" dirty="0"/>
              <a:t>Itanium C++ ABI: Exception Handling</a:t>
            </a:r>
          </a:p>
          <a:p>
            <a:endParaRPr lang="zh-CN" altLang="en-US" dirty="0"/>
          </a:p>
        </p:txBody>
      </p:sp>
    </p:spTree>
    <p:extLst>
      <p:ext uri="{BB962C8B-B14F-4D97-AF65-F5344CB8AC3E}">
        <p14:creationId xmlns:p14="http://schemas.microsoft.com/office/powerpoint/2010/main" val="3631161074"/>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7924</TotalTime>
  <Words>1198</Words>
  <Application>Microsoft Office PowerPoint</Application>
  <PresentationFormat>宽屏</PresentationFormat>
  <Paragraphs>90</Paragraphs>
  <Slides>29</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29</vt:i4>
      </vt:variant>
    </vt:vector>
  </HeadingPairs>
  <TitlesOfParts>
    <vt:vector size="35" baseType="lpstr">
      <vt:lpstr>等线</vt:lpstr>
      <vt:lpstr>Arial</vt:lpstr>
      <vt:lpstr>Calibri</vt:lpstr>
      <vt:lpstr>Calibri Light</vt:lpstr>
      <vt:lpstr>Consolas</vt:lpstr>
      <vt:lpstr>Office 主题​​</vt:lpstr>
      <vt:lpstr>ICS seminar 0x3</vt:lpstr>
      <vt:lpstr>考试题</vt:lpstr>
      <vt:lpstr>杂项</vt:lpstr>
      <vt:lpstr>PowerPoint 演示文稿</vt:lpstr>
      <vt:lpstr>PowerPoint 演示文稿</vt:lpstr>
      <vt:lpstr>PowerPoint 演示文稿</vt:lpstr>
      <vt:lpstr>PowerPoint 演示文稿</vt:lpstr>
      <vt:lpstr>栈传参</vt:lpstr>
      <vt:lpstr>PowerPoint 演示文稿</vt:lpstr>
      <vt:lpstr>PowerPoint 演示文稿</vt:lpstr>
      <vt:lpstr>栈空间是透明的</vt:lpstr>
      <vt:lpstr>变参函数及其实现</vt:lpstr>
      <vt:lpstr>利用偏移量访问结构体成员</vt:lpstr>
      <vt:lpstr>有限的保证：</vt:lpstr>
      <vt:lpstr>可能的问题1- __attribute__((packed))</vt:lpstr>
      <vt:lpstr>PowerPoint 演示文稿</vt:lpstr>
      <vt:lpstr>可能的问题2-其他语言的类</vt:lpstr>
      <vt:lpstr>包含虚函数的C++类</vt:lpstr>
      <vt:lpstr>PowerPoint 演示文稿</vt:lpstr>
      <vt:lpstr>Rust</vt:lpstr>
      <vt:lpstr>如何应对ROP</vt:lpstr>
      <vt:lpstr>Shadow stack</vt:lpstr>
      <vt:lpstr>PowerPoint 演示文稿</vt:lpstr>
      <vt:lpstr>Indirect Branch Tracking</vt:lpstr>
      <vt:lpstr>PowerPoint 演示文稿</vt:lpstr>
      <vt:lpstr>异常的栈帧</vt:lpstr>
      <vt:lpstr>可能带来的问题？</vt:lpstr>
      <vt:lpstr>C风格的错误处理与恢复</vt:lpstr>
      <vt:lpstr>C++的堆栈回溯</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ziyuan he</dc:creator>
  <cp:lastModifiedBy>ziyuan he</cp:lastModifiedBy>
  <cp:revision>11</cp:revision>
  <dcterms:created xsi:type="dcterms:W3CDTF">2025-09-20T14:18:17Z</dcterms:created>
  <dcterms:modified xsi:type="dcterms:W3CDTF">2025-10-16T09:46:45Z</dcterms:modified>
</cp:coreProperties>
</file>